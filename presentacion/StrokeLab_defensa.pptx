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19" r:id="rId11"/>
    <p:sldId id="320" r:id="rId12"/>
    <p:sldId id="321" r:id="rId13"/>
    <p:sldId id="322" r:id="rId14"/>
    <p:sldId id="323" r:id="rId15"/>
    <p:sldId id="324" r:id="rId16"/>
    <p:sldId id="325" r:id="rId17"/>
    <p:sldId id="326" r:id="rId18"/>
    <p:sldId id="327" r:id="rId19"/>
    <p:sldId id="328" r:id="rId20"/>
    <p:sldId id="329" r:id="rId21"/>
    <p:sldId id="330" r:id="rId22"/>
    <p:sldId id="331" r:id="rId23"/>
    <p:sldId id="332" r:id="rId24"/>
    <p:sldId id="333" r:id="rId25"/>
    <p:sldId id="334" r:id="rId26"/>
    <p:sldId id="335" r:id="rId27"/>
    <p:sldId id="336" r:id="rId28"/>
    <p:sldId id="337" r:id="rId29"/>
    <p:sldId id="338" r:id="rId30"/>
    <p:sldId id="339" r:id="rId31"/>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Original (con giro)</c:v>
                </c:pt>
              </c:strCache>
            </c:strRef>
          </c:tx>
          <c:spPr>
            <a:solidFill>
              <a:srgbClr val="B4B4B4"/>
            </a:solidFill>
          </c:spPr>
          <c:cat>
            <c:strRef>
              <c:f>Sheet1!$A$2:$A$4</c:f>
              <c:strCache>
                <c:ptCount val="3"/>
                <c:pt idx="0">
                  <c:v>Detección</c:v>
                </c:pt>
                <c:pt idx="1">
                  <c:v>PCK@0,1</c:v>
                </c:pt>
                <c:pt idx="2">
                  <c:v>PCK@0,2</c:v>
                </c:pt>
              </c:strCache>
            </c:strRef>
          </c:cat>
          <c:val>
            <c:numRef>
              <c:f>Sheet1!$B$2:$B$4</c:f>
              <c:numCache>
                <c:formatCode>General</c:formatCode>
                <c:ptCount val="3"/>
                <c:pt idx="0">
                  <c:v>47</c:v>
                </c:pt>
                <c:pt idx="1">
                  <c:v>9</c:v>
                </c:pt>
                <c:pt idx="2">
                  <c:v>15</c:v>
                </c:pt>
              </c:numCache>
            </c:numRef>
          </c:val>
        </c:ser>
        <c:ser>
          <c:idx val="1"/>
          <c:order val="1"/>
          <c:tx>
            <c:strRef>
              <c:f>Sheet1!$C$1</c:f>
              <c:strCache>
                <c:ptCount val="1"/>
                <c:pt idx="0">
                  <c:v>Ajustado</c:v>
                </c:pt>
              </c:strCache>
            </c:strRef>
          </c:tx>
          <c:spPr>
            <a:solidFill>
              <a:srgbClr val="FF3228"/>
            </a:solidFill>
          </c:spPr>
          <c:cat>
            <c:strRef>
              <c:f>Sheet1!$A$2:$A$4</c:f>
              <c:strCache>
                <c:ptCount val="3"/>
                <c:pt idx="0">
                  <c:v>Detección</c:v>
                </c:pt>
                <c:pt idx="1">
                  <c:v>PCK@0,1</c:v>
                </c:pt>
                <c:pt idx="2">
                  <c:v>PCK@0,2</c:v>
                </c:pt>
              </c:strCache>
            </c:strRef>
          </c:cat>
          <c:val>
            <c:numRef>
              <c:f>Sheet1!$C$2:$C$4</c:f>
              <c:numCache>
                <c:formatCode>General</c:formatCode>
                <c:ptCount val="3"/>
                <c:pt idx="0">
                  <c:v>78</c:v>
                </c:pt>
                <c:pt idx="1">
                  <c:v>37</c:v>
                </c:pt>
                <c:pt idx="2">
                  <c:v>56</c:v>
                </c:pt>
              </c:numCache>
            </c:numRef>
          </c:val>
        </c:ser>
        <c:dLbls>
          <c:numFmt formatCode="0&quot;%&quot;" sourceLinked="0"/>
          <c:txPr>
            <a:bodyPr/>
            <a:lstStyle/>
            <a:p>
              <a:pPr>
                <a:defRPr sz="1200"/>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0.0"/>
        </c:scaling>
        <c:delete val="0"/>
        <c:axPos val="l"/>
        <c:majorGridlines>
          <c:spPr>
            <a:ln>
              <a:solidFill>
                <a:srgbClr val="DDDDDD"/>
              </a:solidFill>
            </a:ln>
          </c:spPr>
        </c:majorGridlines>
        <c:majorTickMark val="out"/>
        <c:minorTickMark val="none"/>
        <c:tickLblPos val="nextTo"/>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20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estructura: el problema, el sistema, cómo lo validé, el trabajo que hice después de entregar la memoria y las conclusiones. [≈ 15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un nadador se cansa, su técnica cambia antes de que caiga el tiempo: acorta la brazada, sube la frecuencia, baja el codo. Hoy esto se detecta a ojo, de forma subjetiva, o con sistemas instrumentados —sensores inerciales, varias cámaras— que son caros y complejos. StrokeLab propone una tercera vía: una sola cámara convencional y un portátil, y un sistema que no solo detecta la fatiga sino que explica qué variable la provoca. [≈ 1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objetivo general es un sistema de IA explicable que, desde vídeo monocular y en la CPU de un portátil, cuantifique la técnica, detecte el inicio de la fatiga y explique sus causas. El director marcó cuatro indicaciones: la explicabilidad es lo más importante, dos verticales de IA —visión y datos tabulares—, modos diferenciados y optimizar YOLO. La tabla resume cómo responde el sistema a cada una. [≈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arquitectura. La vertical de visión estima la pose: 17 puntos del cuerpo por fotograma con YOLOv8n en 2D y MotionBERT en 3D, y los limpia con filtros anatómicos. La vertical tabular divide el nado en ciclos de brazada, calcula por ciclo la frecuencia, la distancia por ciclo y los ángulos de codo, hombro, cadera, rodilla y tronco, aprende el patrón fresco del propio nadador con Isolation Forest y explica cada desviación con SHAP. El resultado llega al entrenador como vídeo anotado, tablas y un texto.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YOLO se entrenó con personas de pie, no con nadadores horizontales bajo el agua. Tres decisiones lo adaptan. Primero, el giro: pruebo el fotograma sin girar y girado 90 grados y me quedo con la orientación que mejor detecta. Segundo, filtros anatómicos: descarto cuerpos imposibles, como un tronco vertical en vista lateral o la cadera encima del hombro. Tercero, la elección del modelo: en el mismo vídeo YOLOv8n dio 15 ciclos válidos frente a 3 de MoveNet. El 3D de MotionBERT reconstruye mal las piernas de un nadador horizontal, así que en vista lateral uso los ángulos 2D. [≈ 1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Bajo el agua YOLO copia el brazo visible en el oculto: las dos muñecas salen casi idénticas. Por eso no sigo cada brazo por separado, sino la mano más profunda respecto al eje del cuerpo. Cada pico es una brazada y en crol dos brazadas forman un ciclo. Lo validé contra mi conteo manual: el error en la frecuencia está entre el 6,5 y el 8,2 %, en vista lateral y frontal. [≈ 1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hay etiquetas de fatiga, así que planteo el problema como detección de anomalías respecto al propio nadador. El primer 30 % de sus ciclos es su patrón fresco. Isolation Forest puntúa cada ciclo por lo distinto que es de ese patrón. El inicio de la fatiga es el primer momento con tres ciclos seguidos por encima del percentil 95 de la fase fresca, y lo contrasto con el detector de cambios PELT. En la gráfica, con datos sintéticos y fatiga programada, el sistema la detecta al comienzo de la transición.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parte más importante para el director es la explicación. Para el ciclo en que empieza la fatiga, TreeSHAP reparte la puntuación de anomalía entre las variables. Aquí, la asimetría de brazos, la amplitud de patada y el alcance son las que más empujan. El sistema lo traduce a un texto para el entrenador: qué cambió, cuánto y cuánto contribuye. En los datos sintéticos, las variables señaladas coinciden con las que se alteraron en la simulación, que es la comprobación de que la explicación es correcta. [≈ 1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vídeo real analicé 17 secuencias de 4 participantes en 4 estilos: 6,6 minutos grabados, de los que 2,2 minutos fueron analizables, con 95 ciclos válidos. La frecuencia se aproxima al conteo manual con un error del 6,5 al 8,2 %. La vista de la cámara se detecta sola en todas las secuencias y la familia del estilo en 12 de 13. Las sesiones de pasadas cortas no dieron fatiga, y tampoco falsas alarmas: es lo esperable, porque son pasadas a ritmo técnico con descansos. [≈ 1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no tengo una referencia real de fatiga, construí un generador de datos sintéticos en el que sé la verdad: la frecuencia, la velocidad y el momento exacto en que empieza la fatiga. Con él, el error mediano es del 4,7 % en frecuencia, del 1,3 % en velocidad y del 4,3 % en distancia por ciclo. El detector encuentra la fatiga en el 100 % de los casos con un 10 % de falsas alarmas, y en tiempo real detecta 10 de 10 sin falsas alarmas. Son datos sintéticos y así los presento: sirven para comprobar que el método funciona cuando la verdad se conoce. [≈ 1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no es un número suelto. El vídeo anotado muestra en cada momento si el nadador está fresco o fatigado, el ciclo y la frecuencia, y una barra con la anomalía de cada ciclo y el umbral. El modo en tiempo real hace lo mismo mientras se reproduce el vídeo o la cámara, y muestra las causas de SHAP en directo. Además, el sistema decide solo la vista y la familia del estilo, y procesa listas de vídeos por lotes. [≈ 45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Después de entregar quise atacar la principal limitación, la detección bajo el agua. Usé 405 imágenes reales de nadadores anotadas, públicas, y evalué con validación cruzada de cuatro pliegues separando por grabación para que no haya fuga de datos. El modelo ajustado detecta al nadador en el 78 % de las imágenes frente al 47 % del original, y el OKS sube de 0,10 a 0,40. Probé también modelos más grandes y datos sintéticos: no mejoran, lo que confirma que el límite son los datos reales del dominio. Y aplicado a mis vídeos aumenta el tiempo analizable un 26 %, pero la frecuencia no mejora: las reglas posteriores están calibradas con el modelo original y hay que recalibrarlas. Por eso el sistema de la memoria sigue con el modelo original. [≈ 1 min 30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limitaciones son claras y las identifiqué con datos. Faltan grabaciones de nado continuo y una referencia fisiológica, así que la fatiga real no está validada todavía. La detección bajo el agua sigue siendo el cuello de botella y el modelo copia el brazo oculto. El 3D falla en las piernas. El trabajo futuro sale directamente de ellas: grabar nado continuo con lactato o escala de esfuerzo, anotar fotogramas propios, recalibrar las reglas con el modelo ajustado y probar ViTPose y el modo audio. [≈ 1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resumen: siete objetivos cumplidos y dos parciales. Los parciales son honestos: la fatiga está validada con datos sintéticos y en tiempo real, pero falta la validación fisiológica con nadadores reales; y el clasificador de estilo supervisado no generalizaba, por eso lo sustituí por reglas biomecánicas. La lección principal del trabajo es que la calidad de los datos pesa más que el modelo: detecté una exactitud del 99,99 % que era fuga de datos y, desde entonces, contrasté cada resultado con una referencia. Gracias. [≈ 1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Quedo a disposición del tribunal para sus preguntas.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qué YOLOv8n: es el más ligero sin perder detección, y en el vídeo real dio muchos más ciclos válidos que MoveNet. ViTPose se descartó por coste en CPU.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Tras el ajuste los tres tamaños quedan igual o el pequeño mejor: con unas 200 imágenes de entrenamiento el límite son los datos. Los sintéticos de SwimXYZ (vista frontal, fuera del agua) no mejoran la prueba, que es lateral bajo el agua, y aumentan las falsas detecciones.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el modelo ajustado el sistema analiza más tiempo y saca más ciclos, pero la frecuencia frente al conteo manual no mejora: la señal de la mano tiene picos dobles. Las reglas posteriores están calibradas con el modelo original; recalibrarlas exige más conteos manuales. Por eso el sistema del TFM mantiene el original.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Probé dos vídeos de televisión. En la retransmisión del 800 libre de 2001, desde fuera del agua, con varios nadadores y cambios de plano, el sistema falla: la frecuencia salta de 40 a 90 ciclos por minuto. En un vídeo con cámara en el fondo y un solo nadador, detecta sola la vista frontal y sigue al nadador. El sistema está pensado para grabaciones de entrenamiento con un nadador.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Ninguna sesión mostró fatiga ni falsas alarmas. Son pasadas cortas a ritmo técnico con descansos, no un esfuerzo continuo. No demuestra la capacidad de detectar fatiga real, pero sí que el sistema no inventa fatiga.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 Id="rId3" Type="http://schemas.openxmlformats.org/officeDocument/2006/relationships/image" Target="../media/image5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7.xml"/><Relationship Id="rId3" Type="http://schemas.openxmlformats.org/officeDocument/2006/relationships/image" Target="../media/image5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8.xml"/><Relationship Id="rId3" Type="http://schemas.openxmlformats.org/officeDocument/2006/relationships/image" Target="../media/image5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9.xml"/><Relationship Id="rId3" Type="http://schemas.openxmlformats.org/officeDocument/2006/relationships/image" Target="../media/image5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1.xml"/><Relationship Id="rId3" Type="http://schemas.openxmlformats.org/officeDocument/2006/relationships/image" Target="../media/image5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2.xml"/><Relationship Id="rId3" Type="http://schemas.openxmlformats.org/officeDocument/2006/relationships/image" Target="../media/image5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3.xml"/><Relationship Id="rId3"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600200" y="1005840"/>
            <a:ext cx="5486400" cy="1097280"/>
          </a:xfrm>
        </p:spPr>
        <p:txBody>
          <a:bodyPr/>
          <a:lstStyle/>
          <a:p>
            <a:r>
              <a:rPr sz="4400"/>
              <a:t>Índice</a:t>
            </a:r>
          </a:p>
        </p:txBody>
      </p:sp>
      <p:sp>
        <p:nvSpPr>
          <p:cNvPr id="3" name="Text Placeholder 2"/>
          <p:cNvSpPr>
            <a:spLocks noGrp="1"/>
          </p:cNvSpPr>
          <p:nvPr>
            <p:ph type="body" idx="15" sz="quarter"/>
          </p:nvPr>
        </p:nvSpPr>
        <p:spPr>
          <a:xfrm>
            <a:off x="1600200" y="2377440"/>
          </a:xfrm>
        </p:spPr>
        <p:txBody>
          <a:bodyPr/>
          <a:lstStyle/>
          <a:p>
            <a:pPr>
              <a:spcAft>
                <a:spcPts val="1400"/>
              </a:spcAft>
            </a:pPr>
            <a:r>
              <a:rPr b="1" sz="2400">
                <a:solidFill>
                  <a:srgbClr val="FF3228"/>
                </a:solidFill>
              </a:rPr>
              <a:t>01   </a:t>
            </a:r>
            <a:r>
              <a:rPr sz="2400"/>
              <a:t>El problema y el objetivo</a:t>
            </a:r>
          </a:p>
          <a:p>
            <a:pPr>
              <a:spcAft>
                <a:spcPts val="1400"/>
              </a:spcAft>
            </a:pPr>
            <a:r>
              <a:rPr b="1" sz="2400">
                <a:solidFill>
                  <a:srgbClr val="FF3228"/>
                </a:solidFill>
              </a:rPr>
              <a:t>02   </a:t>
            </a:r>
            <a:r>
              <a:rPr sz="2400"/>
              <a:t>StrokeLab: visión + datos tabulares</a:t>
            </a:r>
          </a:p>
          <a:p>
            <a:pPr>
              <a:spcAft>
                <a:spcPts val="1400"/>
              </a:spcAft>
            </a:pPr>
            <a:r>
              <a:rPr b="1" sz="2400">
                <a:solidFill>
                  <a:srgbClr val="FF3228"/>
                </a:solidFill>
              </a:rPr>
              <a:t>03   </a:t>
            </a:r>
            <a:r>
              <a:rPr sz="2400"/>
              <a:t>Validación y resultados</a:t>
            </a:r>
          </a:p>
          <a:p>
            <a:pPr>
              <a:spcAft>
                <a:spcPts val="1400"/>
              </a:spcAft>
            </a:pPr>
            <a:r>
              <a:rPr b="1" sz="2400">
                <a:solidFill>
                  <a:srgbClr val="FF3228"/>
                </a:solidFill>
              </a:rPr>
              <a:t>04   </a:t>
            </a:r>
            <a:r>
              <a:rPr sz="2400"/>
              <a:t>Trabajo posterior a la entrega</a:t>
            </a:r>
          </a:p>
          <a:p>
            <a:pPr>
              <a:spcAft>
                <a:spcPts val="1400"/>
              </a:spcAft>
            </a:pPr>
            <a:r>
              <a:rPr b="1" sz="2400">
                <a:solidFill>
                  <a:srgbClr val="FF3228"/>
                </a:solidFill>
              </a:rPr>
              <a:t>05   </a:t>
            </a:r>
            <a:r>
              <a:rPr sz="2400"/>
              <a:t>Conclusiones y trabajo futuro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¿Cuándo aparece la fatiga y por qué?</a:t>
            </a:r>
          </a:p>
        </p:txBody>
      </p:sp>
      <p:sp>
        <p:nvSpPr>
          <p:cNvPr id="4" name="Text Placeholder 3"/>
          <p:cNvSpPr>
            <a:spLocks noGrp="1"/>
          </p:cNvSpPr>
          <p:nvPr>
            <p:ph type="body" idx="18" sz="quarter"/>
          </p:nvPr>
        </p:nvSpPr>
        <p:spPr>
          <a:xfrm>
            <a:ext cx="12344400" cy="0"/>
          </a:xfrm>
        </p:spPr>
        <p:txBody>
          <a:bodyPr/>
          <a:lstStyle/>
          <a:p>
            <a:r>
              <a:t>Hoy el entrenador elige entre el ojo experto y los sensores caros</a:t>
            </a:r>
          </a:p>
        </p:txBody>
      </p:sp>
      <p:sp>
        <p:nvSpPr>
          <p:cNvPr id="5" name="Rectangle 4"/>
          <p:cNvSpPr/>
          <p:nvPr/>
        </p:nvSpPr>
        <p:spPr>
          <a:xfrm>
            <a:off x="905256"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Observación</a:t>
            </a:r>
          </a:p>
        </p:txBody>
      </p:sp>
      <p:sp>
        <p:nvSpPr>
          <p:cNvPr id="8" name="TextBox 7"/>
          <p:cNvSpPr txBox="1"/>
          <p:nvPr/>
        </p:nvSpPr>
        <p:spPr>
          <a:xfrm>
            <a:off x="1179576"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Depende de la experiencia del entrenador. No cuantifica ni deja registro comparable entre sesiones.</a:t>
            </a:r>
          </a:p>
        </p:txBody>
      </p:sp>
      <p:sp>
        <p:nvSpPr>
          <p:cNvPr id="9" name="Rectangle 8"/>
          <p:cNvSpPr/>
          <p:nvPr/>
        </p:nvSpPr>
        <p:spPr>
          <a:xfrm>
            <a:off x="5120640"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Sistemas instrumentados</a:t>
            </a:r>
          </a:p>
        </p:txBody>
      </p:sp>
      <p:sp>
        <p:nvSpPr>
          <p:cNvPr id="12" name="TextBox 11"/>
          <p:cNvSpPr txBox="1"/>
          <p:nvPr/>
        </p:nvSpPr>
        <p:spPr>
          <a:xfrm>
            <a:off x="5394959"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Sensores inerciales o varias cámaras: coste elevado y montaje complejo en la piscina.</a:t>
            </a:r>
          </a:p>
        </p:txBody>
      </p:sp>
      <p:sp>
        <p:nvSpPr>
          <p:cNvPr id="13" name="Rectangle 12"/>
          <p:cNvSpPr/>
          <p:nvPr/>
        </p:nvSpPr>
        <p:spPr>
          <a:xfrm>
            <a:off x="9336024" y="2926080"/>
            <a:ext cx="3931920" cy="3017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200400"/>
            <a:ext cx="3383279" cy="548640"/>
          </a:xfrm>
          <a:prstGeom prst="rect">
            <a:avLst/>
          </a:prstGeom>
          <a:noFill/>
        </p:spPr>
        <p:txBody>
          <a:bodyPr wrap="square" anchor="t" lIns="0" rIns="0" tIns="0" bIns="0">
            <a:spAutoFit/>
          </a:bodyPr>
          <a:lstStyle/>
          <a:p>
            <a:pPr algn="l">
              <a:spcAft>
                <a:spcPts val="600"/>
              </a:spcAft>
            </a:pPr>
            <a:r>
              <a:rPr sz="3000" b="1">
                <a:solidFill>
                  <a:srgbClr val="FFFFFF"/>
                </a:solidFill>
              </a:rPr>
              <a:t>03</a:t>
            </a:r>
          </a:p>
        </p:txBody>
      </p:sp>
      <p:sp>
        <p:nvSpPr>
          <p:cNvPr id="15" name="TextBox 14"/>
          <p:cNvSpPr txBox="1"/>
          <p:nvPr/>
        </p:nvSpPr>
        <p:spPr>
          <a:xfrm>
            <a:off x="9610344" y="3794760"/>
            <a:ext cx="3383279" cy="731520"/>
          </a:xfrm>
          <a:prstGeom prst="rect">
            <a:avLst/>
          </a:prstGeom>
          <a:noFill/>
        </p:spPr>
        <p:txBody>
          <a:bodyPr wrap="square" anchor="t" lIns="0" rIns="0" tIns="0" bIns="0">
            <a:spAutoFit/>
          </a:bodyPr>
          <a:lstStyle/>
          <a:p>
            <a:pPr algn="l">
              <a:spcAft>
                <a:spcPts val="600"/>
              </a:spcAft>
            </a:pPr>
            <a:r>
              <a:rPr sz="1800" b="1">
                <a:solidFill>
                  <a:srgbClr val="FFFFFF"/>
                </a:solidFill>
              </a:rPr>
              <a:t>StrokeLab</a:t>
            </a:r>
          </a:p>
        </p:txBody>
      </p:sp>
      <p:sp>
        <p:nvSpPr>
          <p:cNvPr id="16" name="TextBox 15"/>
          <p:cNvSpPr txBox="1"/>
          <p:nvPr/>
        </p:nvSpPr>
        <p:spPr>
          <a:xfrm>
            <a:off x="9610344" y="4480560"/>
            <a:ext cx="3383279" cy="1280159"/>
          </a:xfrm>
          <a:prstGeom prst="rect">
            <a:avLst/>
          </a:prstGeom>
          <a:noFill/>
        </p:spPr>
        <p:txBody>
          <a:bodyPr wrap="square" anchor="t" lIns="0" rIns="0" tIns="0" bIns="0">
            <a:spAutoFit/>
          </a:bodyPr>
          <a:lstStyle/>
          <a:p>
            <a:pPr algn="l">
              <a:spcAft>
                <a:spcPts val="600"/>
              </a:spcAft>
            </a:pPr>
            <a:r>
              <a:rPr sz="1400" b="0">
                <a:solidFill>
                  <a:srgbClr val="FFFFFF"/>
                </a:solidFill>
              </a:rPr>
              <a:t>Una cámara convencional y un portátil sin GPU. Mide, detecta el inicio de la fatiga y explica su causa.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Objetivo: IA explicable desde un vídeo</a:t>
            </a:r>
          </a:p>
        </p:txBody>
      </p:sp>
      <p:sp>
        <p:nvSpPr>
          <p:cNvPr id="4" name="Text Placeholder 3"/>
          <p:cNvSpPr>
            <a:spLocks noGrp="1"/>
          </p:cNvSpPr>
          <p:nvPr>
            <p:ph type="body" idx="18" sz="quarter"/>
          </p:nvPr>
        </p:nvSpPr>
        <p:spPr>
          <a:xfrm>
            <a:ext cx="12344400" cy="0"/>
          </a:xfrm>
        </p:spPr>
        <p:txBody>
          <a:bodyPr/>
          <a:lstStyle/>
          <a:p>
            <a:r>
              <a:t>Indicaciones del director y cómo se cumplen</a:t>
            </a:r>
          </a:p>
        </p:txBody>
      </p:sp>
      <p:graphicFrame>
        <p:nvGraphicFramePr>
          <p:cNvPr id="5" name="Table 4"/>
          <p:cNvGraphicFramePr>
            <a:graphicFrameLocks noGrp="1"/>
          </p:cNvGraphicFramePr>
          <p:nvPr/>
        </p:nvGraphicFramePr>
        <p:xfrm>
          <a:off x="905256" y="2880360"/>
          <a:ext cx="12801600" cy="2834640"/>
        </p:xfrm>
        <a:graphic>
          <a:graphicData uri="http://schemas.openxmlformats.org/drawingml/2006/table">
            <a:tbl>
              <a:tblPr firstRow="1" bandRow="1">
                <a:tableStyleId>{5C22544A-7EE6-4342-B048-85BDC9FD1C3A}</a:tableStyleId>
              </a:tblPr>
              <a:tblGrid>
                <a:gridCol w="4754880"/>
                <a:gridCol w="8046720"/>
              </a:tblGrid>
              <a:tr h="566928">
                <a:tc>
                  <a:txBody>
                    <a:bodyPr/>
                    <a:lstStyle/>
                    <a:p>
                      <a:r>
                        <a:rPr sz="1400" b="1">
                          <a:solidFill>
                            <a:srgbClr val="FFFFFF"/>
                          </a:solidFill>
                        </a:rPr>
                        <a:t>Indicación</a:t>
                      </a:r>
                    </a:p>
                  </a:txBody>
                  <a:tcPr marL="91440" marR="91440" marT="27432" marB="27432" anchor="ctr">
                    <a:solidFill>
                      <a:srgbClr val="FF3228"/>
                    </a:solidFill>
                  </a:tcPr>
                </a:tc>
                <a:tc>
                  <a:txBody>
                    <a:bodyPr/>
                    <a:lstStyle/>
                    <a:p>
                      <a:r>
                        <a:rPr sz="1400" b="1">
                          <a:solidFill>
                            <a:srgbClr val="FFFFFF"/>
                          </a:solidFill>
                        </a:rPr>
                        <a:t>Implementación en StrokeLab</a:t>
                      </a:r>
                    </a:p>
                  </a:txBody>
                  <a:tcPr marL="91440" marR="91440" marT="27432" marB="27432" anchor="ctr">
                    <a:solidFill>
                      <a:srgbClr val="FF3228"/>
                    </a:solidFill>
                  </a:tcPr>
                </a:tc>
              </a:tr>
              <a:tr h="566928">
                <a:tc>
                  <a:txBody>
                    <a:bodyPr/>
                    <a:lstStyle/>
                    <a:p>
                      <a:r>
                        <a:rPr sz="1400" b="0">
                          <a:solidFill>
                            <a:srgbClr val="1E1E1E"/>
                          </a:solidFill>
                        </a:rPr>
                        <a:t>La explicabilidad (SHAP) es lo más importante</a:t>
                      </a:r>
                    </a:p>
                  </a:txBody>
                  <a:tcPr marL="91440" marR="91440" marT="27432" marB="27432" anchor="ctr">
                    <a:solidFill>
                      <a:srgbClr val="FFFFFF"/>
                    </a:solidFill>
                  </a:tcPr>
                </a:tc>
                <a:tc>
                  <a:txBody>
                    <a:bodyPr/>
                    <a:lstStyle/>
                    <a:p>
                      <a:r>
                        <a:rPr sz="1400" b="0">
                          <a:solidFill>
                            <a:srgbClr val="1E1E1E"/>
                          </a:solidFill>
                        </a:rPr>
                        <a:t>Isolation Forest sobre el estado fresco del propio nadador + TreeSHAP + explicación en texto</a:t>
                      </a:r>
                    </a:p>
                  </a:txBody>
                  <a:tcPr marL="91440" marR="91440" marT="27432" marB="27432" anchor="ctr">
                    <a:solidFill>
                      <a:srgbClr val="FFFFFF"/>
                    </a:solidFill>
                  </a:tcPr>
                </a:tc>
              </a:tr>
              <a:tr h="566928">
                <a:tc>
                  <a:txBody>
                    <a:bodyPr/>
                    <a:lstStyle/>
                    <a:p>
                      <a:r>
                        <a:rPr sz="1400" b="0">
                          <a:solidFill>
                            <a:srgbClr val="1E1E1E"/>
                          </a:solidFill>
                        </a:rPr>
                        <a:t>Dos verticales de IA: visión y tabular</a:t>
                      </a:r>
                    </a:p>
                  </a:txBody>
                  <a:tcPr marL="91440" marR="91440" marT="27432" marB="27432" anchor="ctr">
                    <a:solidFill>
                      <a:srgbClr val="EEEDED"/>
                    </a:solidFill>
                  </a:tcPr>
                </a:tc>
                <a:tc>
                  <a:txBody>
                    <a:bodyPr/>
                    <a:lstStyle/>
                    <a:p>
                      <a:r>
                        <a:rPr sz="1400" b="0">
                          <a:solidFill>
                            <a:srgbClr val="1E1E1E"/>
                          </a:solidFill>
                        </a:rPr>
                        <a:t>Visión: pose 2D (YOLOv8n) y 3D (MotionBERT) · Tabular: variables por ciclo y modelo de fatiga</a:t>
                      </a:r>
                    </a:p>
                  </a:txBody>
                  <a:tcPr marL="91440" marR="91440" marT="27432" marB="27432" anchor="ctr">
                    <a:solidFill>
                      <a:srgbClr val="EEEDED"/>
                    </a:solidFill>
                  </a:tcPr>
                </a:tc>
              </a:tr>
              <a:tr h="566928">
                <a:tc>
                  <a:txBody>
                    <a:bodyPr/>
                    <a:lstStyle/>
                    <a:p>
                      <a:r>
                        <a:rPr sz="1400" b="0">
                          <a:solidFill>
                            <a:srgbClr val="1E1E1E"/>
                          </a:solidFill>
                        </a:rPr>
                        <a:t>Modos diferenciados (vídeo, tabular, audio)</a:t>
                      </a:r>
                    </a:p>
                  </a:txBody>
                  <a:tcPr marL="91440" marR="91440" marT="27432" marB="27432" anchor="ctr">
                    <a:solidFill>
                      <a:srgbClr val="FFFFFF"/>
                    </a:solidFill>
                  </a:tcPr>
                </a:tc>
                <a:tc>
                  <a:txBody>
                    <a:bodyPr/>
                    <a:lstStyle/>
                    <a:p>
                      <a:r>
                        <a:rPr sz="1400" b="0">
                          <a:solidFill>
                            <a:srgbClr val="1E1E1E"/>
                          </a:solidFill>
                        </a:rPr>
                        <a:t>Vídeo y tabular implementados; el audio queda como trabajo futuro</a:t>
                      </a:r>
                    </a:p>
                  </a:txBody>
                  <a:tcPr marL="91440" marR="91440" marT="27432" marB="27432" anchor="ctr">
                    <a:solidFill>
                      <a:srgbClr val="FFFFFF"/>
                    </a:solidFill>
                  </a:tcPr>
                </a:tc>
              </a:tr>
              <a:tr h="566928">
                <a:tc>
                  <a:txBody>
                    <a:bodyPr/>
                    <a:lstStyle/>
                    <a:p>
                      <a:r>
                        <a:rPr sz="1400" b="0">
                          <a:solidFill>
                            <a:srgbClr val="1E1E1E"/>
                          </a:solidFill>
                        </a:rPr>
                        <a:t>Optimizar YOLO (MoveNet, ViTPose)</a:t>
                      </a:r>
                    </a:p>
                  </a:txBody>
                  <a:tcPr marL="91440" marR="91440" marT="27432" marB="27432" anchor="ctr">
                    <a:solidFill>
                      <a:srgbClr val="EEEDED"/>
                    </a:solidFill>
                  </a:tcPr>
                </a:tc>
                <a:tc>
                  <a:txBody>
                    <a:bodyPr/>
                    <a:lstStyle/>
                    <a:p>
                      <a:r>
                        <a:rPr sz="1400" b="0">
                          <a:solidFill>
                            <a:srgbClr val="1E1E1E"/>
                          </a:solidFill>
                        </a:rPr>
                        <a:t>Comparativa en CPU; YOLOv8n elegido; ajuste fino tras la entrega</a:t>
                      </a:r>
                    </a:p>
                  </a:txBody>
                  <a:tcPr marL="91440" marR="91440" marT="27432" marB="27432" anchor="ctr">
                    <a:solidFill>
                      <a:srgbClr val="EEEDED"/>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Dos verticales de IA</a:t>
            </a:r>
          </a:p>
        </p:txBody>
      </p:sp>
      <p:pic>
        <p:nvPicPr>
          <p:cNvPr id="5" name="Picture 4" descr="arquitectura.png"/>
          <p:cNvPicPr>
            <a:picLocks noChangeAspect="1"/>
          </p:cNvPicPr>
          <p:nvPr/>
        </p:nvPicPr>
        <p:blipFill>
          <a:blip r:embed="rId3"/>
          <a:stretch>
            <a:fillRect/>
          </a:stretch>
        </p:blipFill>
        <p:spPr>
          <a:xfrm>
            <a:off x="2819028" y="2057400"/>
            <a:ext cx="8992343" cy="54864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Adaptar la pose humana al agua</a:t>
            </a:r>
          </a:p>
        </p:txBody>
      </p:sp>
      <p:sp>
        <p:nvSpPr>
          <p:cNvPr id="4" name="Text Placeholder 3"/>
          <p:cNvSpPr>
            <a:spLocks noGrp="1"/>
          </p:cNvSpPr>
          <p:nvPr>
            <p:ph type="body" idx="18" sz="quarter"/>
          </p:nvPr>
        </p:nvSpPr>
        <p:spPr>
          <a:xfrm>
            <a:ext cx="12344400" cy="0"/>
          </a:xfrm>
        </p:spPr>
        <p:txBody>
          <a:bodyPr/>
          <a:lstStyle/>
          <a:p>
            <a:r>
              <a:t>La pose bajo el agua necesita tres ajustes</a:t>
            </a:r>
          </a:p>
        </p:txBody>
      </p:sp>
      <p:sp>
        <p:nvSpPr>
          <p:cNvPr id="5" name="Rectangle 4"/>
          <p:cNvSpPr/>
          <p:nvPr/>
        </p:nvSpPr>
        <p:spPr>
          <a:xfrm>
            <a:off x="905256"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Giro ±90°</a:t>
            </a:r>
          </a:p>
        </p:txBody>
      </p:sp>
      <p:sp>
        <p:nvSpPr>
          <p:cNvPr id="8" name="TextBox 7"/>
          <p:cNvSpPr txBox="1"/>
          <p:nvPr/>
        </p:nvSpPr>
        <p:spPr>
          <a:xfrm>
            <a:off x="1179576"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 prueba el fotograma girado y se conserva la orientación que mejor detecta; las coordenadas vuelven al original.</a:t>
            </a:r>
          </a:p>
        </p:txBody>
      </p:sp>
      <p:sp>
        <p:nvSpPr>
          <p:cNvPr id="9" name="Rectangle 8"/>
          <p:cNvSpPr/>
          <p:nvPr/>
        </p:nvSpPr>
        <p:spPr>
          <a:xfrm>
            <a:off x="5120640"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Filtros anatómicos</a:t>
            </a:r>
          </a:p>
        </p:txBody>
      </p:sp>
      <p:sp>
        <p:nvSpPr>
          <p:cNvPr id="12" name="TextBox 11"/>
          <p:cNvSpPr txBox="1"/>
          <p:nvPr/>
        </p:nvSpPr>
        <p:spPr>
          <a:xfrm>
            <a:off x="5394959"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 descartan troncos verticales en vista lateral, segmentos imposibles y codos &lt; 25°.</a:t>
            </a:r>
          </a:p>
        </p:txBody>
      </p:sp>
      <p:sp>
        <p:nvSpPr>
          <p:cNvPr id="13" name="Rectangle 12"/>
          <p:cNvSpPr/>
          <p:nvPr/>
        </p:nvSpPr>
        <p:spPr>
          <a:xfrm>
            <a:off x="9336024"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03</a:t>
            </a:r>
          </a:p>
        </p:txBody>
      </p:sp>
      <p:sp>
        <p:nvSpPr>
          <p:cNvPr id="15" name="TextBox 14"/>
          <p:cNvSpPr txBox="1"/>
          <p:nvPr/>
        </p:nvSpPr>
        <p:spPr>
          <a:xfrm>
            <a:off x="9610344"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YOLOv8n-Pose</a:t>
            </a:r>
          </a:p>
        </p:txBody>
      </p:sp>
      <p:sp>
        <p:nvSpPr>
          <p:cNvPr id="16" name="TextBox 15"/>
          <p:cNvSpPr txBox="1"/>
          <p:nvPr/>
        </p:nvSpPr>
        <p:spPr>
          <a:xfrm>
            <a:off x="9610344"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15 ciclos válidos frente a 3 de MoveNet en el mismo vídeo; 6,6 FPS en la CPU del portátil.</a:t>
            </a:r>
          </a:p>
        </p:txBody>
      </p:sp>
      <p:sp>
        <p:nvSpPr>
          <p:cNvPr id="17" name="TextBox 16"/>
          <p:cNvSpPr txBox="1"/>
          <p:nvPr/>
        </p:nvSpPr>
        <p:spPr>
          <a:xfrm>
            <a:off x="905256" y="62179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3D (MotionBERT): válido en codo y cadera, no en rodilla → ángulos 2D en vista lateral y 3D en vista frontal u oblicua.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Contar brazadas con la mano</a:t>
            </a:r>
          </a:p>
        </p:txBody>
      </p:sp>
      <p:sp>
        <p:nvSpPr>
          <p:cNvPr id="4" name="Text Placeholder 3"/>
          <p:cNvSpPr>
            <a:spLocks noGrp="1"/>
          </p:cNvSpPr>
          <p:nvPr>
            <p:ph type="body" idx="18" sz="quarter"/>
          </p:nvPr>
        </p:nvSpPr>
        <p:spPr>
          <a:xfrm>
            <a:ext cx="12344400" cy="0"/>
          </a:xfrm>
        </p:spPr>
        <p:txBody>
          <a:bodyPr/>
          <a:lstStyle/>
          <a:p>
            <a:r>
              <a:t>La mano más profunda respecto al eje del cuerpo marca cada brazada</a:t>
            </a:r>
          </a:p>
        </p:txBody>
      </p:sp>
      <p:pic>
        <p:nvPicPr>
          <p:cNvPr id="5" name="Picture 4" descr="aaron_brazadas.png"/>
          <p:cNvPicPr>
            <a:picLocks noChangeAspect="1"/>
          </p:cNvPicPr>
          <p:nvPr/>
        </p:nvPicPr>
        <p:blipFill>
          <a:blip r:embed="rId3"/>
          <a:stretch>
            <a:fillRect/>
          </a:stretch>
        </p:blipFill>
        <p:spPr>
          <a:xfrm>
            <a:off x="905256" y="3114446"/>
            <a:ext cx="7680960" cy="2457907"/>
          </a:xfrm>
          <a:prstGeom prst="rect">
            <a:avLst/>
          </a:prstGeom>
        </p:spPr>
      </p:pic>
      <p:graphicFrame>
        <p:nvGraphicFramePr>
          <p:cNvPr id="6" name="Table 5"/>
          <p:cNvGraphicFramePr>
            <a:graphicFrameLocks noGrp="1"/>
          </p:cNvGraphicFramePr>
          <p:nvPr/>
        </p:nvGraphicFramePr>
        <p:xfrm>
          <a:off x="8961120" y="2834640"/>
          <a:ext cx="4754880" cy="1828800"/>
        </p:xfrm>
        <a:graphic>
          <a:graphicData uri="http://schemas.openxmlformats.org/drawingml/2006/table">
            <a:tbl>
              <a:tblPr firstRow="1" bandRow="1">
                <a:tableStyleId>{5C22544A-7EE6-4342-B048-85BDC9FD1C3A}</a:tableStyleId>
              </a:tblPr>
              <a:tblGrid>
                <a:gridCol w="1920240"/>
                <a:gridCol w="868680"/>
                <a:gridCol w="1005840"/>
                <a:gridCol w="960120"/>
              </a:tblGrid>
              <a:tr h="457200">
                <a:tc>
                  <a:txBody>
                    <a:bodyPr/>
                    <a:lstStyle/>
                    <a:p>
                      <a:r>
                        <a:rPr sz="1100" b="1">
                          <a:solidFill>
                            <a:srgbClr val="FFFFFF"/>
                          </a:solidFill>
                        </a:rPr>
                        <a:t>Secuencia (P1, crol)</a:t>
                      </a:r>
                    </a:p>
                  </a:txBody>
                  <a:tcPr marL="91440" marR="91440" marT="27432" marB="27432" anchor="ctr">
                    <a:solidFill>
                      <a:srgbClr val="FF3228"/>
                    </a:solidFill>
                  </a:tcPr>
                </a:tc>
                <a:tc>
                  <a:txBody>
                    <a:bodyPr/>
                    <a:lstStyle/>
                    <a:p>
                      <a:r>
                        <a:rPr sz="1100" b="1">
                          <a:solidFill>
                            <a:srgbClr val="FFFFFF"/>
                          </a:solidFill>
                        </a:rPr>
                        <a:t>Manual</a:t>
                      </a:r>
                    </a:p>
                  </a:txBody>
                  <a:tcPr marL="91440" marR="91440" marT="27432" marB="27432" anchor="ctr">
                    <a:solidFill>
                      <a:srgbClr val="FF3228"/>
                    </a:solidFill>
                  </a:tcPr>
                </a:tc>
                <a:tc>
                  <a:txBody>
                    <a:bodyPr/>
                    <a:lstStyle/>
                    <a:p>
                      <a:r>
                        <a:rPr sz="1100" b="1">
                          <a:solidFill>
                            <a:srgbClr val="FFFFFF"/>
                          </a:solidFill>
                        </a:rPr>
                        <a:t>Sistema</a:t>
                      </a:r>
                    </a:p>
                  </a:txBody>
                  <a:tcPr marL="91440" marR="91440" marT="27432" marB="27432" anchor="ctr">
                    <a:solidFill>
                      <a:srgbClr val="FF3228"/>
                    </a:solidFill>
                  </a:tcPr>
                </a:tc>
                <a:tc>
                  <a:txBody>
                    <a:bodyPr/>
                    <a:lstStyle/>
                    <a:p>
                      <a:r>
                        <a:rPr sz="1100" b="1">
                          <a:solidFill>
                            <a:srgbClr val="FFFFFF"/>
                          </a:solidFill>
                        </a:rPr>
                        <a:t>Error</a:t>
                      </a:r>
                    </a:p>
                  </a:txBody>
                  <a:tcPr marL="91440" marR="91440" marT="27432" marB="27432" anchor="ctr">
                    <a:solidFill>
                      <a:srgbClr val="FF3228"/>
                    </a:solidFill>
                  </a:tcPr>
                </a:tc>
              </a:tr>
              <a:tr h="457200">
                <a:tc>
                  <a:txBody>
                    <a:bodyPr/>
                    <a:lstStyle/>
                    <a:p>
                      <a:r>
                        <a:rPr sz="1100" b="0">
                          <a:solidFill>
                            <a:srgbClr val="1E1E1E"/>
                          </a:solidFill>
                        </a:rPr>
                        <a:t>GX011614 · lateral</a:t>
                      </a:r>
                    </a:p>
                  </a:txBody>
                  <a:tcPr marL="91440" marR="91440" marT="27432" marB="27432" anchor="ctr">
                    <a:solidFill>
                      <a:srgbClr val="FFFFFF"/>
                    </a:solidFill>
                  </a:tcPr>
                </a:tc>
                <a:tc>
                  <a:txBody>
                    <a:bodyPr/>
                    <a:lstStyle/>
                    <a:p>
                      <a:r>
                        <a:rPr sz="1100" b="0">
                          <a:solidFill>
                            <a:srgbClr val="1E1E1E"/>
                          </a:solidFill>
                        </a:rPr>
                        <a:t>54,0</a:t>
                      </a:r>
                    </a:p>
                  </a:txBody>
                  <a:tcPr marL="91440" marR="91440" marT="27432" marB="27432" anchor="ctr">
                    <a:solidFill>
                      <a:srgbClr val="FFFFFF"/>
                    </a:solidFill>
                  </a:tcPr>
                </a:tc>
                <a:tc>
                  <a:txBody>
                    <a:bodyPr/>
                    <a:lstStyle/>
                    <a:p>
                      <a:r>
                        <a:rPr sz="1100" b="0">
                          <a:solidFill>
                            <a:srgbClr val="1E1E1E"/>
                          </a:solidFill>
                        </a:rPr>
                        <a:t>50,5</a:t>
                      </a:r>
                    </a:p>
                  </a:txBody>
                  <a:tcPr marL="91440" marR="91440" marT="27432" marB="27432" anchor="ctr">
                    <a:solidFill>
                      <a:srgbClr val="FFFFFF"/>
                    </a:solidFill>
                  </a:tcPr>
                </a:tc>
                <a:tc>
                  <a:txBody>
                    <a:bodyPr/>
                    <a:lstStyle/>
                    <a:p>
                      <a:r>
                        <a:rPr sz="1100" b="0">
                          <a:solidFill>
                            <a:srgbClr val="1E1E1E"/>
                          </a:solidFill>
                        </a:rPr>
                        <a:t>−6,5 %</a:t>
                      </a:r>
                    </a:p>
                  </a:txBody>
                  <a:tcPr marL="91440" marR="91440" marT="27432" marB="27432" anchor="ctr">
                    <a:solidFill>
                      <a:srgbClr val="FFFFFF"/>
                    </a:solidFill>
                  </a:tcPr>
                </a:tc>
              </a:tr>
              <a:tr h="457200">
                <a:tc>
                  <a:txBody>
                    <a:bodyPr/>
                    <a:lstStyle/>
                    <a:p>
                      <a:r>
                        <a:rPr sz="1100" b="0">
                          <a:solidFill>
                            <a:srgbClr val="1E1E1E"/>
                          </a:solidFill>
                        </a:rPr>
                        <a:t>IMG_7207 · frontal</a:t>
                      </a:r>
                    </a:p>
                  </a:txBody>
                  <a:tcPr marL="91440" marR="91440" marT="27432" marB="27432" anchor="ctr">
                    <a:solidFill>
                      <a:srgbClr val="EEEDED"/>
                    </a:solidFill>
                  </a:tcPr>
                </a:tc>
                <a:tc>
                  <a:txBody>
                    <a:bodyPr/>
                    <a:lstStyle/>
                    <a:p>
                      <a:r>
                        <a:rPr sz="1100" b="0">
                          <a:solidFill>
                            <a:srgbClr val="1E1E1E"/>
                          </a:solidFill>
                        </a:rPr>
                        <a:t>80,0</a:t>
                      </a:r>
                    </a:p>
                  </a:txBody>
                  <a:tcPr marL="91440" marR="91440" marT="27432" marB="27432" anchor="ctr">
                    <a:solidFill>
                      <a:srgbClr val="EEEDED"/>
                    </a:solidFill>
                  </a:tcPr>
                </a:tc>
                <a:tc>
                  <a:txBody>
                    <a:bodyPr/>
                    <a:lstStyle/>
                    <a:p>
                      <a:r>
                        <a:rPr sz="1100" b="0">
                          <a:solidFill>
                            <a:srgbClr val="1E1E1E"/>
                          </a:solidFill>
                        </a:rPr>
                        <a:t>73,9</a:t>
                      </a:r>
                    </a:p>
                  </a:txBody>
                  <a:tcPr marL="91440" marR="91440" marT="27432" marB="27432" anchor="ctr">
                    <a:solidFill>
                      <a:srgbClr val="EEEDED"/>
                    </a:solidFill>
                  </a:tcPr>
                </a:tc>
                <a:tc>
                  <a:txBody>
                    <a:bodyPr/>
                    <a:lstStyle/>
                    <a:p>
                      <a:r>
                        <a:rPr sz="1100" b="0">
                          <a:solidFill>
                            <a:srgbClr val="1E1E1E"/>
                          </a:solidFill>
                        </a:rPr>
                        <a:t>−7,6 %</a:t>
                      </a:r>
                    </a:p>
                  </a:txBody>
                  <a:tcPr marL="91440" marR="91440" marT="27432" marB="27432" anchor="ctr">
                    <a:solidFill>
                      <a:srgbClr val="EEEDED"/>
                    </a:solidFill>
                  </a:tcPr>
                </a:tc>
              </a:tr>
              <a:tr h="457200">
                <a:tc>
                  <a:txBody>
                    <a:bodyPr/>
                    <a:lstStyle/>
                    <a:p>
                      <a:r>
                        <a:rPr sz="1100" b="0">
                          <a:solidFill>
                            <a:srgbClr val="1E1E1E"/>
                          </a:solidFill>
                        </a:rPr>
                        <a:t>IMG_7215 · frontal</a:t>
                      </a:r>
                    </a:p>
                  </a:txBody>
                  <a:tcPr marL="91440" marR="91440" marT="27432" marB="27432" anchor="ctr">
                    <a:solidFill>
                      <a:srgbClr val="FFFFFF"/>
                    </a:solidFill>
                  </a:tcPr>
                </a:tc>
                <a:tc>
                  <a:txBody>
                    <a:bodyPr/>
                    <a:lstStyle/>
                    <a:p>
                      <a:r>
                        <a:rPr sz="1100" b="0">
                          <a:solidFill>
                            <a:srgbClr val="1E1E1E"/>
                          </a:solidFill>
                        </a:rPr>
                        <a:t>51,1</a:t>
                      </a:r>
                    </a:p>
                  </a:txBody>
                  <a:tcPr marL="91440" marR="91440" marT="27432" marB="27432" anchor="ctr">
                    <a:solidFill>
                      <a:srgbClr val="FFFFFF"/>
                    </a:solidFill>
                  </a:tcPr>
                </a:tc>
                <a:tc>
                  <a:txBody>
                    <a:bodyPr/>
                    <a:lstStyle/>
                    <a:p>
                      <a:r>
                        <a:rPr sz="1100" b="0">
                          <a:solidFill>
                            <a:srgbClr val="1E1E1E"/>
                          </a:solidFill>
                        </a:rPr>
                        <a:t>55,2</a:t>
                      </a:r>
                    </a:p>
                  </a:txBody>
                  <a:tcPr marL="91440" marR="91440" marT="27432" marB="27432" anchor="ctr">
                    <a:solidFill>
                      <a:srgbClr val="FFFFFF"/>
                    </a:solidFill>
                  </a:tcPr>
                </a:tc>
                <a:tc>
                  <a:txBody>
                    <a:bodyPr/>
                    <a:lstStyle/>
                    <a:p>
                      <a:r>
                        <a:rPr sz="1100" b="0">
                          <a:solidFill>
                            <a:srgbClr val="1E1E1E"/>
                          </a:solidFill>
                        </a:rPr>
                        <a:t>+8,2 %</a:t>
                      </a:r>
                    </a:p>
                  </a:txBody>
                  <a:tcPr marL="91440" marR="91440" marT="27432" marB="27432" anchor="ctr">
                    <a:solidFill>
                      <a:srgbClr val="FFFFFF"/>
                    </a:solidFill>
                  </a:tcPr>
                </a:tc>
              </a:tr>
            </a:tbl>
          </a:graphicData>
        </a:graphic>
      </p:graphicFrame>
      <p:sp>
        <p:nvSpPr>
          <p:cNvPr id="7" name="TextBox 6"/>
          <p:cNvSpPr txBox="1"/>
          <p:nvPr/>
        </p:nvSpPr>
        <p:spPr>
          <a:xfrm>
            <a:off x="8961120" y="4846320"/>
            <a:ext cx="4754880" cy="548640"/>
          </a:xfrm>
          <a:prstGeom prst="rect">
            <a:avLst/>
          </a:prstGeom>
          <a:noFill/>
        </p:spPr>
        <p:txBody>
          <a:bodyPr wrap="square" anchor="t" lIns="0" rIns="0" tIns="0" bIns="0">
            <a:spAutoFit/>
          </a:bodyPr>
          <a:lstStyle/>
          <a:p>
            <a:pPr algn="l">
              <a:spcAft>
                <a:spcPts val="600"/>
              </a:spcAft>
            </a:pPr>
            <a:r>
              <a:rPr sz="1100" b="0">
                <a:solidFill>
                  <a:srgbClr val="504B4B"/>
                </a:solidFill>
              </a:rPr>
              <a:t>Frecuencia de ciclo (ciclos/min) frente al conteo manual</a:t>
            </a:r>
          </a:p>
        </p:txBody>
      </p:sp>
      <p:sp>
        <p:nvSpPr>
          <p:cNvPr id="8" name="TextBox 7"/>
          <p:cNvSpPr txBox="1"/>
          <p:nvPr/>
        </p:nvSpPr>
        <p:spPr>
          <a:xfrm>
            <a:off x="905256" y="6126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Gris: intervalo del conteo manual (segundos 30-40). Triángulos: brazadas detectadas.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Fatiga: desviación del patrón fresco</a:t>
            </a:r>
          </a:p>
        </p:txBody>
      </p:sp>
      <p:sp>
        <p:nvSpPr>
          <p:cNvPr id="4" name="Text Placeholder 3"/>
          <p:cNvSpPr>
            <a:spLocks noGrp="1"/>
          </p:cNvSpPr>
          <p:nvPr>
            <p:ph type="body" idx="18" sz="quarter"/>
          </p:nvPr>
        </p:nvSpPr>
        <p:spPr>
          <a:xfrm>
            <a:ext cx="12344400" cy="0"/>
          </a:xfrm>
        </p:spPr>
        <p:txBody>
          <a:bodyPr/>
          <a:lstStyle/>
          <a:p>
            <a:r>
              <a:t>Aprendizaje no supervisado: no hacen falta etiquetas de fatiga</a:t>
            </a:r>
          </a:p>
        </p:txBody>
      </p:sp>
      <p:sp>
        <p:nvSpPr>
          <p:cNvPr id="5" name="Rectangle 4"/>
          <p:cNvSpPr/>
          <p:nvPr/>
        </p:nvSpPr>
        <p:spPr>
          <a:xfrm>
            <a:off x="905256" y="278892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8892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1</a:t>
            </a:r>
          </a:p>
        </p:txBody>
      </p:sp>
      <p:sp>
        <p:nvSpPr>
          <p:cNvPr id="7" name="TextBox 6"/>
          <p:cNvSpPr txBox="1"/>
          <p:nvPr/>
        </p:nvSpPr>
        <p:spPr>
          <a:xfrm>
            <a:off x="1828800" y="278892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Fase fresca</a:t>
            </a:r>
          </a:p>
        </p:txBody>
      </p:sp>
      <p:sp>
        <p:nvSpPr>
          <p:cNvPr id="8" name="TextBox 7"/>
          <p:cNvSpPr txBox="1"/>
          <p:nvPr/>
        </p:nvSpPr>
        <p:spPr>
          <a:xfrm>
            <a:off x="1828800" y="317296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Primer 30 % de ciclos del propio nadador</a:t>
            </a:r>
          </a:p>
        </p:txBody>
      </p:sp>
      <p:sp>
        <p:nvSpPr>
          <p:cNvPr id="9" name="Rectangle 8"/>
          <p:cNvSpPr/>
          <p:nvPr/>
        </p:nvSpPr>
        <p:spPr>
          <a:xfrm>
            <a:off x="905256" y="3840479"/>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3840479"/>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2</a:t>
            </a:r>
          </a:p>
        </p:txBody>
      </p:sp>
      <p:sp>
        <p:nvSpPr>
          <p:cNvPr id="11" name="TextBox 10"/>
          <p:cNvSpPr txBox="1"/>
          <p:nvPr/>
        </p:nvSpPr>
        <p:spPr>
          <a:xfrm>
            <a:off x="1828800" y="3840479"/>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Isolation Forest</a:t>
            </a:r>
          </a:p>
        </p:txBody>
      </p:sp>
      <p:sp>
        <p:nvSpPr>
          <p:cNvPr id="12" name="TextBox 11"/>
          <p:cNvSpPr txBox="1"/>
          <p:nvPr/>
        </p:nvSpPr>
        <p:spPr>
          <a:xfrm>
            <a:off x="1828800" y="4224527"/>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Puntúa la anomalía de cada ciclo</a:t>
            </a:r>
          </a:p>
        </p:txBody>
      </p:sp>
      <p:sp>
        <p:nvSpPr>
          <p:cNvPr id="13" name="Rectangle 12"/>
          <p:cNvSpPr/>
          <p:nvPr/>
        </p:nvSpPr>
        <p:spPr>
          <a:xfrm>
            <a:off x="905256" y="489204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89204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3</a:t>
            </a:r>
          </a:p>
        </p:txBody>
      </p:sp>
      <p:sp>
        <p:nvSpPr>
          <p:cNvPr id="15" name="TextBox 14"/>
          <p:cNvSpPr txBox="1"/>
          <p:nvPr/>
        </p:nvSpPr>
        <p:spPr>
          <a:xfrm>
            <a:off x="1828800" y="489204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Inicio de la fatiga</a:t>
            </a:r>
          </a:p>
        </p:txBody>
      </p:sp>
      <p:sp>
        <p:nvSpPr>
          <p:cNvPr id="16" name="TextBox 15"/>
          <p:cNvSpPr txBox="1"/>
          <p:nvPr/>
        </p:nvSpPr>
        <p:spPr>
          <a:xfrm>
            <a:off x="1828800" y="527608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3 ciclos seguidos sobre el p95 fresco; contraste con PELT</a:t>
            </a:r>
          </a:p>
        </p:txBody>
      </p:sp>
      <p:sp>
        <p:nvSpPr>
          <p:cNvPr id="17" name="Rectangle 16"/>
          <p:cNvSpPr/>
          <p:nvPr/>
        </p:nvSpPr>
        <p:spPr>
          <a:xfrm>
            <a:off x="905256" y="594360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594360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4</a:t>
            </a:r>
          </a:p>
        </p:txBody>
      </p:sp>
      <p:sp>
        <p:nvSpPr>
          <p:cNvPr id="19" name="TextBox 18"/>
          <p:cNvSpPr txBox="1"/>
          <p:nvPr/>
        </p:nvSpPr>
        <p:spPr>
          <a:xfrm>
            <a:off x="1828800" y="594360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TreeSHAP</a:t>
            </a:r>
          </a:p>
        </p:txBody>
      </p:sp>
      <p:sp>
        <p:nvSpPr>
          <p:cNvPr id="20" name="TextBox 19"/>
          <p:cNvSpPr txBox="1"/>
          <p:nvPr/>
        </p:nvSpPr>
        <p:spPr>
          <a:xfrm>
            <a:off x="1828800" y="632764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Qué variable empuja cada ciclo hacia la fatiga</a:t>
            </a:r>
          </a:p>
        </p:txBody>
      </p:sp>
      <p:pic>
        <p:nvPicPr>
          <p:cNvPr id="21" name="Picture 20" descr="sintetico_fatiga_timeline.png"/>
          <p:cNvPicPr>
            <a:picLocks noChangeAspect="1"/>
          </p:cNvPicPr>
          <p:nvPr/>
        </p:nvPicPr>
        <p:blipFill>
          <a:blip r:embed="rId3"/>
          <a:stretch>
            <a:fillRect/>
          </a:stretch>
        </p:blipFill>
        <p:spPr>
          <a:xfrm>
            <a:off x="6126480" y="2857500"/>
            <a:ext cx="7589520" cy="3794760"/>
          </a:xfrm>
          <a:prstGeom prst="rect">
            <a:avLst/>
          </a:prstGeom>
        </p:spPr>
      </p:pic>
      <p:sp>
        <p:nvSpPr>
          <p:cNvPr id="22" name="TextBox 21"/>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Gráfica: datos sintéticos con fatiga programada (referencia conocida), no un nadador real.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SHAP explica la fatiga</a:t>
            </a:r>
          </a:p>
        </p:txBody>
      </p:sp>
      <p:sp>
        <p:nvSpPr>
          <p:cNvPr id="4" name="Text Placeholder 3"/>
          <p:cNvSpPr>
            <a:spLocks noGrp="1"/>
          </p:cNvSpPr>
          <p:nvPr>
            <p:ph type="body" idx="18" sz="quarter"/>
          </p:nvPr>
        </p:nvSpPr>
        <p:spPr>
          <a:xfrm>
            <a:ext cx="12344400" cy="0"/>
          </a:xfrm>
        </p:spPr>
        <p:txBody>
          <a:bodyPr/>
          <a:lstStyle/>
          <a:p>
            <a:r>
              <a:t>Atribución por variable en el ciclo de inicio</a:t>
            </a:r>
          </a:p>
        </p:txBody>
      </p:sp>
      <p:pic>
        <p:nvPicPr>
          <p:cNvPr id="5" name="Picture 4" descr="sintetico_shap_waterfall_inicio.png"/>
          <p:cNvPicPr>
            <a:picLocks noChangeAspect="1"/>
          </p:cNvPicPr>
          <p:nvPr/>
        </p:nvPicPr>
        <p:blipFill>
          <a:blip r:embed="rId3"/>
          <a:stretch>
            <a:fillRect/>
          </a:stretch>
        </p:blipFill>
        <p:spPr>
          <a:xfrm>
            <a:off x="1091858" y="2651760"/>
            <a:ext cx="6027594" cy="4572000"/>
          </a:xfrm>
          <a:prstGeom prst="rect">
            <a:avLst/>
          </a:prstGeom>
        </p:spPr>
      </p:pic>
      <p:sp>
        <p:nvSpPr>
          <p:cNvPr id="6" name="Rectangle 5"/>
          <p:cNvSpPr/>
          <p:nvPr/>
        </p:nvSpPr>
        <p:spPr>
          <a:xfrm>
            <a:off x="7772400" y="2788920"/>
            <a:ext cx="5943600" cy="21945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3017520"/>
            <a:ext cx="5394960" cy="1828800"/>
          </a:xfrm>
          <a:prstGeom prst="rect">
            <a:avLst/>
          </a:prstGeom>
          <a:noFill/>
        </p:spPr>
        <p:txBody>
          <a:bodyPr wrap="square" anchor="t" lIns="0" rIns="0" tIns="0" bIns="0">
            <a:spAutoFit/>
          </a:bodyPr>
          <a:lstStyle/>
          <a:p>
            <a:pPr algn="l">
              <a:spcAft>
                <a:spcPts val="600"/>
              </a:spcAft>
            </a:pPr>
            <a:r>
              <a:rPr sz="1600" b="1">
                <a:solidFill>
                  <a:srgbClr val="FF3228"/>
                </a:solidFill>
              </a:rPr>
              <a:t>Lo que lee el entrenador</a:t>
            </a:r>
          </a:p>
          <a:p>
            <a:pPr algn="l">
              <a:spcAft>
                <a:spcPts val="600"/>
              </a:spcAft>
            </a:pPr>
            <a:r>
              <a:rPr sz="1500" b="0">
                <a:solidFill>
                  <a:srgbClr val="FFFFFF"/>
                </a:solidFill>
              </a:rPr>
              <a:t>«La fatiga aparece en el ciclo 35. Principales causas: asimetría de brazos, amplitud de patada y alcance del brazo derecho».</a:t>
            </a:r>
          </a:p>
        </p:txBody>
      </p:sp>
      <p:sp>
        <p:nvSpPr>
          <p:cNvPr id="8" name="TextBox 7"/>
          <p:cNvSpPr txBox="1"/>
          <p:nvPr/>
        </p:nvSpPr>
        <p:spPr>
          <a:xfrm>
            <a:off x="7772400" y="5303520"/>
            <a:ext cx="5943600" cy="914400"/>
          </a:xfrm>
          <a:prstGeom prst="rect">
            <a:avLst/>
          </a:prstGeom>
          <a:noFill/>
        </p:spPr>
        <p:txBody>
          <a:bodyPr wrap="square" anchor="t" lIns="0" rIns="0" tIns="0" bIns="0">
            <a:spAutoFit/>
          </a:bodyPr>
          <a:lstStyle/>
          <a:p>
            <a:pPr algn="l">
              <a:spcAft>
                <a:spcPts val="600"/>
              </a:spcAft>
            </a:pPr>
            <a:r>
              <a:rPr sz="1400" b="1">
                <a:solidFill>
                  <a:srgbClr val="1E1E1E"/>
                </a:solidFill>
              </a:rPr>
              <a:t>Las variables señaladas coinciden con las alteradas en la simulación: la explicación es verificable.</a:t>
            </a:r>
          </a:p>
        </p:txBody>
      </p:sp>
      <p:sp>
        <p:nvSpPr>
          <p:cNvPr id="9" name="TextBox 8"/>
          <p:cNvSpPr txBox="1"/>
          <p:nvPr/>
        </p:nvSpPr>
        <p:spPr>
          <a:xfrm>
            <a:off x="905256" y="7269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de referencia conocida.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Resultados con nadadores reales</a:t>
            </a:r>
          </a:p>
        </p:txBody>
      </p:sp>
      <p:sp>
        <p:nvSpPr>
          <p:cNvPr id="4" name="Text Placeholder 3"/>
          <p:cNvSpPr>
            <a:spLocks noGrp="1"/>
          </p:cNvSpPr>
          <p:nvPr>
            <p:ph type="body" idx="18" sz="quarter"/>
          </p:nvPr>
        </p:nvSpPr>
        <p:spPr>
          <a:xfrm>
            <a:ext cx="12344400" cy="0"/>
          </a:xfrm>
        </p:spPr>
        <p:txBody>
          <a:bodyPr/>
          <a:lstStyle/>
          <a:p>
            <a:r>
              <a:t>17 secuencias · 4 participantes · 4 estilos</a:t>
            </a:r>
          </a:p>
        </p:txBody>
      </p:sp>
      <p:sp>
        <p:nvSpPr>
          <p:cNvPr id="5" name="Rectangle 4"/>
          <p:cNvSpPr/>
          <p:nvPr/>
        </p:nvSpPr>
        <p:spPr>
          <a:xfrm>
            <a:off x="905256" y="2788920"/>
            <a:ext cx="4023360" cy="192024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2971800"/>
            <a:ext cx="3566160" cy="777240"/>
          </a:xfrm>
          <a:prstGeom prst="rect">
            <a:avLst/>
          </a:prstGeom>
          <a:noFill/>
        </p:spPr>
        <p:txBody>
          <a:bodyPr wrap="square" anchor="t" lIns="0" rIns="0" tIns="0" bIns="0">
            <a:spAutoFit/>
          </a:bodyPr>
          <a:lstStyle/>
          <a:p>
            <a:pPr algn="l">
              <a:spcAft>
                <a:spcPts val="600"/>
              </a:spcAft>
            </a:pPr>
            <a:r>
              <a:rPr sz="3600" b="1">
                <a:solidFill>
                  <a:srgbClr val="FFFFFF"/>
                </a:solidFill>
              </a:rPr>
              <a:t>95</a:t>
            </a:r>
          </a:p>
        </p:txBody>
      </p:sp>
      <p:sp>
        <p:nvSpPr>
          <p:cNvPr id="7" name="TextBox 6"/>
          <p:cNvSpPr txBox="1"/>
          <p:nvPr/>
        </p:nvSpPr>
        <p:spPr>
          <a:xfrm>
            <a:off x="1179576" y="3794760"/>
            <a:ext cx="3566160" cy="822960"/>
          </a:xfrm>
          <a:prstGeom prst="rect">
            <a:avLst/>
          </a:prstGeom>
          <a:noFill/>
        </p:spPr>
        <p:txBody>
          <a:bodyPr wrap="square" anchor="t" lIns="0" rIns="0" tIns="0" bIns="0">
            <a:spAutoFit/>
          </a:bodyPr>
          <a:lstStyle/>
          <a:p>
            <a:pPr algn="l">
              <a:spcAft>
                <a:spcPts val="600"/>
              </a:spcAft>
            </a:pPr>
            <a:r>
              <a:rPr sz="1300" b="0">
                <a:solidFill>
                  <a:srgbClr val="FFFFFF"/>
                </a:solidFill>
              </a:rPr>
              <a:t>ciclos válidos de 6,6 min grabados (2,2 min analizables)</a:t>
            </a:r>
          </a:p>
        </p:txBody>
      </p:sp>
      <p:sp>
        <p:nvSpPr>
          <p:cNvPr id="8" name="Rectangle 7"/>
          <p:cNvSpPr/>
          <p:nvPr/>
        </p:nvSpPr>
        <p:spPr>
          <a:xfrm>
            <a:off x="5202936" y="278892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77256" y="297180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6,5-8,2 %</a:t>
            </a:r>
          </a:p>
        </p:txBody>
      </p:sp>
      <p:sp>
        <p:nvSpPr>
          <p:cNvPr id="10" name="TextBox 9"/>
          <p:cNvSpPr txBox="1"/>
          <p:nvPr/>
        </p:nvSpPr>
        <p:spPr>
          <a:xfrm>
            <a:off x="5477256" y="379476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error de la frecuencia frente al conteo manual</a:t>
            </a:r>
          </a:p>
        </p:txBody>
      </p:sp>
      <p:sp>
        <p:nvSpPr>
          <p:cNvPr id="11" name="Rectangle 10"/>
          <p:cNvSpPr/>
          <p:nvPr/>
        </p:nvSpPr>
        <p:spPr>
          <a:xfrm>
            <a:off x="9500616" y="278892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74936" y="297180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17/17</a:t>
            </a:r>
          </a:p>
        </p:txBody>
      </p:sp>
      <p:sp>
        <p:nvSpPr>
          <p:cNvPr id="13" name="TextBox 12"/>
          <p:cNvSpPr txBox="1"/>
          <p:nvPr/>
        </p:nvSpPr>
        <p:spPr>
          <a:xfrm>
            <a:off x="9774936" y="379476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secuencias con la vista de cámara detectada automáticamente</a:t>
            </a:r>
          </a:p>
        </p:txBody>
      </p:sp>
      <p:sp>
        <p:nvSpPr>
          <p:cNvPr id="14" name="Rectangle 13"/>
          <p:cNvSpPr/>
          <p:nvPr/>
        </p:nvSpPr>
        <p:spPr>
          <a:xfrm>
            <a:off x="90525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957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12/13</a:t>
            </a:r>
          </a:p>
        </p:txBody>
      </p:sp>
      <p:sp>
        <p:nvSpPr>
          <p:cNvPr id="16" name="TextBox 15"/>
          <p:cNvSpPr txBox="1"/>
          <p:nvPr/>
        </p:nvSpPr>
        <p:spPr>
          <a:xfrm>
            <a:off x="117957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secuencias con la familia del estilo correcta (reglas biomecánicas)</a:t>
            </a:r>
          </a:p>
        </p:txBody>
      </p:sp>
      <p:sp>
        <p:nvSpPr>
          <p:cNvPr id="17" name="Rectangle 16"/>
          <p:cNvSpPr/>
          <p:nvPr/>
        </p:nvSpPr>
        <p:spPr>
          <a:xfrm>
            <a:off x="520293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725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0</a:t>
            </a:r>
          </a:p>
        </p:txBody>
      </p:sp>
      <p:sp>
        <p:nvSpPr>
          <p:cNvPr id="19" name="TextBox 18"/>
          <p:cNvSpPr txBox="1"/>
          <p:nvPr/>
        </p:nvSpPr>
        <p:spPr>
          <a:xfrm>
            <a:off x="547725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 de fatiga en 3 sesiones de pasadas cortas</a:t>
            </a:r>
          </a:p>
        </p:txBody>
      </p:sp>
      <p:sp>
        <p:nvSpPr>
          <p:cNvPr id="20" name="Rectangle 19"/>
          <p:cNvSpPr/>
          <p:nvPr/>
        </p:nvSpPr>
        <p:spPr>
          <a:xfrm>
            <a:off x="950061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7493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CPU</a:t>
            </a:r>
          </a:p>
        </p:txBody>
      </p:sp>
      <p:sp>
        <p:nvSpPr>
          <p:cNvPr id="22" name="TextBox 21"/>
          <p:cNvSpPr txBox="1"/>
          <p:nvPr/>
        </p:nvSpPr>
        <p:spPr>
          <a:xfrm>
            <a:off x="977493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todo el análisis en el portátil, sin GPU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Validación con referencia conocida</a:t>
            </a:r>
          </a:p>
        </p:txBody>
      </p:sp>
      <p:sp>
        <p:nvSpPr>
          <p:cNvPr id="4" name="Text Placeholder 3"/>
          <p:cNvSpPr>
            <a:spLocks noGrp="1"/>
          </p:cNvSpPr>
          <p:nvPr>
            <p:ph type="body" idx="18" sz="quarter"/>
          </p:nvPr>
        </p:nvSpPr>
        <p:spPr>
          <a:xfrm>
            <a:ext cx="12344400" cy="0"/>
          </a:xfrm>
        </p:spPr>
        <p:txBody>
          <a:bodyPr/>
          <a:lstStyle/>
          <a:p>
            <a:r>
              <a:t>Datos sintéticos: se sabe exactamente cuándo empieza la fatiga</a:t>
            </a:r>
          </a:p>
        </p:txBody>
      </p:sp>
      <p:sp>
        <p:nvSpPr>
          <p:cNvPr id="5" name="TextBox 4"/>
          <p:cNvSpPr txBox="1"/>
          <p:nvPr/>
        </p:nvSpPr>
        <p:spPr>
          <a:xfrm>
            <a:off x="90525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4,7 %</a:t>
            </a:r>
          </a:p>
        </p:txBody>
      </p:sp>
      <p:sp>
        <p:nvSpPr>
          <p:cNvPr id="6" name="TextBox 5"/>
          <p:cNvSpPr txBox="1"/>
          <p:nvPr/>
        </p:nvSpPr>
        <p:spPr>
          <a:xfrm>
            <a:off x="90525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7" name="TextBox 6"/>
          <p:cNvSpPr txBox="1"/>
          <p:nvPr/>
        </p:nvSpPr>
        <p:spPr>
          <a:xfrm>
            <a:off x="328269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1,3 %</a:t>
            </a:r>
          </a:p>
        </p:txBody>
      </p:sp>
      <p:sp>
        <p:nvSpPr>
          <p:cNvPr id="8" name="TextBox 7"/>
          <p:cNvSpPr txBox="1"/>
          <p:nvPr/>
        </p:nvSpPr>
        <p:spPr>
          <a:xfrm>
            <a:off x="328269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velocidad</a:t>
            </a:r>
          </a:p>
        </p:txBody>
      </p:sp>
      <p:sp>
        <p:nvSpPr>
          <p:cNvPr id="9" name="TextBox 8"/>
          <p:cNvSpPr txBox="1"/>
          <p:nvPr/>
        </p:nvSpPr>
        <p:spPr>
          <a:xfrm>
            <a:off x="566013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4,3 %</a:t>
            </a:r>
          </a:p>
        </p:txBody>
      </p:sp>
      <p:sp>
        <p:nvSpPr>
          <p:cNvPr id="10" name="TextBox 9"/>
          <p:cNvSpPr txBox="1"/>
          <p:nvPr/>
        </p:nvSpPr>
        <p:spPr>
          <a:xfrm>
            <a:off x="566013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distancia por ciclo</a:t>
            </a:r>
          </a:p>
        </p:txBody>
      </p:sp>
      <p:sp>
        <p:nvSpPr>
          <p:cNvPr id="11" name="Rectangle 10"/>
          <p:cNvSpPr/>
          <p:nvPr/>
        </p:nvSpPr>
        <p:spPr>
          <a:xfrm>
            <a:off x="905256" y="4846320"/>
            <a:ext cx="6766560" cy="20116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029200"/>
            <a:ext cx="3017520" cy="1737360"/>
          </a:xfrm>
          <a:prstGeom prst="rect">
            <a:avLst/>
          </a:prstGeom>
          <a:noFill/>
        </p:spPr>
        <p:txBody>
          <a:bodyPr wrap="square" anchor="t" lIns="0" rIns="0" tIns="0" bIns="0">
            <a:spAutoFit/>
          </a:bodyPr>
          <a:lstStyle/>
          <a:p>
            <a:pPr algn="l">
              <a:spcAft>
                <a:spcPts val="600"/>
              </a:spcAft>
            </a:pPr>
            <a:r>
              <a:rPr sz="4000" b="1">
                <a:solidFill>
                  <a:srgbClr val="FFFFFF"/>
                </a:solidFill>
              </a:rPr>
              <a:t>100 %</a:t>
            </a:r>
          </a:p>
          <a:p>
            <a:pPr algn="l">
              <a:spcAft>
                <a:spcPts val="600"/>
              </a:spcAft>
            </a:pPr>
            <a:r>
              <a:rPr sz="1300" b="0">
                <a:solidFill>
                  <a:srgbClr val="FFFFFF"/>
                </a:solidFill>
              </a:rPr>
              <a:t>detección de la fatiga · 10 % de falsas alarmas</a:t>
            </a:r>
          </a:p>
        </p:txBody>
      </p:sp>
      <p:sp>
        <p:nvSpPr>
          <p:cNvPr id="13" name="TextBox 12"/>
          <p:cNvSpPr txBox="1"/>
          <p:nvPr/>
        </p:nvSpPr>
        <p:spPr>
          <a:xfrm>
            <a:off x="4389120" y="5029200"/>
            <a:ext cx="3108960" cy="1737360"/>
          </a:xfrm>
          <a:prstGeom prst="rect">
            <a:avLst/>
          </a:prstGeom>
          <a:noFill/>
        </p:spPr>
        <p:txBody>
          <a:bodyPr wrap="square" anchor="t" lIns="0" rIns="0" tIns="0" bIns="0">
            <a:spAutoFit/>
          </a:bodyPr>
          <a:lstStyle/>
          <a:p>
            <a:pPr algn="l">
              <a:spcAft>
                <a:spcPts val="600"/>
              </a:spcAft>
            </a:pPr>
            <a:r>
              <a:rPr sz="4000" b="1">
                <a:solidFill>
                  <a:srgbClr val="FFFFFF"/>
                </a:solidFill>
              </a:rPr>
              <a:t>10/10</a:t>
            </a:r>
          </a:p>
          <a:p>
            <a:pPr algn="l">
              <a:spcAft>
                <a:spcPts val="600"/>
              </a:spcAft>
            </a:pPr>
            <a:r>
              <a:rPr sz="1300" b="0">
                <a:solidFill>
                  <a:srgbClr val="FFFFFF"/>
                </a:solidFill>
              </a:rPr>
              <a:t>en tiempo real, sin falsas alarmas</a:t>
            </a:r>
          </a:p>
        </p:txBody>
      </p:sp>
      <p:pic>
        <p:nvPicPr>
          <p:cNvPr id="14" name="Picture 13" descr="caso_verdad_vs_sistema.png"/>
          <p:cNvPicPr>
            <a:picLocks noChangeAspect="1"/>
          </p:cNvPicPr>
          <p:nvPr/>
        </p:nvPicPr>
        <p:blipFill>
          <a:blip r:embed="rId3"/>
          <a:stretch>
            <a:fillRect/>
          </a:stretch>
        </p:blipFill>
        <p:spPr>
          <a:xfrm>
            <a:off x="8138160" y="2848356"/>
            <a:ext cx="5577840" cy="3904487"/>
          </a:xfrm>
          <a:prstGeom prst="rect">
            <a:avLst/>
          </a:prstGeom>
        </p:spPr>
      </p:pic>
      <p:sp>
        <p:nvSpPr>
          <p:cNvPr id="15" name="TextBox 14"/>
          <p:cNvSpPr txBox="1"/>
          <p:nvPr/>
        </p:nvSpPr>
        <p:spPr>
          <a:xfrm>
            <a:off x="905256" y="708660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(generador con referencia conocida), presentados como tales.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Del análisis al entrenador</a:t>
            </a:r>
          </a:p>
        </p:txBody>
      </p:sp>
      <p:sp>
        <p:nvSpPr>
          <p:cNvPr id="4" name="Text Placeholder 3"/>
          <p:cNvSpPr>
            <a:spLocks noGrp="1"/>
          </p:cNvSpPr>
          <p:nvPr>
            <p:ph type="body" idx="18" sz="quarter"/>
          </p:nvPr>
        </p:nvSpPr>
        <p:spPr>
          <a:xfrm>
            <a:ext cx="12344400" cy="0"/>
          </a:xfrm>
        </p:spPr>
        <p:txBody>
          <a:bodyPr/>
          <a:lstStyle/>
          <a:p>
            <a:r>
              <a:t>Vídeo anotado y modo en tiempo real</a:t>
            </a:r>
          </a:p>
        </p:txBody>
      </p:sp>
      <p:pic>
        <p:nvPicPr>
          <p:cNvPr id="5" name="Picture 4" descr="panel_video.png"/>
          <p:cNvPicPr>
            <a:picLocks noChangeAspect="1"/>
          </p:cNvPicPr>
          <p:nvPr/>
        </p:nvPicPr>
        <p:blipFill>
          <a:blip r:embed="rId3"/>
          <a:stretch>
            <a:fillRect/>
          </a:stretch>
        </p:blipFill>
        <p:spPr>
          <a:xfrm>
            <a:off x="905256" y="2697480"/>
            <a:ext cx="7315200" cy="4114800"/>
          </a:xfrm>
          <a:prstGeom prst="rect">
            <a:avLst/>
          </a:prstGeom>
        </p:spPr>
      </p:pic>
      <p:sp>
        <p:nvSpPr>
          <p:cNvPr id="6" name="TextBox 5"/>
          <p:cNvSpPr txBox="1"/>
          <p:nvPr/>
        </p:nvSpPr>
        <p:spPr>
          <a:xfrm>
            <a:off x="8686800" y="2743200"/>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Estado por ciclo</a:t>
            </a:r>
          </a:p>
        </p:txBody>
      </p:sp>
      <p:sp>
        <p:nvSpPr>
          <p:cNvPr id="7" name="TextBox 6"/>
          <p:cNvSpPr txBox="1"/>
          <p:nvPr/>
        </p:nvSpPr>
        <p:spPr>
          <a:xfrm>
            <a:off x="8686800" y="3127248"/>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FRESCO / FATIGA, ciclo y frecuencia sobre el vídeo</a:t>
            </a:r>
          </a:p>
        </p:txBody>
      </p:sp>
      <p:sp>
        <p:nvSpPr>
          <p:cNvPr id="8" name="TextBox 7"/>
          <p:cNvSpPr txBox="1"/>
          <p:nvPr/>
        </p:nvSpPr>
        <p:spPr>
          <a:xfrm>
            <a:off x="8686800" y="3767328"/>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Barra de anomalía</a:t>
            </a:r>
          </a:p>
        </p:txBody>
      </p:sp>
      <p:sp>
        <p:nvSpPr>
          <p:cNvPr id="9" name="TextBox 8"/>
          <p:cNvSpPr txBox="1"/>
          <p:nvPr/>
        </p:nvSpPr>
        <p:spPr>
          <a:xfrm>
            <a:off x="8686800" y="4151376"/>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Puntuación de cada ciclo, umbral e inicio de la fatiga</a:t>
            </a:r>
          </a:p>
        </p:txBody>
      </p:sp>
      <p:sp>
        <p:nvSpPr>
          <p:cNvPr id="10" name="TextBox 9"/>
          <p:cNvSpPr txBox="1"/>
          <p:nvPr/>
        </p:nvSpPr>
        <p:spPr>
          <a:xfrm>
            <a:off x="8686800" y="4791456"/>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Tiempo real</a:t>
            </a:r>
          </a:p>
        </p:txBody>
      </p:sp>
      <p:sp>
        <p:nvSpPr>
          <p:cNvPr id="11" name="TextBox 10"/>
          <p:cNvSpPr txBox="1"/>
          <p:nvPr/>
        </p:nvSpPr>
        <p:spPr>
          <a:xfrm>
            <a:off x="8686800" y="5175504"/>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Calibra con los 10 primeros ciclos y explica con SHAP en directo</a:t>
            </a:r>
          </a:p>
        </p:txBody>
      </p:sp>
      <p:sp>
        <p:nvSpPr>
          <p:cNvPr id="12" name="TextBox 11"/>
          <p:cNvSpPr txBox="1"/>
          <p:nvPr/>
        </p:nvSpPr>
        <p:spPr>
          <a:xfrm>
            <a:off x="8686800" y="5815584"/>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Automático</a:t>
            </a:r>
          </a:p>
        </p:txBody>
      </p:sp>
      <p:sp>
        <p:nvSpPr>
          <p:cNvPr id="13" name="TextBox 12"/>
          <p:cNvSpPr txBox="1"/>
          <p:nvPr/>
        </p:nvSpPr>
        <p:spPr>
          <a:xfrm>
            <a:off x="8686800" y="6199632"/>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Vista de cámara, familia del estilo y lotes de vídeos</a:t>
            </a:r>
          </a:p>
        </p:txBody>
      </p:sp>
      <p:sp>
        <p:nvSpPr>
          <p:cNvPr id="14" name="TextBox 13"/>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Captura del vídeo anotado sobre datos sintéticos.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Tras la entrega: ajuste fino de la pose</a:t>
            </a:r>
          </a:p>
        </p:txBody>
      </p:sp>
      <p:sp>
        <p:nvSpPr>
          <p:cNvPr id="4" name="Text Placeholder 3"/>
          <p:cNvSpPr>
            <a:spLocks noGrp="1"/>
          </p:cNvSpPr>
          <p:nvPr>
            <p:ph type="body" idx="18" sz="quarter"/>
          </p:nvPr>
        </p:nvSpPr>
        <p:spPr>
          <a:xfrm>
            <a:ext cx="12344400" cy="0"/>
          </a:xfrm>
        </p:spPr>
        <p:txBody>
          <a:bodyPr/>
          <a:lstStyle/>
          <a:p>
            <a:r>
              <a:t>405 imágenes reales anotadas · validación cruzada por grabación</a:t>
            </a:r>
          </a:p>
        </p:txBody>
      </p:sp>
      <p:graphicFrame>
        <p:nvGraphicFramePr>
          <p:cNvPr id="5" name="Chart 4"/>
          <p:cNvGraphicFramePr>
            <a:graphicFrameLocks noGrp="1"/>
          </p:cNvGraphicFramePr>
          <p:nvPr/>
        </p:nvGraphicFramePr>
        <p:xfrm>
          <a:off x="905256" y="2926080"/>
          <a:ext cx="6949440" cy="4023360"/>
        </p:xfrm>
        <a:graphic>
          <a:graphicData uri="http://schemas.openxmlformats.org/drawingml/2006/chart">
            <c:chart xmlns:c="http://schemas.openxmlformats.org/drawingml/2006/chart" r:id="rId3"/>
          </a:graphicData>
        </a:graphic>
      </p:graphicFrame>
      <p:sp>
        <p:nvSpPr>
          <p:cNvPr id="6" name="TextBox 5"/>
          <p:cNvSpPr txBox="1"/>
          <p:nvPr/>
        </p:nvSpPr>
        <p:spPr>
          <a:xfrm>
            <a:off x="8321040" y="2743200"/>
            <a:ext cx="5394960" cy="365760"/>
          </a:xfrm>
          <a:prstGeom prst="rect">
            <a:avLst/>
          </a:prstGeom>
          <a:noFill/>
        </p:spPr>
        <p:txBody>
          <a:bodyPr wrap="square" anchor="t" lIns="0" rIns="0" tIns="0" bIns="0">
            <a:spAutoFit/>
          </a:bodyPr>
          <a:lstStyle/>
          <a:p>
            <a:pPr algn="l">
              <a:spcAft>
                <a:spcPts val="600"/>
              </a:spcAft>
            </a:pPr>
            <a:r>
              <a:rPr sz="1600" b="1">
                <a:solidFill>
                  <a:srgbClr val="FF3228"/>
                </a:solidFill>
              </a:rPr>
              <a:t>OKS 0,10 → 0,40</a:t>
            </a:r>
          </a:p>
        </p:txBody>
      </p:sp>
      <p:sp>
        <p:nvSpPr>
          <p:cNvPr id="7" name="TextBox 6"/>
          <p:cNvSpPr txBox="1"/>
          <p:nvPr/>
        </p:nvSpPr>
        <p:spPr>
          <a:xfrm>
            <a:off x="8321040" y="3127248"/>
            <a:ext cx="5394960" cy="548640"/>
          </a:xfrm>
          <a:prstGeom prst="rect">
            <a:avLst/>
          </a:prstGeom>
          <a:noFill/>
        </p:spPr>
        <p:txBody>
          <a:bodyPr wrap="square" anchor="t" lIns="0" rIns="0" tIns="0" bIns="0">
            <a:spAutoFit/>
          </a:bodyPr>
          <a:lstStyle/>
          <a:p>
            <a:pPr algn="l">
              <a:spcAft>
                <a:spcPts val="600"/>
              </a:spcAft>
            </a:pPr>
            <a:r>
              <a:rPr sz="1300" b="0">
                <a:solidFill>
                  <a:srgbClr val="1E1E1E"/>
                </a:solidFill>
              </a:rPr>
              <a:t>Precisión de los puntos ×4 en imágenes nunca vistas</a:t>
            </a:r>
          </a:p>
        </p:txBody>
      </p:sp>
      <p:sp>
        <p:nvSpPr>
          <p:cNvPr id="8" name="TextBox 7"/>
          <p:cNvSpPr txBox="1"/>
          <p:nvPr/>
        </p:nvSpPr>
        <p:spPr>
          <a:xfrm>
            <a:off x="8321040" y="3794760"/>
            <a:ext cx="5394960" cy="365760"/>
          </a:xfrm>
          <a:prstGeom prst="rect">
            <a:avLst/>
          </a:prstGeom>
          <a:noFill/>
        </p:spPr>
        <p:txBody>
          <a:bodyPr wrap="square" anchor="t" lIns="0" rIns="0" tIns="0" bIns="0">
            <a:spAutoFit/>
          </a:bodyPr>
          <a:lstStyle/>
          <a:p>
            <a:pPr algn="l">
              <a:spcAft>
                <a:spcPts val="600"/>
              </a:spcAft>
            </a:pPr>
            <a:r>
              <a:rPr sz="1600" b="1">
                <a:solidFill>
                  <a:srgbClr val="FF3228"/>
                </a:solidFill>
              </a:rPr>
              <a:t>n ≈ s ≈ m</a:t>
            </a:r>
          </a:p>
        </p:txBody>
      </p:sp>
      <p:sp>
        <p:nvSpPr>
          <p:cNvPr id="9" name="TextBox 8"/>
          <p:cNvSpPr txBox="1"/>
          <p:nvPr/>
        </p:nvSpPr>
        <p:spPr>
          <a:xfrm>
            <a:off x="8321040" y="4178808"/>
            <a:ext cx="5394960" cy="548640"/>
          </a:xfrm>
          <a:prstGeom prst="rect">
            <a:avLst/>
          </a:prstGeom>
          <a:noFill/>
        </p:spPr>
        <p:txBody>
          <a:bodyPr wrap="square" anchor="t" lIns="0" rIns="0" tIns="0" bIns="0">
            <a:spAutoFit/>
          </a:bodyPr>
          <a:lstStyle/>
          <a:p>
            <a:pPr algn="l">
              <a:spcAft>
                <a:spcPts val="600"/>
              </a:spcAft>
            </a:pPr>
            <a:r>
              <a:rPr sz="1300" b="0">
                <a:solidFill>
                  <a:srgbClr val="1E1E1E"/>
                </a:solidFill>
              </a:rPr>
              <a:t>Modelos más grandes no mejoran: el límite son los datos</a:t>
            </a:r>
          </a:p>
        </p:txBody>
      </p:sp>
      <p:sp>
        <p:nvSpPr>
          <p:cNvPr id="10" name="TextBox 9"/>
          <p:cNvSpPr txBox="1"/>
          <p:nvPr/>
        </p:nvSpPr>
        <p:spPr>
          <a:xfrm>
            <a:off x="8321040" y="4846320"/>
            <a:ext cx="5394960" cy="365760"/>
          </a:xfrm>
          <a:prstGeom prst="rect">
            <a:avLst/>
          </a:prstGeom>
          <a:noFill/>
        </p:spPr>
        <p:txBody>
          <a:bodyPr wrap="square" anchor="t" lIns="0" rIns="0" tIns="0" bIns="0">
            <a:spAutoFit/>
          </a:bodyPr>
          <a:lstStyle/>
          <a:p>
            <a:pPr algn="l">
              <a:spcAft>
                <a:spcPts val="600"/>
              </a:spcAft>
            </a:pPr>
            <a:r>
              <a:rPr sz="1600" b="1">
                <a:solidFill>
                  <a:srgbClr val="FF3228"/>
                </a:solidFill>
              </a:rPr>
              <a:t>+ sintéticos = igual</a:t>
            </a:r>
          </a:p>
        </p:txBody>
      </p:sp>
      <p:sp>
        <p:nvSpPr>
          <p:cNvPr id="11" name="TextBox 10"/>
          <p:cNvSpPr txBox="1"/>
          <p:nvPr/>
        </p:nvSpPr>
        <p:spPr>
          <a:xfrm>
            <a:off x="8321040" y="5230368"/>
            <a:ext cx="5394960" cy="548640"/>
          </a:xfrm>
          <a:prstGeom prst="rect">
            <a:avLst/>
          </a:prstGeom>
          <a:noFill/>
        </p:spPr>
        <p:txBody>
          <a:bodyPr wrap="square" anchor="t" lIns="0" rIns="0" tIns="0" bIns="0">
            <a:spAutoFit/>
          </a:bodyPr>
          <a:lstStyle/>
          <a:p>
            <a:pPr algn="l">
              <a:spcAft>
                <a:spcPts val="600"/>
              </a:spcAft>
            </a:pPr>
            <a:r>
              <a:rPr sz="1300" b="0">
                <a:solidFill>
                  <a:srgbClr val="1E1E1E"/>
                </a:solidFill>
              </a:rPr>
              <a:t>SwimXYZ (777 imágenes) no mejora la prueba real</a:t>
            </a:r>
          </a:p>
        </p:txBody>
      </p:sp>
      <p:sp>
        <p:nvSpPr>
          <p:cNvPr id="12" name="TextBox 11"/>
          <p:cNvSpPr txBox="1"/>
          <p:nvPr/>
        </p:nvSpPr>
        <p:spPr>
          <a:xfrm>
            <a:off x="8321040" y="5897879"/>
            <a:ext cx="5394960" cy="365760"/>
          </a:xfrm>
          <a:prstGeom prst="rect">
            <a:avLst/>
          </a:prstGeom>
          <a:noFill/>
        </p:spPr>
        <p:txBody>
          <a:bodyPr wrap="square" anchor="t" lIns="0" rIns="0" tIns="0" bIns="0">
            <a:spAutoFit/>
          </a:bodyPr>
          <a:lstStyle/>
          <a:p>
            <a:pPr algn="l">
              <a:spcAft>
                <a:spcPts val="600"/>
              </a:spcAft>
            </a:pPr>
            <a:r>
              <a:rPr sz="1600" b="1">
                <a:solidFill>
                  <a:srgbClr val="FF3228"/>
                </a:solidFill>
              </a:rPr>
              <a:t>Vídeos propios</a:t>
            </a:r>
          </a:p>
        </p:txBody>
      </p:sp>
      <p:sp>
        <p:nvSpPr>
          <p:cNvPr id="13" name="TextBox 12"/>
          <p:cNvSpPr txBox="1"/>
          <p:nvPr/>
        </p:nvSpPr>
        <p:spPr>
          <a:xfrm>
            <a:off x="8321040" y="6281927"/>
            <a:ext cx="5394960" cy="548640"/>
          </a:xfrm>
          <a:prstGeom prst="rect">
            <a:avLst/>
          </a:prstGeom>
          <a:noFill/>
        </p:spPr>
        <p:txBody>
          <a:bodyPr wrap="square" anchor="t" lIns="0" rIns="0" tIns="0" bIns="0">
            <a:spAutoFit/>
          </a:bodyPr>
          <a:lstStyle/>
          <a:p>
            <a:pPr algn="l">
              <a:spcAft>
                <a:spcPts val="600"/>
              </a:spcAft>
            </a:pPr>
            <a:r>
              <a:rPr sz="1300" b="0">
                <a:solidFill>
                  <a:srgbClr val="1E1E1E"/>
                </a:solidFill>
              </a:rPr>
              <a:t>+26 % tiempo analizable; la frecuencia no mejora → recalibrar</a:t>
            </a:r>
          </a:p>
        </p:txBody>
      </p:sp>
      <p:sp>
        <p:nvSpPr>
          <p:cNvPr id="14" name="TextBox 13"/>
          <p:cNvSpPr txBox="1"/>
          <p:nvPr/>
        </p:nvSpPr>
        <p:spPr>
          <a:xfrm>
            <a:off x="905256" y="708660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Roboflow «Deep Dive Pose Technique» (CC BY 4.0). Media de 4 pliegues. Resultados posteriores a la entrega de la memoria.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Limitaciones y trabajo futuro</a:t>
            </a:r>
          </a:p>
        </p:txBody>
      </p:sp>
      <p:sp>
        <p:nvSpPr>
          <p:cNvPr id="4" name="Text Placeholder 3"/>
          <p:cNvSpPr>
            <a:spLocks noGrp="1"/>
          </p:cNvSpPr>
          <p:nvPr>
            <p:ph type="body" idx="18" sz="quarter"/>
          </p:nvPr>
        </p:nvSpPr>
        <p:spPr>
          <a:xfrm>
            <a:ext cx="12344400" cy="0"/>
          </a:xfrm>
        </p:spPr>
        <p:txBody>
          <a:bodyPr/>
          <a:lstStyle/>
          <a:p>
            <a:r>
              <a:t>La debilidad está en los datos, no en la arquitectura</a:t>
            </a:r>
          </a:p>
        </p:txBody>
      </p:sp>
      <p:sp>
        <p:nvSpPr>
          <p:cNvPr id="5" name="Rectangle 4"/>
          <p:cNvSpPr/>
          <p:nvPr/>
        </p:nvSpPr>
        <p:spPr>
          <a:xfrm>
            <a:off x="905256" y="2788920"/>
            <a:ext cx="6400800" cy="41148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5" y="3017520"/>
            <a:ext cx="5760720" cy="457200"/>
          </a:xfrm>
          <a:prstGeom prst="rect">
            <a:avLst/>
          </a:prstGeom>
          <a:noFill/>
        </p:spPr>
        <p:txBody>
          <a:bodyPr wrap="square" anchor="t" lIns="0" rIns="0" tIns="0" bIns="0">
            <a:spAutoFit/>
          </a:bodyPr>
          <a:lstStyle/>
          <a:p>
            <a:pPr algn="l">
              <a:spcAft>
                <a:spcPts val="600"/>
              </a:spcAft>
            </a:pPr>
            <a:r>
              <a:rPr sz="2000" b="1">
                <a:solidFill>
                  <a:srgbClr val="FF3228"/>
                </a:solidFill>
              </a:rPr>
              <a:t>Limitaciones</a:t>
            </a:r>
          </a:p>
        </p:txBody>
      </p:sp>
      <p:sp>
        <p:nvSpPr>
          <p:cNvPr id="7" name="TextBox 6"/>
          <p:cNvSpPr txBox="1"/>
          <p:nvPr/>
        </p:nvSpPr>
        <p:spPr>
          <a:xfrm>
            <a:off x="1225295" y="3657600"/>
            <a:ext cx="5760720" cy="3108960"/>
          </a:xfrm>
          <a:prstGeom prst="rect">
            <a:avLst/>
          </a:prstGeom>
          <a:noFill/>
        </p:spPr>
        <p:txBody>
          <a:bodyPr wrap="square" anchor="t" lIns="0" rIns="0" tIns="0" bIns="0">
            <a:spAutoFit/>
          </a:bodyPr>
          <a:lstStyle/>
          <a:p>
            <a:pPr algn="l">
              <a:spcAft>
                <a:spcPts val="1200"/>
              </a:spcAft>
            </a:pPr>
            <a:r>
              <a:rPr sz="1500" b="0">
                <a:solidFill>
                  <a:srgbClr val="1E1E1E"/>
                </a:solidFill>
              </a:rPr>
              <a:t>•  Pocos datos reales y sin referencia fisiológica de la fatiga</a:t>
            </a:r>
          </a:p>
          <a:p>
            <a:pPr algn="l">
              <a:spcAft>
                <a:spcPts val="1200"/>
              </a:spcAft>
            </a:pPr>
            <a:r>
              <a:rPr sz="1500" b="0">
                <a:solidFill>
                  <a:srgbClr val="1E1E1E"/>
                </a:solidFill>
              </a:rPr>
              <a:t>•  Detección bajo el agua: el brazo oculto se copia del visible</a:t>
            </a:r>
          </a:p>
          <a:p>
            <a:pPr algn="l">
              <a:spcAft>
                <a:spcPts val="1200"/>
              </a:spcAft>
            </a:pPr>
            <a:r>
              <a:rPr sz="1500" b="0">
                <a:solidFill>
                  <a:srgbClr val="1E1E1E"/>
                </a:solidFill>
              </a:rPr>
              <a:t>•  El 3D no reconstruye bien las piernas de un nadador horizontal</a:t>
            </a:r>
          </a:p>
          <a:p>
            <a:pPr algn="l">
              <a:spcAft>
                <a:spcPts val="1200"/>
              </a:spcAft>
            </a:pPr>
            <a:r>
              <a:rPr sz="1500" b="0">
                <a:solidFill>
                  <a:srgbClr val="1E1E1E"/>
                </a:solidFill>
              </a:rPr>
              <a:t>•  Umbrales de vista y estilo fijados con los mismos vídeos</a:t>
            </a:r>
          </a:p>
        </p:txBody>
      </p:sp>
      <p:sp>
        <p:nvSpPr>
          <p:cNvPr id="8" name="Rectangle 7"/>
          <p:cNvSpPr/>
          <p:nvPr/>
        </p:nvSpPr>
        <p:spPr>
          <a:xfrm>
            <a:off x="7315200" y="2788920"/>
            <a:ext cx="6400800" cy="41148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35240" y="3017520"/>
            <a:ext cx="5760720" cy="457200"/>
          </a:xfrm>
          <a:prstGeom prst="rect">
            <a:avLst/>
          </a:prstGeom>
          <a:noFill/>
        </p:spPr>
        <p:txBody>
          <a:bodyPr wrap="square" anchor="t" lIns="0" rIns="0" tIns="0" bIns="0">
            <a:spAutoFit/>
          </a:bodyPr>
          <a:lstStyle/>
          <a:p>
            <a:pPr algn="l">
              <a:spcAft>
                <a:spcPts val="600"/>
              </a:spcAft>
            </a:pPr>
            <a:r>
              <a:rPr sz="2000" b="1">
                <a:solidFill>
                  <a:srgbClr val="FFFFFF"/>
                </a:solidFill>
              </a:rPr>
              <a:t>Trabajo futuro</a:t>
            </a:r>
          </a:p>
        </p:txBody>
      </p:sp>
      <p:sp>
        <p:nvSpPr>
          <p:cNvPr id="10" name="TextBox 9"/>
          <p:cNvSpPr txBox="1"/>
          <p:nvPr/>
        </p:nvSpPr>
        <p:spPr>
          <a:xfrm>
            <a:off x="7635240" y="3657600"/>
            <a:ext cx="5760720" cy="3108960"/>
          </a:xfrm>
          <a:prstGeom prst="rect">
            <a:avLst/>
          </a:prstGeom>
          <a:noFill/>
        </p:spPr>
        <p:txBody>
          <a:bodyPr wrap="square" anchor="t" lIns="0" rIns="0" tIns="0" bIns="0">
            <a:spAutoFit/>
          </a:bodyPr>
          <a:lstStyle/>
          <a:p>
            <a:pPr algn="l">
              <a:spcAft>
                <a:spcPts val="1200"/>
              </a:spcAft>
            </a:pPr>
            <a:r>
              <a:rPr sz="1500" b="0">
                <a:solidFill>
                  <a:srgbClr val="FFFFFF"/>
                </a:solidFill>
              </a:rPr>
              <a:t>•  Nado continuo con lactato o escala de esfuerzo (RPE)</a:t>
            </a:r>
          </a:p>
          <a:p>
            <a:pPr algn="l">
              <a:spcAft>
                <a:spcPts val="1200"/>
              </a:spcAft>
            </a:pPr>
            <a:r>
              <a:rPr sz="1500" b="0">
                <a:solidFill>
                  <a:srgbClr val="FFFFFF"/>
                </a:solidFill>
              </a:rPr>
              <a:t>•  Anotar fotogramas propios y recalibrar con el modelo ajustado</a:t>
            </a:r>
          </a:p>
          <a:p>
            <a:pPr algn="l">
              <a:spcAft>
                <a:spcPts val="1200"/>
              </a:spcAft>
            </a:pPr>
            <a:r>
              <a:rPr sz="1500" b="0">
                <a:solidFill>
                  <a:srgbClr val="FFFFFF"/>
                </a:solidFill>
              </a:rPr>
              <a:t>•  ViTPose y modelos específicos de natación</a:t>
            </a:r>
          </a:p>
          <a:p>
            <a:pPr algn="l">
              <a:spcAft>
                <a:spcPts val="1200"/>
              </a:spcAft>
            </a:pPr>
            <a:r>
              <a:rPr sz="1500" b="0">
                <a:solidFill>
                  <a:srgbClr val="FFFFFF"/>
                </a:solidFill>
              </a:rPr>
              <a:t>•  Modo audio: sonido de brazadas y respiración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Conclusiones</a:t>
            </a:r>
          </a:p>
        </p:txBody>
      </p:sp>
      <p:sp>
        <p:nvSpPr>
          <p:cNvPr id="4" name="Text Placeholder 3"/>
          <p:cNvSpPr>
            <a:spLocks noGrp="1"/>
          </p:cNvSpPr>
          <p:nvPr>
            <p:ph type="body" idx="18" sz="quarter"/>
          </p:nvPr>
        </p:nvSpPr>
        <p:spPr>
          <a:xfrm>
            <a:ext cx="12344400" cy="0"/>
          </a:xfrm>
        </p:spPr>
        <p:txBody>
          <a:bodyPr/>
          <a:lstStyle/>
          <a:p>
            <a:r>
              <a:t>7 objetivos cumplidos y 2 parciales</a:t>
            </a:r>
          </a:p>
        </p:txBody>
      </p:sp>
      <p:sp>
        <p:nvSpPr>
          <p:cNvPr id="5" name="Rectangle 4"/>
          <p:cNvSpPr/>
          <p:nvPr/>
        </p:nvSpPr>
        <p:spPr>
          <a:xfrm>
            <a:off x="905256"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813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OE1 · Cumplido</a:t>
            </a:r>
          </a:p>
        </p:txBody>
      </p:sp>
      <p:sp>
        <p:nvSpPr>
          <p:cNvPr id="7" name="TextBox 6"/>
          <p:cNvSpPr txBox="1"/>
          <p:nvPr/>
        </p:nvSpPr>
        <p:spPr>
          <a:xfrm>
            <a:off x="108813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Selección del modelo de pose</a:t>
            </a:r>
          </a:p>
        </p:txBody>
      </p:sp>
      <p:sp>
        <p:nvSpPr>
          <p:cNvPr id="8" name="Rectangle 7"/>
          <p:cNvSpPr/>
          <p:nvPr/>
        </p:nvSpPr>
        <p:spPr>
          <a:xfrm>
            <a:off x="3785615"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6849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OE2 · Cumplido*</a:t>
            </a:r>
          </a:p>
        </p:txBody>
      </p:sp>
      <p:sp>
        <p:nvSpPr>
          <p:cNvPr id="10" name="TextBox 9"/>
          <p:cNvSpPr txBox="1"/>
          <p:nvPr/>
        </p:nvSpPr>
        <p:spPr>
          <a:xfrm>
            <a:off x="396849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Elevación a 3D</a:t>
            </a:r>
          </a:p>
        </p:txBody>
      </p:sp>
      <p:sp>
        <p:nvSpPr>
          <p:cNvPr id="11" name="Rectangle 10"/>
          <p:cNvSpPr/>
          <p:nvPr/>
        </p:nvSpPr>
        <p:spPr>
          <a:xfrm>
            <a:off x="6665976"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885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OE3 · Cumplido</a:t>
            </a:r>
          </a:p>
        </p:txBody>
      </p:sp>
      <p:sp>
        <p:nvSpPr>
          <p:cNvPr id="13" name="TextBox 12"/>
          <p:cNvSpPr txBox="1"/>
          <p:nvPr/>
        </p:nvSpPr>
        <p:spPr>
          <a:xfrm>
            <a:off x="684885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Ciclos de brazada</a:t>
            </a:r>
          </a:p>
        </p:txBody>
      </p:sp>
      <p:sp>
        <p:nvSpPr>
          <p:cNvPr id="14" name="Rectangle 13"/>
          <p:cNvSpPr/>
          <p:nvPr/>
        </p:nvSpPr>
        <p:spPr>
          <a:xfrm>
            <a:off x="905256" y="411480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8813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OE4 · Cumplido</a:t>
            </a:r>
          </a:p>
        </p:txBody>
      </p:sp>
      <p:sp>
        <p:nvSpPr>
          <p:cNvPr id="16" name="TextBox 15"/>
          <p:cNvSpPr txBox="1"/>
          <p:nvPr/>
        </p:nvSpPr>
        <p:spPr>
          <a:xfrm>
            <a:off x="108813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Variables por ciclo</a:t>
            </a:r>
          </a:p>
        </p:txBody>
      </p:sp>
      <p:sp>
        <p:nvSpPr>
          <p:cNvPr id="17" name="Rectangle 16"/>
          <p:cNvSpPr/>
          <p:nvPr/>
        </p:nvSpPr>
        <p:spPr>
          <a:xfrm>
            <a:off x="3785615" y="4114800"/>
            <a:ext cx="2697480" cy="1143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849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OE5 · Parcial</a:t>
            </a:r>
          </a:p>
        </p:txBody>
      </p:sp>
      <p:sp>
        <p:nvSpPr>
          <p:cNvPr id="19" name="TextBox 18"/>
          <p:cNvSpPr txBox="1"/>
          <p:nvPr/>
        </p:nvSpPr>
        <p:spPr>
          <a:xfrm>
            <a:off x="396849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Inicio de la fatiga</a:t>
            </a:r>
          </a:p>
        </p:txBody>
      </p:sp>
      <p:sp>
        <p:nvSpPr>
          <p:cNvPr id="20" name="Rectangle 19"/>
          <p:cNvSpPr/>
          <p:nvPr/>
        </p:nvSpPr>
        <p:spPr>
          <a:xfrm>
            <a:off x="6665976" y="411480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4885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OE6 · Cumplido</a:t>
            </a:r>
          </a:p>
        </p:txBody>
      </p:sp>
      <p:sp>
        <p:nvSpPr>
          <p:cNvPr id="22" name="TextBox 21"/>
          <p:cNvSpPr txBox="1"/>
          <p:nvPr/>
        </p:nvSpPr>
        <p:spPr>
          <a:xfrm>
            <a:off x="684885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Atribución con SHAP</a:t>
            </a:r>
          </a:p>
        </p:txBody>
      </p:sp>
      <p:sp>
        <p:nvSpPr>
          <p:cNvPr id="23" name="Rectangle 22"/>
          <p:cNvSpPr/>
          <p:nvPr/>
        </p:nvSpPr>
        <p:spPr>
          <a:xfrm>
            <a:off x="905256" y="5440679"/>
            <a:ext cx="2697480" cy="1143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813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OE7 · Parcial</a:t>
            </a:r>
          </a:p>
        </p:txBody>
      </p:sp>
      <p:sp>
        <p:nvSpPr>
          <p:cNvPr id="25" name="TextBox 24"/>
          <p:cNvSpPr txBox="1"/>
          <p:nvPr/>
        </p:nvSpPr>
        <p:spPr>
          <a:xfrm>
            <a:off x="108813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Clasificación del estilo</a:t>
            </a:r>
          </a:p>
        </p:txBody>
      </p:sp>
      <p:sp>
        <p:nvSpPr>
          <p:cNvPr id="26" name="Rectangle 25"/>
          <p:cNvSpPr/>
          <p:nvPr/>
        </p:nvSpPr>
        <p:spPr>
          <a:xfrm>
            <a:off x="3785615" y="5440679"/>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849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OE8 · Cumplido</a:t>
            </a:r>
          </a:p>
        </p:txBody>
      </p:sp>
      <p:sp>
        <p:nvSpPr>
          <p:cNvPr id="28" name="TextBox 27"/>
          <p:cNvSpPr txBox="1"/>
          <p:nvPr/>
        </p:nvSpPr>
        <p:spPr>
          <a:xfrm>
            <a:off x="396849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Vídeo anotado y tiempo real</a:t>
            </a:r>
          </a:p>
        </p:txBody>
      </p:sp>
      <p:sp>
        <p:nvSpPr>
          <p:cNvPr id="29" name="Rectangle 28"/>
          <p:cNvSpPr/>
          <p:nvPr/>
        </p:nvSpPr>
        <p:spPr>
          <a:xfrm>
            <a:off x="6665976" y="5440679"/>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4885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OE9 · Cumplido</a:t>
            </a:r>
          </a:p>
        </p:txBody>
      </p:sp>
      <p:sp>
        <p:nvSpPr>
          <p:cNvPr id="31" name="TextBox 30"/>
          <p:cNvSpPr txBox="1"/>
          <p:nvPr/>
        </p:nvSpPr>
        <p:spPr>
          <a:xfrm>
            <a:off x="684885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Evaluación con datos sintéticos</a:t>
            </a:r>
          </a:p>
        </p:txBody>
      </p:sp>
      <p:sp>
        <p:nvSpPr>
          <p:cNvPr id="32" name="TextBox 31"/>
          <p:cNvSpPr txBox="1"/>
          <p:nvPr/>
        </p:nvSpPr>
        <p:spPr>
          <a:xfrm>
            <a:off x="9784080" y="2788920"/>
            <a:ext cx="3931920" cy="3840480"/>
          </a:xfrm>
          <a:prstGeom prst="rect">
            <a:avLst/>
          </a:prstGeom>
          <a:noFill/>
        </p:spPr>
        <p:txBody>
          <a:bodyPr wrap="square" anchor="t" lIns="0" rIns="0" tIns="0" bIns="0">
            <a:spAutoFit/>
          </a:bodyPr>
          <a:lstStyle/>
          <a:p>
            <a:pPr algn="l">
              <a:spcAft>
                <a:spcPts val="1400"/>
              </a:spcAft>
            </a:pPr>
            <a:r>
              <a:rPr sz="2000" b="1">
                <a:solidFill>
                  <a:srgbClr val="FF3228"/>
                </a:solidFill>
              </a:rPr>
              <a:t>La calidad de los datos pesa más que el modelo.</a:t>
            </a:r>
          </a:p>
          <a:p>
            <a:pPr algn="l">
              <a:spcAft>
                <a:spcPts val="600"/>
              </a:spcAft>
            </a:pPr>
            <a:r>
              <a:rPr sz="1400" b="0">
                <a:solidFill>
                  <a:srgbClr val="1E1E1E"/>
                </a:solidFill>
              </a:rPr>
              <a:t>Cada resultado se contrastó con una referencia: conteo manual o datos sintéticos con la verdad conocida.</a:t>
            </a:r>
          </a:p>
        </p:txBody>
      </p:sp>
      <p:sp>
        <p:nvSpPr>
          <p:cNvPr id="33" name="TextBox 32"/>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 Cumplido con limitaciones (3D válido en codo y cadera, no en rodilla).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
        <p:nvSpPr>
          <p:cNvPr id="3" name="Text Placeholder 2"/>
          <p:cNvSpPr>
            <a:spLocks noGrp="1"/>
          </p:cNvSpPr>
          <p:nvPr>
            <p:ph type="body" idx="16" sz="quarter"/>
          </p:nvPr>
        </p:nvSpPr>
        <p:spPr/>
        <p:txBody>
          <a:bodyPr/>
          <a:lstStyle/>
          <a:p>
            <a:r>
              <a:t>¿Preguntas?</a:t>
            </a:r>
          </a:p>
        </p:txBody>
      </p:sp>
      <p:sp>
        <p:nvSpPr>
          <p:cNvPr id="4" name="Text Placeholder 3"/>
          <p:cNvSpPr>
            <a:spLocks noGrp="1"/>
          </p:cNvSpPr>
          <p:nvPr>
            <p:ph type="body" idx="22" sz="quarter"/>
          </p:nvPr>
        </p:nvSpPr>
        <p:spPr/>
        <p:txBody>
          <a:bodyPr/>
          <a:lstStyle/>
          <a:p>
            <a:r>
              <a:t>StrokeLab · TFM Máster en IA</a:t>
            </a:r>
          </a:p>
        </p:txBody>
      </p:sp>
      <p:sp>
        <p:nvSpPr>
          <p:cNvPr id="5" name="Text Placeholder 4"/>
          <p:cNvSpPr>
            <a:spLocks noGrp="1"/>
          </p:cNvSpPr>
          <p:nvPr>
            <p:ph type="body" idx="15" sz="quarter"/>
          </p:nvPr>
        </p:nvSpPr>
        <p:spPr/>
        <p:txBody>
          <a:bodyPr/>
          <a:lstStyle/>
          <a:p>
            <a:r>
              <a:t>Diana Cruz</a:t>
            </a:r>
          </a:p>
        </p:txBody>
      </p:sp>
      <p:sp>
        <p:nvSpPr>
          <p:cNvPr id="6" name="Text Placeholder 5"/>
          <p:cNvSpPr>
            <a:spLocks noGrp="1"/>
          </p:cNvSpPr>
          <p:nvPr>
            <p:ph type="body" idx="23" sz="quarter"/>
          </p:nvPr>
        </p:nvSpPr>
        <p:spPr/>
        <p:txBody>
          <a:bodyPr/>
          <a:lstStyle/>
          <a:p>
            <a:r>
              <a:t>Universidad Europea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Anexos</a:t>
            </a:r>
          </a:p>
        </p:txBody>
      </p:sp>
      <p:sp>
        <p:nvSpPr>
          <p:cNvPr id="4" name="Text Placeholder 3"/>
          <p:cNvSpPr>
            <a:spLocks noGrp="1"/>
          </p:cNvSpPr>
          <p:nvPr>
            <p:ph type="body" idx="18" sz="quarter"/>
          </p:nvPr>
        </p:nvSpPr>
        <p:spPr/>
        <p:txBody>
          <a:bodyPr/>
          <a:lstStyle/>
          <a:p>
            <a:r>
              <a:t>Material de apoyo para las preguntas del tribunal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A1 · Modelos de pose en CPU</a:t>
            </a:r>
          </a:p>
        </p:txBody>
      </p:sp>
      <p:sp>
        <p:nvSpPr>
          <p:cNvPr id="4" name="Text Placeholder 3"/>
          <p:cNvSpPr>
            <a:spLocks noGrp="1"/>
          </p:cNvSpPr>
          <p:nvPr>
            <p:ph type="body" idx="18" sz="quarter"/>
          </p:nvPr>
        </p:nvSpPr>
        <p:spPr>
          <a:xfrm>
            <a:ext cx="12344400" cy="0"/>
          </a:xfrm>
        </p:spPr>
        <p:txBody>
          <a:bodyPr/>
          <a:lstStyle/>
          <a:p>
            <a:r>
              <a:t>Secuencia GX011614 (5120 × 2880 px), portátil de 4 hilos</a:t>
            </a:r>
          </a:p>
        </p:txBody>
      </p:sp>
      <p:graphicFrame>
        <p:nvGraphicFramePr>
          <p:cNvPr id="5" name="Table 4"/>
          <p:cNvGraphicFramePr>
            <a:graphicFrameLocks noGrp="1"/>
          </p:cNvGraphicFramePr>
          <p:nvPr/>
        </p:nvGraphicFramePr>
        <p:xfrm>
          <a:off x="905256" y="2880360"/>
          <a:ext cx="12801600" cy="2743200"/>
        </p:xfrm>
        <a:graphic>
          <a:graphicData uri="http://schemas.openxmlformats.org/drawingml/2006/table">
            <a:tbl>
              <a:tblPr firstRow="1" bandRow="1">
                <a:tableStyleId>{5C22544A-7EE6-4342-B048-85BDC9FD1C3A}</a:tableStyleId>
              </a:tblPr>
              <a:tblGrid>
                <a:gridCol w="4206240"/>
                <a:gridCol w="2103120"/>
                <a:gridCol w="2103120"/>
                <a:gridCol w="2194560"/>
                <a:gridCol w="2194560"/>
              </a:tblGrid>
              <a:tr h="548640">
                <a:tc>
                  <a:txBody>
                    <a:bodyPr/>
                    <a:lstStyle/>
                    <a:p>
                      <a:r>
                        <a:rPr sz="1400" b="1">
                          <a:solidFill>
                            <a:srgbClr val="FFFFFF"/>
                          </a:solidFill>
                        </a:rPr>
                        <a:t>Modelo</a:t>
                      </a:r>
                    </a:p>
                  </a:txBody>
                  <a:tcPr marL="91440" marR="91440" marT="27432" marB="27432" anchor="ctr">
                    <a:solidFill>
                      <a:srgbClr val="FF3228"/>
                    </a:solidFill>
                  </a:tcPr>
                </a:tc>
                <a:tc>
                  <a:txBody>
                    <a:bodyPr/>
                    <a:lstStyle/>
                    <a:p>
                      <a:r>
                        <a:rPr sz="1400" b="1">
                          <a:solidFill>
                            <a:srgbClr val="FFFFFF"/>
                          </a:solidFill>
                        </a:rPr>
                        <a:t>Parámetros (M)</a:t>
                      </a:r>
                    </a:p>
                  </a:txBody>
                  <a:tcPr marL="91440" marR="91440" marT="27432" marB="27432" anchor="ctr">
                    <a:solidFill>
                      <a:srgbClr val="FF3228"/>
                    </a:solidFill>
                  </a:tcPr>
                </a:tc>
                <a:tc>
                  <a:txBody>
                    <a:bodyPr/>
                    <a:lstStyle/>
                    <a:p>
                      <a:r>
                        <a:rPr sz="1400" b="1">
                          <a:solidFill>
                            <a:srgbClr val="FFFFFF"/>
                          </a:solidFill>
                        </a:rPr>
                        <a:t>FPS en CPU</a:t>
                      </a:r>
                    </a:p>
                  </a:txBody>
                  <a:tcPr marL="91440" marR="91440" marT="27432" marB="27432" anchor="ctr">
                    <a:solidFill>
                      <a:srgbClr val="FF3228"/>
                    </a:solidFill>
                  </a:tcPr>
                </a:tc>
                <a:tc>
                  <a:txBody>
                    <a:bodyPr/>
                    <a:lstStyle/>
                    <a:p>
                      <a:r>
                        <a:rPr sz="1400" b="1">
                          <a:solidFill>
                            <a:srgbClr val="FFFFFF"/>
                          </a:solidFill>
                        </a:rPr>
                        <a:t>Detección (%)</a:t>
                      </a:r>
                    </a:p>
                  </a:txBody>
                  <a:tcPr marL="91440" marR="91440" marT="27432" marB="27432" anchor="ctr">
                    <a:solidFill>
                      <a:srgbClr val="FF3228"/>
                    </a:solidFill>
                  </a:tcPr>
                </a:tc>
                <a:tc>
                  <a:txBody>
                    <a:bodyPr/>
                    <a:lstStyle/>
                    <a:p>
                      <a:r>
                        <a:rPr sz="1400" b="1">
                          <a:solidFill>
                            <a:srgbClr val="FFFFFF"/>
                          </a:solidFill>
                        </a:rPr>
                        <a:t>Confianza</a:t>
                      </a:r>
                    </a:p>
                  </a:txBody>
                  <a:tcPr marL="91440" marR="91440" marT="27432" marB="27432" anchor="ctr">
                    <a:solidFill>
                      <a:srgbClr val="FF3228"/>
                    </a:solidFill>
                  </a:tcPr>
                </a:tc>
              </a:tr>
              <a:tr h="548640">
                <a:tc>
                  <a:txBody>
                    <a:bodyPr/>
                    <a:lstStyle/>
                    <a:p>
                      <a:r>
                        <a:rPr sz="1400" b="1">
                          <a:solidFill>
                            <a:srgbClr val="1E1E1E"/>
                          </a:solidFill>
                        </a:rPr>
                        <a:t>YOLOv8n-Pose (elegido)</a:t>
                      </a:r>
                    </a:p>
                  </a:txBody>
                  <a:tcPr marL="91440" marR="91440" marT="27432" marB="27432" anchor="ctr">
                    <a:solidFill>
                      <a:srgbClr val="FFAFAA"/>
                    </a:solidFill>
                  </a:tcPr>
                </a:tc>
                <a:tc>
                  <a:txBody>
                    <a:bodyPr/>
                    <a:lstStyle/>
                    <a:p>
                      <a:r>
                        <a:rPr sz="1400" b="1">
                          <a:solidFill>
                            <a:srgbClr val="1E1E1E"/>
                          </a:solidFill>
                        </a:rPr>
                        <a:t>3,3</a:t>
                      </a:r>
                    </a:p>
                  </a:txBody>
                  <a:tcPr marL="91440" marR="91440" marT="27432" marB="27432" anchor="ctr">
                    <a:solidFill>
                      <a:srgbClr val="FFAFAA"/>
                    </a:solidFill>
                  </a:tcPr>
                </a:tc>
                <a:tc>
                  <a:txBody>
                    <a:bodyPr/>
                    <a:lstStyle/>
                    <a:p>
                      <a:r>
                        <a:rPr sz="1400" b="1">
                          <a:solidFill>
                            <a:srgbClr val="1E1E1E"/>
                          </a:solidFill>
                        </a:rPr>
                        <a:t>6,6</a:t>
                      </a:r>
                    </a:p>
                  </a:txBody>
                  <a:tcPr marL="91440" marR="91440" marT="27432" marB="27432" anchor="ctr">
                    <a:solidFill>
                      <a:srgbClr val="FFAFAA"/>
                    </a:solidFill>
                  </a:tcPr>
                </a:tc>
                <a:tc>
                  <a:txBody>
                    <a:bodyPr/>
                    <a:lstStyle/>
                    <a:p>
                      <a:r>
                        <a:rPr sz="1400" b="1">
                          <a:solidFill>
                            <a:srgbClr val="1E1E1E"/>
                          </a:solidFill>
                        </a:rPr>
                        <a:t>35,6</a:t>
                      </a:r>
                    </a:p>
                  </a:txBody>
                  <a:tcPr marL="91440" marR="91440" marT="27432" marB="27432" anchor="ctr">
                    <a:solidFill>
                      <a:srgbClr val="FFAFAA"/>
                    </a:solidFill>
                  </a:tcPr>
                </a:tc>
                <a:tc>
                  <a:txBody>
                    <a:bodyPr/>
                    <a:lstStyle/>
                    <a:p>
                      <a:r>
                        <a:rPr sz="1400" b="1">
                          <a:solidFill>
                            <a:srgbClr val="1E1E1E"/>
                          </a:solidFill>
                        </a:rPr>
                        <a:t>0,76</a:t>
                      </a:r>
                    </a:p>
                  </a:txBody>
                  <a:tcPr marL="91440" marR="91440" marT="27432" marB="27432" anchor="ctr">
                    <a:solidFill>
                      <a:srgbClr val="FFAFAA"/>
                    </a:solidFill>
                  </a:tcPr>
                </a:tc>
              </a:tr>
              <a:tr h="548640">
                <a:tc>
                  <a:txBody>
                    <a:bodyPr/>
                    <a:lstStyle/>
                    <a:p>
                      <a:r>
                        <a:rPr sz="1400" b="0">
                          <a:solidFill>
                            <a:srgbClr val="1E1E1E"/>
                          </a:solidFill>
                        </a:rPr>
                        <a:t>YOLO11n-Pose</a:t>
                      </a:r>
                    </a:p>
                  </a:txBody>
                  <a:tcPr marL="91440" marR="91440" marT="27432" marB="27432" anchor="ctr">
                    <a:solidFill>
                      <a:srgbClr val="EEEDED"/>
                    </a:solidFill>
                  </a:tcPr>
                </a:tc>
                <a:tc>
                  <a:txBody>
                    <a:bodyPr/>
                    <a:lstStyle/>
                    <a:p>
                      <a:r>
                        <a:rPr sz="1400" b="0">
                          <a:solidFill>
                            <a:srgbClr val="1E1E1E"/>
                          </a:solidFill>
                        </a:rPr>
                        <a:t>2,9</a:t>
                      </a:r>
                    </a:p>
                  </a:txBody>
                  <a:tcPr marL="91440" marR="91440" marT="27432" marB="27432" anchor="ctr">
                    <a:solidFill>
                      <a:srgbClr val="EEEDED"/>
                    </a:solidFill>
                  </a:tcPr>
                </a:tc>
                <a:tc>
                  <a:txBody>
                    <a:bodyPr/>
                    <a:lstStyle/>
                    <a:p>
                      <a:r>
                        <a:rPr sz="1400" b="0">
                          <a:solidFill>
                            <a:srgbClr val="1E1E1E"/>
                          </a:solidFill>
                        </a:rPr>
                        <a:t>6,2</a:t>
                      </a:r>
                    </a:p>
                  </a:txBody>
                  <a:tcPr marL="91440" marR="91440" marT="27432" marB="27432" anchor="ctr">
                    <a:solidFill>
                      <a:srgbClr val="EEEDED"/>
                    </a:solidFill>
                  </a:tcPr>
                </a:tc>
                <a:tc>
                  <a:txBody>
                    <a:bodyPr/>
                    <a:lstStyle/>
                    <a:p>
                      <a:r>
                        <a:rPr sz="1400" b="0">
                          <a:solidFill>
                            <a:srgbClr val="1E1E1E"/>
                          </a:solidFill>
                        </a:rPr>
                        <a:t>37,6</a:t>
                      </a:r>
                    </a:p>
                  </a:txBody>
                  <a:tcPr marL="91440" marR="91440" marT="27432" marB="27432" anchor="ctr">
                    <a:solidFill>
                      <a:srgbClr val="EEEDED"/>
                    </a:solidFill>
                  </a:tcPr>
                </a:tc>
                <a:tc>
                  <a:txBody>
                    <a:bodyPr/>
                    <a:lstStyle/>
                    <a:p>
                      <a:r>
                        <a:rPr sz="1400" b="0">
                          <a:solidFill>
                            <a:srgbClr val="1E1E1E"/>
                          </a:solidFill>
                        </a:rPr>
                        <a:t>0,78</a:t>
                      </a:r>
                    </a:p>
                  </a:txBody>
                  <a:tcPr marL="91440" marR="91440" marT="27432" marB="27432" anchor="ctr">
                    <a:solidFill>
                      <a:srgbClr val="EEEDED"/>
                    </a:solidFill>
                  </a:tcPr>
                </a:tc>
              </a:tr>
              <a:tr h="548640">
                <a:tc>
                  <a:txBody>
                    <a:bodyPr/>
                    <a:lstStyle/>
                    <a:p>
                      <a:r>
                        <a:rPr sz="1400" b="0">
                          <a:solidFill>
                            <a:srgbClr val="1E1E1E"/>
                          </a:solidFill>
                        </a:rPr>
                        <a:t>YOLOv8s-Pose</a:t>
                      </a:r>
                    </a:p>
                  </a:txBody>
                  <a:tcPr marL="91440" marR="91440" marT="27432" marB="27432" anchor="ctr">
                    <a:solidFill>
                      <a:srgbClr val="FFFFFF"/>
                    </a:solidFill>
                  </a:tcPr>
                </a:tc>
                <a:tc>
                  <a:txBody>
                    <a:bodyPr/>
                    <a:lstStyle/>
                    <a:p>
                      <a:r>
                        <a:rPr sz="1400" b="0">
                          <a:solidFill>
                            <a:srgbClr val="1E1E1E"/>
                          </a:solidFill>
                        </a:rPr>
                        <a:t>11,6</a:t>
                      </a:r>
                    </a:p>
                  </a:txBody>
                  <a:tcPr marL="91440" marR="91440" marT="27432" marB="27432" anchor="ctr">
                    <a:solidFill>
                      <a:srgbClr val="FFFFFF"/>
                    </a:solidFill>
                  </a:tcPr>
                </a:tc>
                <a:tc>
                  <a:txBody>
                    <a:bodyPr/>
                    <a:lstStyle/>
                    <a:p>
                      <a:r>
                        <a:rPr sz="1400" b="0">
                          <a:solidFill>
                            <a:srgbClr val="1E1E1E"/>
                          </a:solidFill>
                        </a:rPr>
                        <a:t>3,3</a:t>
                      </a:r>
                    </a:p>
                  </a:txBody>
                  <a:tcPr marL="91440" marR="91440" marT="27432" marB="27432" anchor="ctr">
                    <a:solidFill>
                      <a:srgbClr val="FFFFFF"/>
                    </a:solidFill>
                  </a:tcPr>
                </a:tc>
                <a:tc>
                  <a:txBody>
                    <a:bodyPr/>
                    <a:lstStyle/>
                    <a:p>
                      <a:r>
                        <a:rPr sz="1400" b="0">
                          <a:solidFill>
                            <a:srgbClr val="1E1E1E"/>
                          </a:solidFill>
                        </a:rPr>
                        <a:t>35,6</a:t>
                      </a:r>
                    </a:p>
                  </a:txBody>
                  <a:tcPr marL="91440" marR="91440" marT="27432" marB="27432" anchor="ctr">
                    <a:solidFill>
                      <a:srgbClr val="FFFFFF"/>
                    </a:solidFill>
                  </a:tcPr>
                </a:tc>
                <a:tc>
                  <a:txBody>
                    <a:bodyPr/>
                    <a:lstStyle/>
                    <a:p>
                      <a:r>
                        <a:rPr sz="1400" b="0">
                          <a:solidFill>
                            <a:srgbClr val="1E1E1E"/>
                          </a:solidFill>
                        </a:rPr>
                        <a:t>0,74</a:t>
                      </a:r>
                    </a:p>
                  </a:txBody>
                  <a:tcPr marL="91440" marR="91440" marT="27432" marB="27432" anchor="ctr">
                    <a:solidFill>
                      <a:srgbClr val="FFFFFF"/>
                    </a:solidFill>
                  </a:tcPr>
                </a:tc>
              </a:tr>
              <a:tr h="548640">
                <a:tc>
                  <a:txBody>
                    <a:bodyPr/>
                    <a:lstStyle/>
                    <a:p>
                      <a:r>
                        <a:rPr sz="1400" b="0">
                          <a:solidFill>
                            <a:srgbClr val="1E1E1E"/>
                          </a:solidFill>
                        </a:rPr>
                        <a:t>MoveNet Lightning</a:t>
                      </a:r>
                    </a:p>
                  </a:txBody>
                  <a:tcPr marL="91440" marR="91440" marT="27432" marB="27432" anchor="ctr">
                    <a:solidFill>
                      <a:srgbClr val="EEEDED"/>
                    </a:solidFill>
                  </a:tcPr>
                </a:tc>
                <a:tc>
                  <a:txBody>
                    <a:bodyPr/>
                    <a:lstStyle/>
                    <a:p>
                      <a:r>
                        <a:rPr sz="1400" b="0">
                          <a:solidFill>
                            <a:srgbClr val="1E1E1E"/>
                          </a:solidFill>
                        </a:rPr>
                        <a:t>—</a:t>
                      </a:r>
                    </a:p>
                  </a:txBody>
                  <a:tcPr marL="91440" marR="91440" marT="27432" marB="27432" anchor="ctr">
                    <a:solidFill>
                      <a:srgbClr val="EEEDED"/>
                    </a:solidFill>
                  </a:tcPr>
                </a:tc>
                <a:tc>
                  <a:txBody>
                    <a:bodyPr/>
                    <a:lstStyle/>
                    <a:p>
                      <a:r>
                        <a:rPr sz="1400" b="0">
                          <a:solidFill>
                            <a:srgbClr val="1E1E1E"/>
                          </a:solidFill>
                        </a:rPr>
                        <a:t>No medido</a:t>
                      </a:r>
                    </a:p>
                  </a:txBody>
                  <a:tcPr marL="91440" marR="91440" marT="27432" marB="27432" anchor="ctr">
                    <a:solidFill>
                      <a:srgbClr val="EEEDED"/>
                    </a:solidFill>
                  </a:tcPr>
                </a:tc>
                <a:tc>
                  <a:txBody>
                    <a:bodyPr/>
                    <a:lstStyle/>
                    <a:p>
                      <a:r>
                        <a:rPr sz="1400" b="0">
                          <a:solidFill>
                            <a:srgbClr val="1E1E1E"/>
                          </a:solidFill>
                        </a:rPr>
                        <a:t>35-48 (GPU)</a:t>
                      </a:r>
                    </a:p>
                  </a:txBody>
                  <a:tcPr marL="91440" marR="91440" marT="27432" marB="27432" anchor="ctr">
                    <a:solidFill>
                      <a:srgbClr val="EEEDED"/>
                    </a:solidFill>
                  </a:tcPr>
                </a:tc>
                <a:tc>
                  <a:txBody>
                    <a:bodyPr/>
                    <a:lstStyle/>
                    <a:p>
                      <a:r>
                        <a:rPr sz="1400" b="0">
                          <a:solidFill>
                            <a:srgbClr val="1E1E1E"/>
                          </a:solidFill>
                        </a:rPr>
                        <a:t>0,34-0,37 (GPU)</a:t>
                      </a:r>
                    </a:p>
                  </a:txBody>
                  <a:tcPr marL="91440" marR="91440" marT="27432" marB="27432" anchor="ctr">
                    <a:solidFill>
                      <a:srgbClr val="EEEDED"/>
                    </a:solidFill>
                  </a:tcPr>
                </a:tc>
              </a:tr>
            </a:tbl>
          </a:graphicData>
        </a:graphic>
      </p:graphicFrame>
      <p:sp>
        <p:nvSpPr>
          <p:cNvPr id="6" name="TextBox 5"/>
          <p:cNvSpPr txBox="1"/>
          <p:nvPr/>
        </p:nvSpPr>
        <p:spPr>
          <a:xfrm>
            <a:off x="905256" y="60350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La detección ronda el 36 % porque el nadador solo está en el encuadre parte del vídeo. En el mismo vídeo: 15 ciclos válidos con YOLO frente a 3 con MoveNet.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A2 · Tamaño del modelo y sintéticos</a:t>
            </a:r>
          </a:p>
        </p:txBody>
      </p:sp>
      <p:sp>
        <p:nvSpPr>
          <p:cNvPr id="4" name="Text Placeholder 3"/>
          <p:cNvSpPr>
            <a:spLocks noGrp="1"/>
          </p:cNvSpPr>
          <p:nvPr>
            <p:ph type="body" idx="18" sz="quarter"/>
          </p:nvPr>
        </p:nvSpPr>
        <p:spPr>
          <a:xfrm>
            <a:ext cx="12344400" cy="0"/>
          </a:xfrm>
        </p:spPr>
        <p:txBody>
          <a:bodyPr/>
          <a:lstStyle/>
          <a:p>
            <a:r>
              <a:t>Media de 4 pliegues por grabación · sin giro salvo indicación</a:t>
            </a:r>
          </a:p>
        </p:txBody>
      </p:sp>
      <p:graphicFrame>
        <p:nvGraphicFramePr>
          <p:cNvPr id="5" name="Table 4"/>
          <p:cNvGraphicFramePr>
            <a:graphicFrameLocks noGrp="1"/>
          </p:cNvGraphicFramePr>
          <p:nvPr/>
        </p:nvGraphicFramePr>
        <p:xfrm>
          <a:off x="905256" y="2880360"/>
          <a:ext cx="12801600" cy="3182112"/>
        </p:xfrm>
        <a:graphic>
          <a:graphicData uri="http://schemas.openxmlformats.org/drawingml/2006/table">
            <a:tbl>
              <a:tblPr firstRow="1" bandRow="1">
                <a:tableStyleId>{5C22544A-7EE6-4342-B048-85BDC9FD1C3A}</a:tableStyleId>
              </a:tblPr>
              <a:tblGrid>
                <a:gridCol w="4937760"/>
                <a:gridCol w="1463040"/>
                <a:gridCol w="1280160"/>
                <a:gridCol w="1463040"/>
                <a:gridCol w="1463040"/>
                <a:gridCol w="2194560"/>
              </a:tblGrid>
              <a:tr h="530352">
                <a:tc>
                  <a:txBody>
                    <a:bodyPr/>
                    <a:lstStyle/>
                    <a:p>
                      <a:r>
                        <a:rPr sz="1300" b="1">
                          <a:solidFill>
                            <a:srgbClr val="FFFFFF"/>
                          </a:solidFill>
                        </a:rPr>
                        <a:t>Modelo</a:t>
                      </a:r>
                    </a:p>
                  </a:txBody>
                  <a:tcPr marL="91440" marR="91440" marT="27432" marB="27432" anchor="ctr">
                    <a:solidFill>
                      <a:srgbClr val="FF3228"/>
                    </a:solidFill>
                  </a:tcPr>
                </a:tc>
                <a:tc>
                  <a:txBody>
                    <a:bodyPr/>
                    <a:lstStyle/>
                    <a:p>
                      <a:r>
                        <a:rPr sz="1300" b="1">
                          <a:solidFill>
                            <a:srgbClr val="FFFFFF"/>
                          </a:solidFill>
                        </a:rPr>
                        <a:t>Detección</a:t>
                      </a:r>
                    </a:p>
                  </a:txBody>
                  <a:tcPr marL="91440" marR="91440" marT="27432" marB="27432" anchor="ctr">
                    <a:solidFill>
                      <a:srgbClr val="FF3228"/>
                    </a:solidFill>
                  </a:tcPr>
                </a:tc>
                <a:tc>
                  <a:txBody>
                    <a:bodyPr/>
                    <a:lstStyle/>
                    <a:p>
                      <a:r>
                        <a:rPr sz="1300" b="1">
                          <a:solidFill>
                            <a:srgbClr val="FFFFFF"/>
                          </a:solidFill>
                        </a:rPr>
                        <a:t>OKS</a:t>
                      </a:r>
                    </a:p>
                  </a:txBody>
                  <a:tcPr marL="91440" marR="91440" marT="27432" marB="27432" anchor="ctr">
                    <a:solidFill>
                      <a:srgbClr val="FF3228"/>
                    </a:solidFill>
                  </a:tcPr>
                </a:tc>
                <a:tc>
                  <a:txBody>
                    <a:bodyPr/>
                    <a:lstStyle/>
                    <a:p>
                      <a:r>
                        <a:rPr sz="1300" b="1">
                          <a:solidFill>
                            <a:srgbClr val="FFFFFF"/>
                          </a:solidFill>
                        </a:rPr>
                        <a:t>PCK@0,1</a:t>
                      </a:r>
                    </a:p>
                  </a:txBody>
                  <a:tcPr marL="91440" marR="91440" marT="27432" marB="27432" anchor="ctr">
                    <a:solidFill>
                      <a:srgbClr val="FF3228"/>
                    </a:solidFill>
                  </a:tcPr>
                </a:tc>
                <a:tc>
                  <a:txBody>
                    <a:bodyPr/>
                    <a:lstStyle/>
                    <a:p>
                      <a:r>
                        <a:rPr sz="1300" b="1">
                          <a:solidFill>
                            <a:srgbClr val="FFFFFF"/>
                          </a:solidFill>
                        </a:rPr>
                        <a:t>PCK@0,2</a:t>
                      </a:r>
                    </a:p>
                  </a:txBody>
                  <a:tcPr marL="91440" marR="91440" marT="27432" marB="27432" anchor="ctr">
                    <a:solidFill>
                      <a:srgbClr val="FF3228"/>
                    </a:solidFill>
                  </a:tcPr>
                </a:tc>
                <a:tc>
                  <a:txBody>
                    <a:bodyPr/>
                    <a:lstStyle/>
                    <a:p>
                      <a:r>
                        <a:rPr sz="1300" b="1">
                          <a:solidFill>
                            <a:srgbClr val="FFFFFF"/>
                          </a:solidFill>
                        </a:rPr>
                        <a:t>Falsos positivos (de 13)</a:t>
                      </a:r>
                    </a:p>
                  </a:txBody>
                  <a:tcPr marL="91440" marR="91440" marT="27432" marB="27432" anchor="ctr">
                    <a:solidFill>
                      <a:srgbClr val="FF3228"/>
                    </a:solidFill>
                  </a:tcPr>
                </a:tc>
              </a:tr>
              <a:tr h="530352">
                <a:tc>
                  <a:txBody>
                    <a:bodyPr/>
                    <a:lstStyle/>
                    <a:p>
                      <a:r>
                        <a:rPr sz="1300" b="0">
                          <a:solidFill>
                            <a:srgbClr val="1E1E1E"/>
                          </a:solidFill>
                        </a:rPr>
                        <a:t>YOLOv8n original (con giro, el del TFM)</a:t>
                      </a:r>
                    </a:p>
                  </a:txBody>
                  <a:tcPr marL="91440" marR="91440" marT="27432" marB="27432" anchor="ctr">
                    <a:solidFill>
                      <a:srgbClr val="FFFFFF"/>
                    </a:solidFill>
                  </a:tcPr>
                </a:tc>
                <a:tc>
                  <a:txBody>
                    <a:bodyPr/>
                    <a:lstStyle/>
                    <a:p>
                      <a:r>
                        <a:rPr sz="1300" b="0">
                          <a:solidFill>
                            <a:srgbClr val="1E1E1E"/>
                          </a:solidFill>
                        </a:rPr>
                        <a:t>47 %</a:t>
                      </a:r>
                    </a:p>
                  </a:txBody>
                  <a:tcPr marL="91440" marR="91440" marT="27432" marB="27432" anchor="ctr">
                    <a:solidFill>
                      <a:srgbClr val="FFFFFF"/>
                    </a:solidFill>
                  </a:tcPr>
                </a:tc>
                <a:tc>
                  <a:txBody>
                    <a:bodyPr/>
                    <a:lstStyle/>
                    <a:p>
                      <a:r>
                        <a:rPr sz="1300" b="0">
                          <a:solidFill>
                            <a:srgbClr val="1E1E1E"/>
                          </a:solidFill>
                        </a:rPr>
                        <a:t>0,10</a:t>
                      </a:r>
                    </a:p>
                  </a:txBody>
                  <a:tcPr marL="91440" marR="91440" marT="27432" marB="27432" anchor="ctr">
                    <a:solidFill>
                      <a:srgbClr val="FFFFFF"/>
                    </a:solidFill>
                  </a:tcPr>
                </a:tc>
                <a:tc>
                  <a:txBody>
                    <a:bodyPr/>
                    <a:lstStyle/>
                    <a:p>
                      <a:r>
                        <a:rPr sz="1300" b="0">
                          <a:solidFill>
                            <a:srgbClr val="1E1E1E"/>
                          </a:solidFill>
                        </a:rPr>
                        <a:t>9 %</a:t>
                      </a:r>
                    </a:p>
                  </a:txBody>
                  <a:tcPr marL="91440" marR="91440" marT="27432" marB="27432" anchor="ctr">
                    <a:solidFill>
                      <a:srgbClr val="FFFFFF"/>
                    </a:solidFill>
                  </a:tcPr>
                </a:tc>
                <a:tc>
                  <a:txBody>
                    <a:bodyPr/>
                    <a:lstStyle/>
                    <a:p>
                      <a:r>
                        <a:rPr sz="1300" b="0">
                          <a:solidFill>
                            <a:srgbClr val="1E1E1E"/>
                          </a:solidFill>
                        </a:rPr>
                        <a:t>15 %</a:t>
                      </a:r>
                    </a:p>
                  </a:txBody>
                  <a:tcPr marL="91440" marR="91440" marT="27432" marB="27432" anchor="ctr">
                    <a:solidFill>
                      <a:srgbClr val="FFFFFF"/>
                    </a:solidFill>
                  </a:tcPr>
                </a:tc>
                <a:tc>
                  <a:txBody>
                    <a:bodyPr/>
                    <a:lstStyle/>
                    <a:p>
                      <a:r>
                        <a:rPr sz="1300" b="0">
                          <a:solidFill>
                            <a:srgbClr val="1E1E1E"/>
                          </a:solidFill>
                        </a:rPr>
                        <a:t>6</a:t>
                      </a:r>
                    </a:p>
                  </a:txBody>
                  <a:tcPr marL="91440" marR="91440" marT="27432" marB="27432" anchor="ctr">
                    <a:solidFill>
                      <a:srgbClr val="FFFFFF"/>
                    </a:solidFill>
                  </a:tcPr>
                </a:tc>
              </a:tr>
              <a:tr h="530352">
                <a:tc>
                  <a:txBody>
                    <a:bodyPr/>
                    <a:lstStyle/>
                    <a:p>
                      <a:r>
                        <a:rPr sz="1300" b="1">
                          <a:solidFill>
                            <a:srgbClr val="1E1E1E"/>
                          </a:solidFill>
                        </a:rPr>
                        <a:t>YOLOv8n ajustado</a:t>
                      </a:r>
                    </a:p>
                  </a:txBody>
                  <a:tcPr marL="91440" marR="91440" marT="27432" marB="27432" anchor="ctr">
                    <a:solidFill>
                      <a:srgbClr val="FFAFAA"/>
                    </a:solidFill>
                  </a:tcPr>
                </a:tc>
                <a:tc>
                  <a:txBody>
                    <a:bodyPr/>
                    <a:lstStyle/>
                    <a:p>
                      <a:r>
                        <a:rPr sz="1300" b="1">
                          <a:solidFill>
                            <a:srgbClr val="1E1E1E"/>
                          </a:solidFill>
                        </a:rPr>
                        <a:t>78 %</a:t>
                      </a:r>
                    </a:p>
                  </a:txBody>
                  <a:tcPr marL="91440" marR="91440" marT="27432" marB="27432" anchor="ctr">
                    <a:solidFill>
                      <a:srgbClr val="FFAFAA"/>
                    </a:solidFill>
                  </a:tcPr>
                </a:tc>
                <a:tc>
                  <a:txBody>
                    <a:bodyPr/>
                    <a:lstStyle/>
                    <a:p>
                      <a:r>
                        <a:rPr sz="1300" b="1">
                          <a:solidFill>
                            <a:srgbClr val="1E1E1E"/>
                          </a:solidFill>
                        </a:rPr>
                        <a:t>0,40</a:t>
                      </a:r>
                    </a:p>
                  </a:txBody>
                  <a:tcPr marL="91440" marR="91440" marT="27432" marB="27432" anchor="ctr">
                    <a:solidFill>
                      <a:srgbClr val="FFAFAA"/>
                    </a:solidFill>
                  </a:tcPr>
                </a:tc>
                <a:tc>
                  <a:txBody>
                    <a:bodyPr/>
                    <a:lstStyle/>
                    <a:p>
                      <a:r>
                        <a:rPr sz="1300" b="1">
                          <a:solidFill>
                            <a:srgbClr val="1E1E1E"/>
                          </a:solidFill>
                        </a:rPr>
                        <a:t>37 %</a:t>
                      </a:r>
                    </a:p>
                  </a:txBody>
                  <a:tcPr marL="91440" marR="91440" marT="27432" marB="27432" anchor="ctr">
                    <a:solidFill>
                      <a:srgbClr val="FFAFAA"/>
                    </a:solidFill>
                  </a:tcPr>
                </a:tc>
                <a:tc>
                  <a:txBody>
                    <a:bodyPr/>
                    <a:lstStyle/>
                    <a:p>
                      <a:r>
                        <a:rPr sz="1300" b="1">
                          <a:solidFill>
                            <a:srgbClr val="1E1E1E"/>
                          </a:solidFill>
                        </a:rPr>
                        <a:t>56 %</a:t>
                      </a:r>
                    </a:p>
                  </a:txBody>
                  <a:tcPr marL="91440" marR="91440" marT="27432" marB="27432" anchor="ctr">
                    <a:solidFill>
                      <a:srgbClr val="FFAFAA"/>
                    </a:solidFill>
                  </a:tcPr>
                </a:tc>
                <a:tc>
                  <a:txBody>
                    <a:bodyPr/>
                    <a:lstStyle/>
                    <a:p>
                      <a:r>
                        <a:rPr sz="1300" b="1">
                          <a:solidFill>
                            <a:srgbClr val="1E1E1E"/>
                          </a:solidFill>
                        </a:rPr>
                        <a:t>3</a:t>
                      </a:r>
                    </a:p>
                  </a:txBody>
                  <a:tcPr marL="91440" marR="91440" marT="27432" marB="27432" anchor="ctr">
                    <a:solidFill>
                      <a:srgbClr val="FFAFAA"/>
                    </a:solidFill>
                  </a:tcPr>
                </a:tc>
              </a:tr>
              <a:tr h="530352">
                <a:tc>
                  <a:txBody>
                    <a:bodyPr/>
                    <a:lstStyle/>
                    <a:p>
                      <a:r>
                        <a:rPr sz="1300" b="0">
                          <a:solidFill>
                            <a:srgbClr val="1E1E1E"/>
                          </a:solidFill>
                        </a:rPr>
                        <a:t>YOLOv8s ajustado</a:t>
                      </a:r>
                    </a:p>
                  </a:txBody>
                  <a:tcPr marL="91440" marR="91440" marT="27432" marB="27432" anchor="ctr">
                    <a:solidFill>
                      <a:srgbClr val="FFFFFF"/>
                    </a:solidFill>
                  </a:tcPr>
                </a:tc>
                <a:tc>
                  <a:txBody>
                    <a:bodyPr/>
                    <a:lstStyle/>
                    <a:p>
                      <a:r>
                        <a:rPr sz="1300" b="0">
                          <a:solidFill>
                            <a:srgbClr val="1E1E1E"/>
                          </a:solidFill>
                        </a:rPr>
                        <a:t>76 %</a:t>
                      </a:r>
                    </a:p>
                  </a:txBody>
                  <a:tcPr marL="91440" marR="91440" marT="27432" marB="27432" anchor="ctr">
                    <a:solidFill>
                      <a:srgbClr val="FFFFFF"/>
                    </a:solidFill>
                  </a:tcPr>
                </a:tc>
                <a:tc>
                  <a:txBody>
                    <a:bodyPr/>
                    <a:lstStyle/>
                    <a:p>
                      <a:r>
                        <a:rPr sz="1300" b="0">
                          <a:solidFill>
                            <a:srgbClr val="1E1E1E"/>
                          </a:solidFill>
                        </a:rPr>
                        <a:t>0,37</a:t>
                      </a:r>
                    </a:p>
                  </a:txBody>
                  <a:tcPr marL="91440" marR="91440" marT="27432" marB="27432" anchor="ctr">
                    <a:solidFill>
                      <a:srgbClr val="FFFFFF"/>
                    </a:solidFill>
                  </a:tcPr>
                </a:tc>
                <a:tc>
                  <a:txBody>
                    <a:bodyPr/>
                    <a:lstStyle/>
                    <a:p>
                      <a:r>
                        <a:rPr sz="1300" b="0">
                          <a:solidFill>
                            <a:srgbClr val="1E1E1E"/>
                          </a:solidFill>
                        </a:rPr>
                        <a:t>34 %</a:t>
                      </a:r>
                    </a:p>
                  </a:txBody>
                  <a:tcPr marL="91440" marR="91440" marT="27432" marB="27432" anchor="ctr">
                    <a:solidFill>
                      <a:srgbClr val="FFFFFF"/>
                    </a:solidFill>
                  </a:tcPr>
                </a:tc>
                <a:tc>
                  <a:txBody>
                    <a:bodyPr/>
                    <a:lstStyle/>
                    <a:p>
                      <a:r>
                        <a:rPr sz="1300" b="0">
                          <a:solidFill>
                            <a:srgbClr val="1E1E1E"/>
                          </a:solidFill>
                        </a:rPr>
                        <a:t>54 %</a:t>
                      </a:r>
                    </a:p>
                  </a:txBody>
                  <a:tcPr marL="91440" marR="91440" marT="27432" marB="27432" anchor="ctr">
                    <a:solidFill>
                      <a:srgbClr val="FFFFFF"/>
                    </a:solidFill>
                  </a:tcPr>
                </a:tc>
                <a:tc>
                  <a:txBody>
                    <a:bodyPr/>
                    <a:lstStyle/>
                    <a:p>
                      <a:r>
                        <a:rPr sz="1300" b="0">
                          <a:solidFill>
                            <a:srgbClr val="1E1E1E"/>
                          </a:solidFill>
                        </a:rPr>
                        <a:t>3,5</a:t>
                      </a:r>
                    </a:p>
                  </a:txBody>
                  <a:tcPr marL="91440" marR="91440" marT="27432" marB="27432" anchor="ctr">
                    <a:solidFill>
                      <a:srgbClr val="FFFFFF"/>
                    </a:solidFill>
                  </a:tcPr>
                </a:tc>
              </a:tr>
              <a:tr h="530352">
                <a:tc>
                  <a:txBody>
                    <a:bodyPr/>
                    <a:lstStyle/>
                    <a:p>
                      <a:r>
                        <a:rPr sz="1300" b="0">
                          <a:solidFill>
                            <a:srgbClr val="1E1E1E"/>
                          </a:solidFill>
                        </a:rPr>
                        <a:t>YOLOv8m ajustado</a:t>
                      </a:r>
                    </a:p>
                  </a:txBody>
                  <a:tcPr marL="91440" marR="91440" marT="27432" marB="27432" anchor="ctr">
                    <a:solidFill>
                      <a:srgbClr val="EEEDED"/>
                    </a:solidFill>
                  </a:tcPr>
                </a:tc>
                <a:tc>
                  <a:txBody>
                    <a:bodyPr/>
                    <a:lstStyle/>
                    <a:p>
                      <a:r>
                        <a:rPr sz="1300" b="0">
                          <a:solidFill>
                            <a:srgbClr val="1E1E1E"/>
                          </a:solidFill>
                        </a:rPr>
                        <a:t>69 %</a:t>
                      </a:r>
                    </a:p>
                  </a:txBody>
                  <a:tcPr marL="91440" marR="91440" marT="27432" marB="27432" anchor="ctr">
                    <a:solidFill>
                      <a:srgbClr val="EEEDED"/>
                    </a:solidFill>
                  </a:tcPr>
                </a:tc>
                <a:tc>
                  <a:txBody>
                    <a:bodyPr/>
                    <a:lstStyle/>
                    <a:p>
                      <a:r>
                        <a:rPr sz="1300" b="0">
                          <a:solidFill>
                            <a:srgbClr val="1E1E1E"/>
                          </a:solidFill>
                        </a:rPr>
                        <a:t>0,35</a:t>
                      </a:r>
                    </a:p>
                  </a:txBody>
                  <a:tcPr marL="91440" marR="91440" marT="27432" marB="27432" anchor="ctr">
                    <a:solidFill>
                      <a:srgbClr val="EEEDED"/>
                    </a:solidFill>
                  </a:tcPr>
                </a:tc>
                <a:tc>
                  <a:txBody>
                    <a:bodyPr/>
                    <a:lstStyle/>
                    <a:p>
                      <a:r>
                        <a:rPr sz="1300" b="0">
                          <a:solidFill>
                            <a:srgbClr val="1E1E1E"/>
                          </a:solidFill>
                        </a:rPr>
                        <a:t>33 %</a:t>
                      </a:r>
                    </a:p>
                  </a:txBody>
                  <a:tcPr marL="91440" marR="91440" marT="27432" marB="27432" anchor="ctr">
                    <a:solidFill>
                      <a:srgbClr val="EEEDED"/>
                    </a:solidFill>
                  </a:tcPr>
                </a:tc>
                <a:tc>
                  <a:txBody>
                    <a:bodyPr/>
                    <a:lstStyle/>
                    <a:p>
                      <a:r>
                        <a:rPr sz="1300" b="0">
                          <a:solidFill>
                            <a:srgbClr val="1E1E1E"/>
                          </a:solidFill>
                        </a:rPr>
                        <a:t>50 %</a:t>
                      </a:r>
                    </a:p>
                  </a:txBody>
                  <a:tcPr marL="91440" marR="91440" marT="27432" marB="27432" anchor="ctr">
                    <a:solidFill>
                      <a:srgbClr val="EEEDED"/>
                    </a:solidFill>
                  </a:tcPr>
                </a:tc>
                <a:tc>
                  <a:txBody>
                    <a:bodyPr/>
                    <a:lstStyle/>
                    <a:p>
                      <a:r>
                        <a:rPr sz="1300" b="0">
                          <a:solidFill>
                            <a:srgbClr val="1E1E1E"/>
                          </a:solidFill>
                        </a:rPr>
                        <a:t>2,5</a:t>
                      </a:r>
                    </a:p>
                  </a:txBody>
                  <a:tcPr marL="91440" marR="91440" marT="27432" marB="27432" anchor="ctr">
                    <a:solidFill>
                      <a:srgbClr val="EEEDED"/>
                    </a:solidFill>
                  </a:tcPr>
                </a:tc>
              </a:tr>
              <a:tr h="530352">
                <a:tc>
                  <a:txBody>
                    <a:bodyPr/>
                    <a:lstStyle/>
                    <a:p>
                      <a:r>
                        <a:rPr sz="1300" b="0">
                          <a:solidFill>
                            <a:srgbClr val="1E1E1E"/>
                          </a:solidFill>
                        </a:rPr>
                        <a:t>YOLOv8n ajustado + 777 sintéticas (SwimXYZ)</a:t>
                      </a:r>
                    </a:p>
                  </a:txBody>
                  <a:tcPr marL="91440" marR="91440" marT="27432" marB="27432" anchor="ctr">
                    <a:solidFill>
                      <a:srgbClr val="FFFFFF"/>
                    </a:solidFill>
                  </a:tcPr>
                </a:tc>
                <a:tc>
                  <a:txBody>
                    <a:bodyPr/>
                    <a:lstStyle/>
                    <a:p>
                      <a:r>
                        <a:rPr sz="1300" b="0">
                          <a:solidFill>
                            <a:srgbClr val="1E1E1E"/>
                          </a:solidFill>
                        </a:rPr>
                        <a:t>76 %</a:t>
                      </a:r>
                    </a:p>
                  </a:txBody>
                  <a:tcPr marL="91440" marR="91440" marT="27432" marB="27432" anchor="ctr">
                    <a:solidFill>
                      <a:srgbClr val="FFFFFF"/>
                    </a:solidFill>
                  </a:tcPr>
                </a:tc>
                <a:tc>
                  <a:txBody>
                    <a:bodyPr/>
                    <a:lstStyle/>
                    <a:p>
                      <a:r>
                        <a:rPr sz="1300" b="0">
                          <a:solidFill>
                            <a:srgbClr val="1E1E1E"/>
                          </a:solidFill>
                        </a:rPr>
                        <a:t>0,39</a:t>
                      </a:r>
                    </a:p>
                  </a:txBody>
                  <a:tcPr marL="91440" marR="91440" marT="27432" marB="27432" anchor="ctr">
                    <a:solidFill>
                      <a:srgbClr val="FFFFFF"/>
                    </a:solidFill>
                  </a:tcPr>
                </a:tc>
                <a:tc>
                  <a:txBody>
                    <a:bodyPr/>
                    <a:lstStyle/>
                    <a:p>
                      <a:r>
                        <a:rPr sz="1300" b="0">
                          <a:solidFill>
                            <a:srgbClr val="1E1E1E"/>
                          </a:solidFill>
                        </a:rPr>
                        <a:t>38 %</a:t>
                      </a:r>
                    </a:p>
                  </a:txBody>
                  <a:tcPr marL="91440" marR="91440" marT="27432" marB="27432" anchor="ctr">
                    <a:solidFill>
                      <a:srgbClr val="FFFFFF"/>
                    </a:solidFill>
                  </a:tcPr>
                </a:tc>
                <a:tc>
                  <a:txBody>
                    <a:bodyPr/>
                    <a:lstStyle/>
                    <a:p>
                      <a:r>
                        <a:rPr sz="1300" b="0">
                          <a:solidFill>
                            <a:srgbClr val="1E1E1E"/>
                          </a:solidFill>
                        </a:rPr>
                        <a:t>54 %</a:t>
                      </a:r>
                    </a:p>
                  </a:txBody>
                  <a:tcPr marL="91440" marR="91440" marT="27432" marB="27432" anchor="ctr">
                    <a:solidFill>
                      <a:srgbClr val="FFFFFF"/>
                    </a:solidFill>
                  </a:tcPr>
                </a:tc>
                <a:tc>
                  <a:txBody>
                    <a:bodyPr/>
                    <a:lstStyle/>
                    <a:p>
                      <a:r>
                        <a:rPr sz="1300" b="0">
                          <a:solidFill>
                            <a:srgbClr val="1E1E1E"/>
                          </a:solidFill>
                        </a:rPr>
                        <a:t>6,75</a:t>
                      </a:r>
                    </a:p>
                  </a:txBody>
                  <a:tcPr marL="91440" marR="91440" marT="27432" marB="27432" anchor="ctr">
                    <a:solidFill>
                      <a:srgbClr val="FFFFFF"/>
                    </a:solidFill>
                  </a:tcPr>
                </a:tc>
              </a:tr>
            </a:tbl>
          </a:graphicData>
        </a:graphic>
      </p:graphicFrame>
      <p:sp>
        <p:nvSpPr>
          <p:cNvPr id="6" name="TextBox 5"/>
          <p:cNvSpPr txBox="1"/>
          <p:nvPr/>
        </p:nvSpPr>
        <p:spPr>
          <a:xfrm>
            <a:off x="905256" y="640080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Imágenes de Roboflow «Deep Dive Pose Technique» (CC BY 4.0), repartidas por grabación para evitar fuga de datos. Posterior a la entrega.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A3 · Modelo ajustado en vídeos propios</a:t>
            </a:r>
          </a:p>
        </p:txBody>
      </p:sp>
      <p:sp>
        <p:nvSpPr>
          <p:cNvPr id="4" name="Text Placeholder 3"/>
          <p:cNvSpPr>
            <a:spLocks noGrp="1"/>
          </p:cNvSpPr>
          <p:nvPr>
            <p:ph type="body" idx="18" sz="quarter"/>
          </p:nvPr>
        </p:nvSpPr>
        <p:spPr>
          <a:xfrm>
            <a:ext cx="12344400" cy="0"/>
          </a:xfrm>
        </p:spPr>
        <p:txBody>
          <a:bodyPr/>
          <a:lstStyle/>
          <a:p>
            <a:r>
              <a:t>17 secuencias del TFM, misma resolución (640 px)</a:t>
            </a:r>
          </a:p>
        </p:txBody>
      </p:sp>
      <p:graphicFrame>
        <p:nvGraphicFramePr>
          <p:cNvPr id="5" name="Table 4"/>
          <p:cNvGraphicFramePr>
            <a:graphicFrameLocks noGrp="1"/>
          </p:cNvGraphicFramePr>
          <p:nvPr/>
        </p:nvGraphicFramePr>
        <p:xfrm>
          <a:off x="905256" y="2880360"/>
          <a:ext cx="6400800" cy="1645920"/>
        </p:xfrm>
        <a:graphic>
          <a:graphicData uri="http://schemas.openxmlformats.org/drawingml/2006/table">
            <a:tbl>
              <a:tblPr firstRow="1" bandRow="1">
                <a:tableStyleId>{5C22544A-7EE6-4342-B048-85BDC9FD1C3A}</a:tableStyleId>
              </a:tblPr>
              <a:tblGrid>
                <a:gridCol w="2560320"/>
                <a:gridCol w="1920240"/>
                <a:gridCol w="1920240"/>
              </a:tblGrid>
              <a:tr h="548640">
                <a:tc>
                  <a:txBody>
                    <a:bodyPr/>
                    <a:lstStyle/>
                    <a:p/>
                  </a:txBody>
                  <a:tcPr marL="91440" marR="91440" marT="27432" marB="27432" anchor="ctr">
                    <a:solidFill>
                      <a:srgbClr val="FF3228"/>
                    </a:solidFill>
                  </a:tcPr>
                </a:tc>
                <a:tc>
                  <a:txBody>
                    <a:bodyPr/>
                    <a:lstStyle/>
                    <a:p>
                      <a:r>
                        <a:rPr sz="1400" b="1">
                          <a:solidFill>
                            <a:srgbClr val="FFFFFF"/>
                          </a:solidFill>
                        </a:rPr>
                        <a:t>Original</a:t>
                      </a:r>
                    </a:p>
                  </a:txBody>
                  <a:tcPr marL="91440" marR="91440" marT="27432" marB="27432" anchor="ctr">
                    <a:solidFill>
                      <a:srgbClr val="FF3228"/>
                    </a:solidFill>
                  </a:tcPr>
                </a:tc>
                <a:tc>
                  <a:txBody>
                    <a:bodyPr/>
                    <a:lstStyle/>
                    <a:p>
                      <a:r>
                        <a:rPr sz="1400" b="1">
                          <a:solidFill>
                            <a:srgbClr val="FFFFFF"/>
                          </a:solidFill>
                        </a:rPr>
                        <a:t>Ajustado</a:t>
                      </a:r>
                    </a:p>
                  </a:txBody>
                  <a:tcPr marL="91440" marR="91440" marT="27432" marB="27432" anchor="ctr">
                    <a:solidFill>
                      <a:srgbClr val="FF3228"/>
                    </a:solidFill>
                  </a:tcPr>
                </a:tc>
              </a:tr>
              <a:tr h="548640">
                <a:tc>
                  <a:txBody>
                    <a:bodyPr/>
                    <a:lstStyle/>
                    <a:p>
                      <a:r>
                        <a:rPr sz="1400" b="0">
                          <a:solidFill>
                            <a:srgbClr val="1E1E1E"/>
                          </a:solidFill>
                        </a:rPr>
                        <a:t>Tiempo analizable</a:t>
                      </a:r>
                    </a:p>
                  </a:txBody>
                  <a:tcPr marL="91440" marR="91440" marT="27432" marB="27432" anchor="ctr">
                    <a:solidFill>
                      <a:srgbClr val="FFFFFF"/>
                    </a:solidFill>
                  </a:tcPr>
                </a:tc>
                <a:tc>
                  <a:txBody>
                    <a:bodyPr/>
                    <a:lstStyle/>
                    <a:p>
                      <a:r>
                        <a:rPr sz="1400" b="0">
                          <a:solidFill>
                            <a:srgbClr val="1E1E1E"/>
                          </a:solidFill>
                        </a:rPr>
                        <a:t>132 s</a:t>
                      </a:r>
                    </a:p>
                  </a:txBody>
                  <a:tcPr marL="91440" marR="91440" marT="27432" marB="27432" anchor="ctr">
                    <a:solidFill>
                      <a:srgbClr val="FFFFFF"/>
                    </a:solidFill>
                  </a:tcPr>
                </a:tc>
                <a:tc>
                  <a:txBody>
                    <a:bodyPr/>
                    <a:lstStyle/>
                    <a:p>
                      <a:r>
                        <a:rPr sz="1400" b="0">
                          <a:solidFill>
                            <a:srgbClr val="1E1E1E"/>
                          </a:solidFill>
                        </a:rPr>
                        <a:t>166 s</a:t>
                      </a:r>
                    </a:p>
                  </a:txBody>
                  <a:tcPr marL="91440" marR="91440" marT="27432" marB="27432" anchor="ctr">
                    <a:solidFill>
                      <a:srgbClr val="FFFFFF"/>
                    </a:solidFill>
                  </a:tcPr>
                </a:tc>
              </a:tr>
              <a:tr h="548640">
                <a:tc>
                  <a:txBody>
                    <a:bodyPr/>
                    <a:lstStyle/>
                    <a:p>
                      <a:r>
                        <a:rPr sz="1400" b="0">
                          <a:solidFill>
                            <a:srgbClr val="1E1E1E"/>
                          </a:solidFill>
                        </a:rPr>
                        <a:t>Ciclos válidos</a:t>
                      </a:r>
                    </a:p>
                  </a:txBody>
                  <a:tcPr marL="91440" marR="91440" marT="27432" marB="27432" anchor="ctr">
                    <a:solidFill>
                      <a:srgbClr val="EEEDED"/>
                    </a:solidFill>
                  </a:tcPr>
                </a:tc>
                <a:tc>
                  <a:txBody>
                    <a:bodyPr/>
                    <a:lstStyle/>
                    <a:p>
                      <a:r>
                        <a:rPr sz="1400" b="0">
                          <a:solidFill>
                            <a:srgbClr val="1E1E1E"/>
                          </a:solidFill>
                        </a:rPr>
                        <a:t>95</a:t>
                      </a:r>
                    </a:p>
                  </a:txBody>
                  <a:tcPr marL="91440" marR="91440" marT="27432" marB="27432" anchor="ctr">
                    <a:solidFill>
                      <a:srgbClr val="EEEDED"/>
                    </a:solidFill>
                  </a:tcPr>
                </a:tc>
                <a:tc>
                  <a:txBody>
                    <a:bodyPr/>
                    <a:lstStyle/>
                    <a:p>
                      <a:r>
                        <a:rPr sz="1400" b="0">
                          <a:solidFill>
                            <a:srgbClr val="1E1E1E"/>
                          </a:solidFill>
                        </a:rPr>
                        <a:t>109</a:t>
                      </a:r>
                    </a:p>
                  </a:txBody>
                  <a:tcPr marL="91440" marR="91440" marT="27432" marB="27432" anchor="ctr">
                    <a:solidFill>
                      <a:srgbClr val="EEEDED"/>
                    </a:solidFill>
                  </a:tcPr>
                </a:tc>
              </a:tr>
            </a:tbl>
          </a:graphicData>
        </a:graphic>
      </p:graphicFrame>
      <p:graphicFrame>
        <p:nvGraphicFramePr>
          <p:cNvPr id="6" name="Table 5"/>
          <p:cNvGraphicFramePr>
            <a:graphicFrameLocks noGrp="1"/>
          </p:cNvGraphicFramePr>
          <p:nvPr/>
        </p:nvGraphicFramePr>
        <p:xfrm>
          <a:off x="7680960" y="2880360"/>
          <a:ext cx="6035040" cy="2194560"/>
        </p:xfrm>
        <a:graphic>
          <a:graphicData uri="http://schemas.openxmlformats.org/drawingml/2006/table">
            <a:tbl>
              <a:tblPr firstRow="1" bandRow="1">
                <a:tableStyleId>{5C22544A-7EE6-4342-B048-85BDC9FD1C3A}</a:tableStyleId>
              </a:tblPr>
              <a:tblGrid>
                <a:gridCol w="2560320"/>
                <a:gridCol w="1737360"/>
                <a:gridCol w="1737360"/>
              </a:tblGrid>
              <a:tr h="548640">
                <a:tc>
                  <a:txBody>
                    <a:bodyPr/>
                    <a:lstStyle/>
                    <a:p>
                      <a:r>
                        <a:rPr sz="1400" b="1">
                          <a:solidFill>
                            <a:srgbClr val="FFFFFF"/>
                          </a:solidFill>
                        </a:rPr>
                        <a:t>Frecuencia vs. manual</a:t>
                      </a:r>
                    </a:p>
                  </a:txBody>
                  <a:tcPr marL="91440" marR="91440" marT="27432" marB="27432" anchor="ctr">
                    <a:solidFill>
                      <a:srgbClr val="FF3228"/>
                    </a:solidFill>
                  </a:tcPr>
                </a:tc>
                <a:tc>
                  <a:txBody>
                    <a:bodyPr/>
                    <a:lstStyle/>
                    <a:p>
                      <a:r>
                        <a:rPr sz="1400" b="1">
                          <a:solidFill>
                            <a:srgbClr val="FFFFFF"/>
                          </a:solidFill>
                        </a:rPr>
                        <a:t>Original</a:t>
                      </a:r>
                    </a:p>
                  </a:txBody>
                  <a:tcPr marL="91440" marR="91440" marT="27432" marB="27432" anchor="ctr">
                    <a:solidFill>
                      <a:srgbClr val="FF3228"/>
                    </a:solidFill>
                  </a:tcPr>
                </a:tc>
                <a:tc>
                  <a:txBody>
                    <a:bodyPr/>
                    <a:lstStyle/>
                    <a:p>
                      <a:r>
                        <a:rPr sz="1400" b="1">
                          <a:solidFill>
                            <a:srgbClr val="FFFFFF"/>
                          </a:solidFill>
                        </a:rPr>
                        <a:t>Ajustado</a:t>
                      </a:r>
                    </a:p>
                  </a:txBody>
                  <a:tcPr marL="91440" marR="91440" marT="27432" marB="27432" anchor="ctr">
                    <a:solidFill>
                      <a:srgbClr val="FF3228"/>
                    </a:solidFill>
                  </a:tcPr>
                </a:tc>
              </a:tr>
              <a:tr h="548640">
                <a:tc>
                  <a:txBody>
                    <a:bodyPr/>
                    <a:lstStyle/>
                    <a:p>
                      <a:r>
                        <a:rPr sz="1400" b="0">
                          <a:solidFill>
                            <a:srgbClr val="1E1E1E"/>
                          </a:solidFill>
                        </a:rPr>
                        <a:t>GX011614 (54,0)</a:t>
                      </a:r>
                    </a:p>
                  </a:txBody>
                  <a:tcPr marL="91440" marR="91440" marT="27432" marB="27432" anchor="ctr">
                    <a:solidFill>
                      <a:srgbClr val="FFFFFF"/>
                    </a:solidFill>
                  </a:tcPr>
                </a:tc>
                <a:tc>
                  <a:txBody>
                    <a:bodyPr/>
                    <a:lstStyle/>
                    <a:p>
                      <a:r>
                        <a:rPr sz="1400" b="0">
                          <a:solidFill>
                            <a:srgbClr val="1E1E1E"/>
                          </a:solidFill>
                        </a:rPr>
                        <a:t>−6,5 %</a:t>
                      </a:r>
                    </a:p>
                  </a:txBody>
                  <a:tcPr marL="91440" marR="91440" marT="27432" marB="27432" anchor="ctr">
                    <a:solidFill>
                      <a:srgbClr val="FFFFFF"/>
                    </a:solidFill>
                  </a:tcPr>
                </a:tc>
                <a:tc>
                  <a:txBody>
                    <a:bodyPr/>
                    <a:lstStyle/>
                    <a:p>
                      <a:r>
                        <a:rPr sz="1400" b="0">
                          <a:solidFill>
                            <a:srgbClr val="1E1E1E"/>
                          </a:solidFill>
                        </a:rPr>
                        <a:t>+35 %</a:t>
                      </a:r>
                    </a:p>
                  </a:txBody>
                  <a:tcPr marL="91440" marR="91440" marT="27432" marB="27432" anchor="ctr">
                    <a:solidFill>
                      <a:srgbClr val="FFFFFF"/>
                    </a:solidFill>
                  </a:tcPr>
                </a:tc>
              </a:tr>
              <a:tr h="548640">
                <a:tc>
                  <a:txBody>
                    <a:bodyPr/>
                    <a:lstStyle/>
                    <a:p>
                      <a:r>
                        <a:rPr sz="1400" b="0">
                          <a:solidFill>
                            <a:srgbClr val="1E1E1E"/>
                          </a:solidFill>
                        </a:rPr>
                        <a:t>IMG_7207 (80,0)</a:t>
                      </a:r>
                    </a:p>
                  </a:txBody>
                  <a:tcPr marL="91440" marR="91440" marT="27432" marB="27432" anchor="ctr">
                    <a:solidFill>
                      <a:srgbClr val="EEEDED"/>
                    </a:solidFill>
                  </a:tcPr>
                </a:tc>
                <a:tc>
                  <a:txBody>
                    <a:bodyPr/>
                    <a:lstStyle/>
                    <a:p>
                      <a:r>
                        <a:rPr sz="1400" b="0">
                          <a:solidFill>
                            <a:srgbClr val="1E1E1E"/>
                          </a:solidFill>
                        </a:rPr>
                        <a:t>−7,6 %</a:t>
                      </a:r>
                    </a:p>
                  </a:txBody>
                  <a:tcPr marL="91440" marR="91440" marT="27432" marB="27432" anchor="ctr">
                    <a:solidFill>
                      <a:srgbClr val="EEEDED"/>
                    </a:solidFill>
                  </a:tcPr>
                </a:tc>
                <a:tc>
                  <a:txBody>
                    <a:bodyPr/>
                    <a:lstStyle/>
                    <a:p>
                      <a:r>
                        <a:rPr sz="1400" b="0">
                          <a:solidFill>
                            <a:srgbClr val="1E1E1E"/>
                          </a:solidFill>
                        </a:rPr>
                        <a:t>−24 %</a:t>
                      </a:r>
                    </a:p>
                  </a:txBody>
                  <a:tcPr marL="91440" marR="91440" marT="27432" marB="27432" anchor="ctr">
                    <a:solidFill>
                      <a:srgbClr val="EEEDED"/>
                    </a:solidFill>
                  </a:tcPr>
                </a:tc>
              </a:tr>
              <a:tr h="548640">
                <a:tc>
                  <a:txBody>
                    <a:bodyPr/>
                    <a:lstStyle/>
                    <a:p>
                      <a:r>
                        <a:rPr sz="1400" b="0">
                          <a:solidFill>
                            <a:srgbClr val="1E1E1E"/>
                          </a:solidFill>
                        </a:rPr>
                        <a:t>IMG_7215 (51,1)</a:t>
                      </a:r>
                    </a:p>
                  </a:txBody>
                  <a:tcPr marL="91440" marR="91440" marT="27432" marB="27432" anchor="ctr">
                    <a:solidFill>
                      <a:srgbClr val="FFFFFF"/>
                    </a:solidFill>
                  </a:tcPr>
                </a:tc>
                <a:tc>
                  <a:txBody>
                    <a:bodyPr/>
                    <a:lstStyle/>
                    <a:p>
                      <a:r>
                        <a:rPr sz="1400" b="0">
                          <a:solidFill>
                            <a:srgbClr val="1E1E1E"/>
                          </a:solidFill>
                        </a:rPr>
                        <a:t>+8,2 %</a:t>
                      </a:r>
                    </a:p>
                  </a:txBody>
                  <a:tcPr marL="91440" marR="91440" marT="27432" marB="27432" anchor="ctr">
                    <a:solidFill>
                      <a:srgbClr val="FFFFFF"/>
                    </a:solidFill>
                  </a:tcPr>
                </a:tc>
                <a:tc>
                  <a:txBody>
                    <a:bodyPr/>
                    <a:lstStyle/>
                    <a:p>
                      <a:r>
                        <a:rPr sz="1400" b="0">
                          <a:solidFill>
                            <a:srgbClr val="1E1E1E"/>
                          </a:solidFill>
                        </a:rPr>
                        <a:t>+7 %</a:t>
                      </a:r>
                    </a:p>
                  </a:txBody>
                  <a:tcPr marL="91440" marR="91440" marT="27432" marB="27432" anchor="ctr">
                    <a:solidFill>
                      <a:srgbClr val="FFFFFF"/>
                    </a:solidFill>
                  </a:tcPr>
                </a:tc>
              </a:tr>
            </a:tbl>
          </a:graphicData>
        </a:graphic>
      </p:graphicFrame>
      <p:sp>
        <p:nvSpPr>
          <p:cNvPr id="7" name="TextBox 6"/>
          <p:cNvSpPr txBox="1"/>
          <p:nvPr/>
        </p:nvSpPr>
        <p:spPr>
          <a:xfrm>
            <a:off x="905256" y="5394960"/>
            <a:ext cx="12801600" cy="1280160"/>
          </a:xfrm>
          <a:prstGeom prst="rect">
            <a:avLst/>
          </a:prstGeom>
          <a:noFill/>
        </p:spPr>
        <p:txBody>
          <a:bodyPr wrap="square" anchor="t" lIns="0" rIns="0" tIns="0" bIns="0">
            <a:spAutoFit/>
          </a:bodyPr>
          <a:lstStyle/>
          <a:p>
            <a:pPr algn="l">
              <a:spcAft>
                <a:spcPts val="600"/>
              </a:spcAft>
            </a:pPr>
            <a:r>
              <a:rPr sz="1600" b="1">
                <a:solidFill>
                  <a:srgbClr val="1E1E1E"/>
                </a:solidFill>
              </a:rPr>
              <a:t>Conclusión: un mejor modelo de pose no basta; hay que recalibrar el conteo de brazadas, la vista y el estilo con su nueva señal.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A4 · Vídeos públicos de televisión</a:t>
            </a:r>
          </a:p>
        </p:txBody>
      </p:sp>
      <p:sp>
        <p:nvSpPr>
          <p:cNvPr id="4" name="Text Placeholder 3"/>
          <p:cNvSpPr>
            <a:spLocks noGrp="1"/>
          </p:cNvSpPr>
          <p:nvPr>
            <p:ph type="body" idx="18" sz="quarter"/>
          </p:nvPr>
        </p:nvSpPr>
        <p:spPr>
          <a:xfrm>
            <a:ext cx="12344400" cy="0"/>
          </a:xfrm>
        </p:spPr>
        <p:txBody>
          <a:bodyPr/>
          <a:lstStyle/>
          <a:p>
            <a:r>
              <a:t>Robustez fuera de las condiciones de diseño</a:t>
            </a:r>
          </a:p>
        </p:txBody>
      </p:sp>
      <p:sp>
        <p:nvSpPr>
          <p:cNvPr id="5" name="Rectangle 4"/>
          <p:cNvSpPr/>
          <p:nvPr/>
        </p:nvSpPr>
        <p:spPr>
          <a:xfrm>
            <a:off x="905256" y="2834640"/>
            <a:ext cx="6217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108960"/>
            <a:ext cx="5669280" cy="548640"/>
          </a:xfrm>
          <a:prstGeom prst="rect">
            <a:avLst/>
          </a:prstGeom>
          <a:noFill/>
        </p:spPr>
        <p:txBody>
          <a:bodyPr wrap="square" anchor="t" lIns="0" rIns="0" tIns="0" bIns="0">
            <a:spAutoFit/>
          </a:bodyPr>
          <a:lstStyle/>
          <a:p>
            <a:pPr algn="l">
              <a:spcAft>
                <a:spcPts val="600"/>
              </a:spcAft>
            </a:pPr>
            <a:r>
              <a:rPr sz="3000" b="1">
                <a:solidFill>
                  <a:srgbClr val="FF3228"/>
                </a:solidFill>
              </a:rPr>
              <a:t>✗</a:t>
            </a:r>
          </a:p>
        </p:txBody>
      </p:sp>
      <p:sp>
        <p:nvSpPr>
          <p:cNvPr id="7" name="TextBox 6"/>
          <p:cNvSpPr txBox="1"/>
          <p:nvPr/>
        </p:nvSpPr>
        <p:spPr>
          <a:xfrm>
            <a:off x="1179576" y="3703320"/>
            <a:ext cx="5669280" cy="731520"/>
          </a:xfrm>
          <a:prstGeom prst="rect">
            <a:avLst/>
          </a:prstGeom>
          <a:noFill/>
        </p:spPr>
        <p:txBody>
          <a:bodyPr wrap="square" anchor="t" lIns="0" rIns="0" tIns="0" bIns="0">
            <a:spAutoFit/>
          </a:bodyPr>
          <a:lstStyle/>
          <a:p>
            <a:pPr algn="l">
              <a:spcAft>
                <a:spcPts val="600"/>
              </a:spcAft>
            </a:pPr>
            <a:r>
              <a:rPr sz="1800" b="1">
                <a:solidFill>
                  <a:srgbClr val="FF3228"/>
                </a:solidFill>
              </a:rPr>
              <a:t>Retransmisión de carrera (fuera del agua)</a:t>
            </a:r>
          </a:p>
        </p:txBody>
      </p:sp>
      <p:sp>
        <p:nvSpPr>
          <p:cNvPr id="8" name="TextBox 7"/>
          <p:cNvSpPr txBox="1"/>
          <p:nvPr/>
        </p:nvSpPr>
        <p:spPr>
          <a:xfrm>
            <a:off x="1179576" y="4389120"/>
            <a:ext cx="5669280" cy="1280160"/>
          </a:xfrm>
          <a:prstGeom prst="rect">
            <a:avLst/>
          </a:prstGeom>
          <a:noFill/>
        </p:spPr>
        <p:txBody>
          <a:bodyPr wrap="square" anchor="t" lIns="0" rIns="0" tIns="0" bIns="0">
            <a:spAutoFit/>
          </a:bodyPr>
          <a:lstStyle/>
          <a:p>
            <a:pPr algn="l">
              <a:spcAft>
                <a:spcPts val="600"/>
              </a:spcAft>
            </a:pPr>
            <a:r>
              <a:rPr sz="1400" b="0">
                <a:solidFill>
                  <a:srgbClr val="1E1E1E"/>
                </a:solidFill>
              </a:rPr>
              <a:t>Varios nadadores y cambios de plano: el esqueleto salta de uno a otro y la frecuencia varía de 40 a 90 ciclos/min. No fiable.</a:t>
            </a:r>
          </a:p>
        </p:txBody>
      </p:sp>
      <p:sp>
        <p:nvSpPr>
          <p:cNvPr id="9" name="Rectangle 8"/>
          <p:cNvSpPr/>
          <p:nvPr/>
        </p:nvSpPr>
        <p:spPr>
          <a:xfrm>
            <a:off x="7498079" y="2834640"/>
            <a:ext cx="6217920" cy="3017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3108960"/>
            <a:ext cx="5669280" cy="548640"/>
          </a:xfrm>
          <a:prstGeom prst="rect">
            <a:avLst/>
          </a:prstGeom>
          <a:noFill/>
        </p:spPr>
        <p:txBody>
          <a:bodyPr wrap="square" anchor="t" lIns="0" rIns="0" tIns="0" bIns="0">
            <a:spAutoFit/>
          </a:bodyPr>
          <a:lstStyle/>
          <a:p>
            <a:pPr algn="l">
              <a:spcAft>
                <a:spcPts val="600"/>
              </a:spcAft>
            </a:pPr>
            <a:r>
              <a:rPr sz="3000" b="1">
                <a:solidFill>
                  <a:srgbClr val="FFFFFF"/>
                </a:solidFill>
              </a:rPr>
              <a:t>✓</a:t>
            </a:r>
          </a:p>
        </p:txBody>
      </p:sp>
      <p:sp>
        <p:nvSpPr>
          <p:cNvPr id="11" name="TextBox 10"/>
          <p:cNvSpPr txBox="1"/>
          <p:nvPr/>
        </p:nvSpPr>
        <p:spPr>
          <a:xfrm>
            <a:off x="7772400" y="3703320"/>
            <a:ext cx="5669280" cy="731520"/>
          </a:xfrm>
          <a:prstGeom prst="rect">
            <a:avLst/>
          </a:prstGeom>
          <a:noFill/>
        </p:spPr>
        <p:txBody>
          <a:bodyPr wrap="square" anchor="t" lIns="0" rIns="0" tIns="0" bIns="0">
            <a:spAutoFit/>
          </a:bodyPr>
          <a:lstStyle/>
          <a:p>
            <a:pPr algn="l">
              <a:spcAft>
                <a:spcPts val="600"/>
              </a:spcAft>
            </a:pPr>
            <a:r>
              <a:rPr sz="1800" b="1">
                <a:solidFill>
                  <a:srgbClr val="FFFFFF"/>
                </a:solidFill>
              </a:rPr>
              <a:t>Cámara en el fondo, un nadador</a:t>
            </a:r>
          </a:p>
        </p:txBody>
      </p:sp>
      <p:sp>
        <p:nvSpPr>
          <p:cNvPr id="12" name="TextBox 11"/>
          <p:cNvSpPr txBox="1"/>
          <p:nvPr/>
        </p:nvSpPr>
        <p:spPr>
          <a:xfrm>
            <a:off x="7772400" y="4389120"/>
            <a:ext cx="5669280" cy="1280160"/>
          </a:xfrm>
          <a:prstGeom prst="rect">
            <a:avLst/>
          </a:prstGeom>
          <a:noFill/>
        </p:spPr>
        <p:txBody>
          <a:bodyPr wrap="square" anchor="t" lIns="0" rIns="0" tIns="0" bIns="0">
            <a:spAutoFit/>
          </a:bodyPr>
          <a:lstStyle/>
          <a:p>
            <a:pPr algn="l">
              <a:spcAft>
                <a:spcPts val="600"/>
              </a:spcAft>
            </a:pPr>
            <a:r>
              <a:rPr sz="1400" b="0">
                <a:solidFill>
                  <a:srgbClr val="FFFFFF"/>
                </a:solidFill>
              </a:rPr>
              <a:t>Vista frontal detectada automáticamente y nadador seguido. 18 s: insuficiente para fatiga; frecuencia pendiente de conteo manual.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A5 · Fatiga en las sesiones reales</a:t>
            </a:r>
          </a:p>
        </p:txBody>
      </p:sp>
      <p:sp>
        <p:nvSpPr>
          <p:cNvPr id="4" name="Text Placeholder 3"/>
          <p:cNvSpPr>
            <a:spLocks noGrp="1"/>
          </p:cNvSpPr>
          <p:nvPr>
            <p:ph type="body" idx="18" sz="quarter"/>
          </p:nvPr>
        </p:nvSpPr>
        <p:spPr>
          <a:xfrm>
            <a:ext cx="12344400" cy="0"/>
          </a:xfrm>
        </p:spPr>
        <p:txBody>
          <a:bodyPr/>
          <a:lstStyle/>
          <a:p>
            <a:r>
              <a:t>Sesiones de pasadas cortas del mismo participante, estilo y cámara</a:t>
            </a:r>
          </a:p>
        </p:txBody>
      </p:sp>
      <p:graphicFrame>
        <p:nvGraphicFramePr>
          <p:cNvPr id="5" name="Table 4"/>
          <p:cNvGraphicFramePr>
            <a:graphicFrameLocks noGrp="1"/>
          </p:cNvGraphicFramePr>
          <p:nvPr/>
        </p:nvGraphicFramePr>
        <p:xfrm>
          <a:off x="905256" y="2880360"/>
          <a:ext cx="12801600" cy="3182112"/>
        </p:xfrm>
        <a:graphic>
          <a:graphicData uri="http://schemas.openxmlformats.org/drawingml/2006/table">
            <a:tbl>
              <a:tblPr firstRow="1" bandRow="1">
                <a:tableStyleId>{5C22544A-7EE6-4342-B048-85BDC9FD1C3A}</a:tableStyleId>
              </a:tblPr>
              <a:tblGrid>
                <a:gridCol w="4572000"/>
                <a:gridCol w="2194560"/>
                <a:gridCol w="1828800"/>
                <a:gridCol w="4206240"/>
              </a:tblGrid>
              <a:tr h="530352">
                <a:tc>
                  <a:txBody>
                    <a:bodyPr/>
                    <a:lstStyle/>
                    <a:p>
                      <a:r>
                        <a:rPr sz="1400" b="1">
                          <a:solidFill>
                            <a:srgbClr val="FFFFFF"/>
                          </a:solidFill>
                        </a:rPr>
                        <a:t>Sesión</a:t>
                      </a:r>
                    </a:p>
                  </a:txBody>
                  <a:tcPr marL="91440" marR="91440" marT="27432" marB="27432" anchor="ctr">
                    <a:solidFill>
                      <a:srgbClr val="FF3228"/>
                    </a:solidFill>
                  </a:tcPr>
                </a:tc>
                <a:tc>
                  <a:txBody>
                    <a:bodyPr/>
                    <a:lstStyle/>
                    <a:p>
                      <a:r>
                        <a:rPr sz="1400" b="1">
                          <a:solidFill>
                            <a:srgbClr val="FFFFFF"/>
                          </a:solidFill>
                        </a:rPr>
                        <a:t>Secuencias</a:t>
                      </a:r>
                    </a:p>
                  </a:txBody>
                  <a:tcPr marL="91440" marR="91440" marT="27432" marB="27432" anchor="ctr">
                    <a:solidFill>
                      <a:srgbClr val="FF3228"/>
                    </a:solidFill>
                  </a:tcPr>
                </a:tc>
                <a:tc>
                  <a:txBody>
                    <a:bodyPr/>
                    <a:lstStyle/>
                    <a:p>
                      <a:r>
                        <a:rPr sz="1400" b="1">
                          <a:solidFill>
                            <a:srgbClr val="FFFFFF"/>
                          </a:solidFill>
                        </a:rPr>
                        <a:t>Ciclos</a:t>
                      </a:r>
                    </a:p>
                  </a:txBody>
                  <a:tcPr marL="91440" marR="91440" marT="27432" marB="27432" anchor="ctr">
                    <a:solidFill>
                      <a:srgbClr val="FF3228"/>
                    </a:solidFill>
                  </a:tcPr>
                </a:tc>
                <a:tc>
                  <a:txBody>
                    <a:bodyPr/>
                    <a:lstStyle/>
                    <a:p>
                      <a:r>
                        <a:rPr sz="1400" b="1">
                          <a:solidFill>
                            <a:srgbClr val="FFFFFF"/>
                          </a:solidFill>
                        </a:rPr>
                        <a:t>Resultado</a:t>
                      </a:r>
                    </a:p>
                  </a:txBody>
                  <a:tcPr marL="91440" marR="91440" marT="27432" marB="27432" anchor="ctr">
                    <a:solidFill>
                      <a:srgbClr val="FF3228"/>
                    </a:solidFill>
                  </a:tcPr>
                </a:tc>
              </a:tr>
              <a:tr h="530352">
                <a:tc>
                  <a:txBody>
                    <a:bodyPr/>
                    <a:lstStyle/>
                    <a:p>
                      <a:r>
                        <a:rPr sz="1400" b="0">
                          <a:solidFill>
                            <a:srgbClr val="1E1E1E"/>
                          </a:solidFill>
                        </a:rPr>
                        <a:t>P1 · crol · GoPro</a:t>
                      </a:r>
                    </a:p>
                  </a:txBody>
                  <a:tcPr marL="91440" marR="91440" marT="27432" marB="27432" anchor="ctr">
                    <a:solidFill>
                      <a:srgbClr val="FFFFFF"/>
                    </a:solidFill>
                  </a:tcPr>
                </a:tc>
                <a:tc>
                  <a:txBody>
                    <a:bodyPr/>
                    <a:lstStyle/>
                    <a:p>
                      <a:r>
                        <a:rPr sz="1400" b="0">
                          <a:solidFill>
                            <a:srgbClr val="1E1E1E"/>
                          </a:solidFill>
                        </a:rPr>
                        <a:t>3</a:t>
                      </a:r>
                    </a:p>
                  </a:txBody>
                  <a:tcPr marL="91440" marR="91440" marT="27432" marB="27432" anchor="ctr">
                    <a:solidFill>
                      <a:srgbClr val="FFFFFF"/>
                    </a:solidFill>
                  </a:tcPr>
                </a:tc>
                <a:tc>
                  <a:txBody>
                    <a:bodyPr/>
                    <a:lstStyle/>
                    <a:p>
                      <a:r>
                        <a:rPr sz="1400" b="0">
                          <a:solidFill>
                            <a:srgbClr val="1E1E1E"/>
                          </a:solidFill>
                        </a:rPr>
                        <a:t>10</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P1 · crol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7</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P4 · braza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27</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P4 · braza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4</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P3 · mariposa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26</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