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19" r:id="rId11"/>
    <p:sldId id="350" r:id="rId42"/>
    <p:sldId id="351" r:id="rId43"/>
    <p:sldId id="344" r:id="rId36"/>
    <p:sldId id="345" r:id="rId37"/>
    <p:sldId id="346" r:id="rId38"/>
    <p:sldId id="347" r:id="rId39"/>
    <p:sldId id="333" r:id="rId25"/>
    <p:sldId id="334" r:id="rId26"/>
    <p:sldId id="337" r:id="rId29"/>
    <p:sldId id="352" r:id="rId44"/>
    <p:sldId id="339" r:id="rId31"/>
    <p:sldId id="353" r:id="rId45"/>
    <p:sldId id="354" r:id="rId46"/>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1" Type="http://schemas.openxmlformats.org/officeDocument/2006/relationships/slide" Target="slides/slide2.xml"/><Relationship Id="rId25" Type="http://schemas.openxmlformats.org/officeDocument/2006/relationships/slide" Target="slides/slide16.xml"/><Relationship Id="rId26" Type="http://schemas.openxmlformats.org/officeDocument/2006/relationships/slide" Target="slides/slide17.xml"/><Relationship Id="rId29" Type="http://schemas.openxmlformats.org/officeDocument/2006/relationships/slide" Target="slides/slide20.xml"/><Relationship Id="rId31" Type="http://schemas.openxmlformats.org/officeDocument/2006/relationships/slide" Target="slides/slide22.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30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guion: el problema y el objetivo, el método y los algoritmos, la validación, una demostración con un 100 m libre y el alcance con las conclusiones. [≈ 20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parte más importante para el director es la explicación. Para el ciclo en que empieza la fatiga, TreeSHAP reparte la puntuación de anomalía entre las variables. En la secuencia sintética de 90 s el inicio se detecta en el ciclo 35, a los 51,9 segundos, y las causas son el alcance del brazo derecho, que pasa de 1,78 a 1,05 troncos, la asimetría de brazos, del 2 al 23 %, y la amplitud de patada. Son justo variables que se alteraron en la simulación: la explicación es verificable. Uso TreeSHAP porque da los valores exactos en modelos de árboles, y compruebo en cada ejecución que el signo es coherente. [≈ 55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el estilo empecé con XGBoost y lo cambié por un bosque aleatorio, más sencillo y con SHAP exacto. Lo validé por vídeo, con GroupKFold, para no mezclar ventanas del mismo vídeo en entrenamiento y prueba. Con datos sintéticos acertaba el 100 %. Con vídeos reales, dejando un vídeo fuera, el 45,5 %, apenas por encima del 36,4 % de decir siempre la clase mayoritaria; y dejando fuera a un participante, el 9,1 %: había aprendido a reconocer al nadador, no el estilo. Por eso pasé a reglas que salen de la definición de cada estilo: si las manos se mueven a la vez o alternas, y la altura de la cabeza. Aciertan la familia en 12 de 13 vídeos, que es lo que necesito para contar ciclos. Los umbrales los fijé con esos vídeos, así que el dato es optimista. [≈ 1 min 10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no tengo una referencia real de fatiga, construí un generador de datos sintéticos en el que sé la verdad: la frecuencia, la velocidad y el momento exacto en que empieza la fatiga. Con él, el error mediano es del 4,7 % en frecuencia, del 1,3 % en velocidad y del 4,3 % en distancia por ciclo. El detector encuentra la fatiga en el 100 % de los casos con un 10 % de falsas alarmas, y en tiempo real detecta 10 de 10 sin falsas alarmas. Son datos sintéticos y así los presento: sirven para comprobar que el método funciona cuando la verdad se conoce. [≈ 55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terminar, una demostración con una grabación de 100 m libre a ritmo suave, hecha después de entregar la memoria; no forma parte de sus resultados. [Reproducir el vídeo.] El sistema decidió solo que la vista era lateral y el estilo crol. Arriba a la izquierda se ve en cada momento el tiempo, el ciclo, la frecuencia y si el nadador está fresco o fatigado; abajo, la barra con la anomalía de cada ciclo. Obtuvo 20 ciclos válidos a 56 ciclos por minuto y no declaró fatiga sostenida, lo esperable en un 100 m a ritmo suave. No hay nada dibujado sobre el nadador: solo el panel. [≈ 55 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sistema entero, etapa a etapa. La regla para elegir fue siempre la misma: que funcione en la CPU de un portátil, con vídeo bajo el agua y sin etiquetas de fatiga, y que se pueda explicar. En la columna de la derecha está el porqué de cada elección frente a la alternativa. Las dos verticales: la visión saca los puntos del cuerpo; la tabular convierte esos puntos en variables por ciclo, detecta la fatiga y la explica. Los datos: 17 secuencias reales de 4 participantes, sin ningún fotograma anotado, así que valido con mi conteo manual y con datos sintéticos donde conozco la verdad. No entrené un modelo de pose propio: no había fotogramas anotados, no había GPU y los modelos preentrenados ya saben cómo es un cuerpo. [≈ 1 min 5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Comparé los modelos en mi propio vídeo subacuático, porque la precisión publicada en COCO es con personas en tierra. YOLOv8n detecta lo mismo que YOLOv8s con 3,3 millones de parámetros frente a 11,6 y a 6,6 FPS frente a 3,3; YOLO11n queda equivalente sin ser más rápido. MoveNet fue mi primera elección por fluidez, pero YOLO detecta con el doble de confianza y da 15 ciclos válidos frente a 3; HRNet y ViTPose son más precisos en COCO pero caros en CPU. Como YOLO se entrenó con personas de pie, lo adapté: giro el fotograma 90 grados si detecta mejor, descarto cuerpos imposibles y suavizo con Savitzky-Golay. El 3D de MotionBERT pone la rodilla doblada como si el nadador estuviera sentado, así que en lateral uso el 2D y el 3D solo de frente. [≈ 1 min 5 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vista se decide sola: por tramos de 60 segundos miro si el tronco aparece horizontal o vertical. En lateral cuento brazadas con la mano más profunda respecto al cuerpo, porque YOLO copia el brazo visible en el oculto: cada pico es una brazada y en crol dos brazadas son un ciclo. De frente esa profundidad no se ve y uso el recorrido de cada muñeca en la dirección en que más se mueve, que saco con PCA. Lo validé con mi conteo manual: error entre el 6,5 y el 8,2 %, en lateral y en frontal. [≈ 50 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inicial era una red recurrente supervisada, pero hacen falta ciclos etiquetados como fatigados y no los hay. Por eso uso Isolation Forest, que se entrena solo con la fase fresca del propio nadador, el primer 30 % de sus ciclos. Su idea: lo raro se aísla con pocos cortes aleatorios. Además tiene coste lineal y admite SHAP exacto. El inicio es el primer momento con tres ciclos seguidos por encima del percentil 95 de la fase fresca. Ese percentil lo elegí con un análisis de sensibilidad: con el 90 hay un 30 % de falsas alarmas y con el 99 se pierden fatigas. PELT, un detector de cambios independiente, sirve de contraste. [≈ 1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fatiga, la técnica se degrada: sube la frecuencia, baja la distancia por ciclo y cambia la coordinación de los brazos. Hoy el entrenador lo valora a ojo, y así no puede saber en qué momento empieza ni qué variable cambia primero. Los sistemas comerciales necesitan sensores inerciales, varias cámaras o marcadores, y dan métricas sin explicar su relación con el estado del nadador. Los trabajos existentes miden la técnica o detectan la fatiga, pero no combinan las dos cosas con una explicación, en algo barato que funcione en un portátil. De ahí salen mis tres preguntas de investigación; la tercera es la central: sin etiquetas de fatiga, ¿en qué ciclo se degrada la técnica y qué variables lo explican? [≈ 1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objetivo general es un sistema de IA explicable que, desde un vídeo y en un portátil sin GPU, cuantifique la eficiencia de la técnica, detecte el inicio de la fatiga y atribuya sus causas a variables biomecánicas con valores de Shapley. Lo concreté en nueve objetivos específicos que agrupo en cuatro bloques: visión, ciclos y variables, fatiga explicable, y entrega y validación. La aportación no está en el detector de pose, que es preentrenado, sino en lo que construyo encima: la adaptación a la natación y la vertical tabular explicable. Es lo que pidió el director: la explicabilidad como eje y dos verticales de IA. [≈ 55 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quedan los nueve objetivos. Con vídeo real: la frecuencia de ciclo con un error del 6,5 al 8,2 % frente al conteo manual, 95 ciclos válidos en 17 secuencias y la familia del estilo en 12 de 13; con datos sintéticos, lo que acabo de mostrar. Los dos parciales son honestos: a la fatiga le falta una referencia fisiológica real, y el estilo supervisado no generalizaba, por eso pasé a reglas. [≈ 40 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Quiero ser clara con el alcance. La fatiga está validada con datos sintéticos; con nadadores reales solo tengo pasadas cortas, que no producen fatiga. El nadador es analizable un tercio del tiempo. Y los umbrales de vista y estilo los fijé con los mismos vídeos. La debilidad está en los datos, no en la arquitectura: el sistema está preparado para validarse en cuanto haya series largas con una referencia fisiológica. La lección que me llevo es que la calidad de los datos pesa más que el modelo: un 99,99 % de una versión anterior era fuga de datos, y desde entonces contrasté cada resultado con una referencia. Muchas gracias. [≈ 55 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Quedo a disposición del tribunal para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 Id="rId3" Type="http://schemas.openxmlformats.org/officeDocument/2006/relationships/image" Target="../media/image5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0.xml"/><Relationship Id="rId3" Type="http://schemas.openxmlformats.org/officeDocument/2006/relationships/image" Target="../media/image5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9.xml"/><Relationship Id="rId3" Type="http://schemas.openxmlformats.org/officeDocument/2006/relationships/image" Target="../media/image5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0.xml"/><Relationship Id="rId3" Type="http://schemas.openxmlformats.org/officeDocument/2006/relationships/image" Target="../media/image5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600200" y="1005840"/>
            <a:ext cx="5486400" cy="1097280"/>
          </a:xfrm>
        </p:spPr>
        <p:txBody>
          <a:bodyPr/>
          <a:lstStyle/>
          <a:p>
            <a:r>
              <a:rPr sz="4400"/>
              <a:t>Guion</a:t>
            </a:r>
          </a:p>
        </p:txBody>
      </p:sp>
      <p:sp>
        <p:nvSpPr>
          <p:cNvPr id="3" name="Text Placeholder 2"/>
          <p:cNvSpPr>
            <a:spLocks noGrp="1"/>
          </p:cNvSpPr>
          <p:nvPr>
            <p:ph type="body" idx="15" sz="quarter"/>
          </p:nvPr>
        </p:nvSpPr>
        <p:spPr>
          <a:xfrm>
            <a:off x="1600200" y="2377440"/>
            <a:ext cx="8229600" cy="4206240"/>
          </a:xfrm>
        </p:spPr>
        <p:txBody>
          <a:bodyPr/>
          <a:lstStyle/>
          <a:p>
            <a:pPr>
              <a:spcAft>
                <a:spcPts val="1400"/>
              </a:spcAft>
            </a:pPr>
            <a:r>
              <a:rPr b="1" sz="2400">
                <a:solidFill>
                  <a:srgbClr val="FF3228"/>
                </a:solidFill>
              </a:rPr>
              <a:t>01   </a:t>
            </a:r>
            <a:r>
              <a:rPr sz="2400"/>
              <a:t>El problema y el objetivo</a:t>
            </a:r>
          </a:p>
          <a:p>
            <a:pPr>
              <a:spcAft>
                <a:spcPts val="1400"/>
              </a:spcAft>
            </a:pPr>
            <a:r>
              <a:rPr b="1" sz="2400">
                <a:solidFill>
                  <a:srgbClr val="FF3228"/>
                </a:solidFill>
              </a:rPr>
              <a:t>02   </a:t>
            </a:r>
            <a:r>
              <a:rPr sz="2400"/>
              <a:t>Método y algoritmos</a:t>
            </a:r>
          </a:p>
          <a:p>
            <a:pPr>
              <a:spcAft>
                <a:spcPts val="1400"/>
              </a:spcAft>
            </a:pPr>
            <a:r>
              <a:rPr b="1" sz="2400">
                <a:solidFill>
                  <a:srgbClr val="FF3228"/>
                </a:solidFill>
              </a:rPr>
              <a:t>03   </a:t>
            </a:r>
            <a:r>
              <a:rPr sz="2400"/>
              <a:t>Validación y resultados</a:t>
            </a:r>
          </a:p>
          <a:p>
            <a:pPr>
              <a:spcAft>
                <a:spcPts val="1400"/>
              </a:spcAft>
            </a:pPr>
            <a:r>
              <a:rPr b="1" sz="2400">
                <a:solidFill>
                  <a:srgbClr val="FF3228"/>
                </a:solidFill>
              </a:rPr>
              <a:t>04   </a:t>
            </a:r>
            <a:r>
              <a:rPr sz="2400"/>
              <a:t>Demostración: 100 m libre</a:t>
            </a:r>
          </a:p>
          <a:p>
            <a:pPr>
              <a:spcAft>
                <a:spcPts val="1400"/>
              </a:spcAft>
            </a:pPr>
            <a:r>
              <a:rPr b="1" sz="2400">
                <a:solidFill>
                  <a:srgbClr val="FF3228"/>
                </a:solidFill>
              </a:rPr>
              <a:t>05   </a:t>
            </a:r>
            <a:r>
              <a:rPr sz="2400"/>
              <a:t>Alcance y conclusiones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SHAP explica la fatiga</a:t>
            </a:r>
          </a:p>
        </p:txBody>
      </p:sp>
      <p:sp>
        <p:nvSpPr>
          <p:cNvPr id="4" name="Text Placeholder 3"/>
          <p:cNvSpPr>
            <a:spLocks noGrp="1"/>
          </p:cNvSpPr>
          <p:nvPr>
            <p:ph type="body" idx="18" sz="quarter"/>
          </p:nvPr>
        </p:nvSpPr>
        <p:spPr>
          <a:xfrm>
            <a:off x="906463" y="2172974"/>
            <a:ext cx="12344400" cy="594092"/>
          </a:xfrm>
        </p:spPr>
        <p:txBody>
          <a:bodyPr/>
          <a:lstStyle/>
          <a:p>
            <a:r>
              <a:t>Atribución local en el ciclo de inicio (secuencia sintética de 90 s)</a:t>
            </a:r>
          </a:p>
        </p:txBody>
      </p:sp>
      <p:pic>
        <p:nvPicPr>
          <p:cNvPr id="5" name="Picture 4" descr="sintetico_shap_waterfall_inicio.png"/>
          <p:cNvPicPr>
            <a:picLocks noChangeAspect="1"/>
          </p:cNvPicPr>
          <p:nvPr/>
        </p:nvPicPr>
        <p:blipFill>
          <a:blip r:embed="rId3"/>
          <a:stretch>
            <a:fillRect/>
          </a:stretch>
        </p:blipFill>
        <p:spPr>
          <a:xfrm>
            <a:off x="1091858" y="2651760"/>
            <a:ext cx="6027594" cy="4572000"/>
          </a:xfrm>
          <a:prstGeom prst="rect">
            <a:avLst/>
          </a:prstGeom>
        </p:spPr>
      </p:pic>
      <p:sp>
        <p:nvSpPr>
          <p:cNvPr id="6" name="Rectangle 5"/>
          <p:cNvSpPr/>
          <p:nvPr/>
        </p:nvSpPr>
        <p:spPr>
          <a:xfrm>
            <a:off x="7772400" y="2788920"/>
            <a:ext cx="5943600" cy="21945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3017520"/>
            <a:ext cx="5394960" cy="1828800"/>
          </a:xfrm>
          <a:prstGeom prst="rect">
            <a:avLst/>
          </a:prstGeom>
          <a:noFill/>
        </p:spPr>
        <p:txBody>
          <a:bodyPr wrap="square" anchor="t" lIns="0" rIns="0" tIns="0" bIns="0">
            <a:spAutoFit/>
          </a:bodyPr>
          <a:lstStyle/>
          <a:p>
            <a:pPr algn="l">
              <a:spcAft>
                <a:spcPts val="600"/>
              </a:spcAft>
            </a:pPr>
            <a:r>
              <a:rPr sz="1600" b="1">
                <a:solidFill>
                  <a:srgbClr val="FF3228"/>
                </a:solidFill>
              </a:rPr>
              <a:t>Lo que lee el entrenador</a:t>
            </a:r>
          </a:p>
          <a:p>
            <a:pPr algn="l">
              <a:spcAft>
                <a:spcPts val="600"/>
              </a:spcAft>
            </a:pPr>
            <a:r>
              <a:rPr sz="1500" b="0">
                <a:solidFill>
                  <a:srgbClr val="FFFFFF"/>
                </a:solidFill>
              </a:rPr>
              <a:t>Inicio de la fatiga en el ciclo 35 (t = 51,9 s). Causas: alcance del brazo derecho (1,78 → 1,05 troncos), asimetría de brazos (2 % → 23 %) y amplitud de patada (0,31 → 0,21 troncos).</a:t>
            </a:r>
          </a:p>
        </p:txBody>
      </p:sp>
      <p:sp>
        <p:nvSpPr>
          <p:cNvPr id="8" name="TextBox 7"/>
          <p:cNvSpPr txBox="1"/>
          <p:nvPr/>
        </p:nvSpPr>
        <p:spPr>
          <a:xfrm>
            <a:off x="7772400" y="5303520"/>
            <a:ext cx="5943600" cy="914400"/>
          </a:xfrm>
          <a:prstGeom prst="rect">
            <a:avLst/>
          </a:prstGeom>
          <a:noFill/>
        </p:spPr>
        <p:txBody>
          <a:bodyPr wrap="square" anchor="t" lIns="0" rIns="0" tIns="0" bIns="0">
            <a:spAutoFit/>
          </a:bodyPr>
          <a:lstStyle/>
          <a:p>
            <a:pPr algn="l">
              <a:spcAft>
                <a:spcPts val="600"/>
              </a:spcAft>
            </a:pPr>
            <a:r>
              <a:rPr sz="1400" b="1">
                <a:solidFill>
                  <a:srgbClr val="1E1E1E"/>
                </a:solidFill>
              </a:rPr>
              <a:t>Las variables señaladas coinciden con las alteradas en la simulación: la explicación es verificable.</a:t>
            </a:r>
          </a:p>
        </p:txBody>
      </p:sp>
      <p:sp>
        <p:nvSpPr>
          <p:cNvPr id="9" name="TextBox 8"/>
          <p:cNvSpPr txBox="1"/>
          <p:nvPr/>
        </p:nvSpPr>
        <p:spPr>
          <a:xfrm>
            <a:off x="7772400" y="5989320"/>
            <a:ext cx="5943600" cy="914400"/>
          </a:xfrm>
          <a:prstGeom prst="rect">
            <a:avLst/>
          </a:prstGeom>
          <a:noFill/>
        </p:spPr>
        <p:txBody>
          <a:bodyPr wrap="square" anchor="t" lIns="0" rIns="0" tIns="0" bIns="0">
            <a:spAutoFit/>
          </a:bodyPr>
          <a:lstStyle/>
          <a:p>
            <a:pPr algn="l">
              <a:spcAft>
                <a:spcPts val="600"/>
              </a:spcAft>
            </a:pPr>
            <a:r>
              <a:rPr sz="1300" b="1">
                <a:solidFill>
                  <a:srgbClr val="FF3228"/>
                </a:solidFill>
              </a:rPr>
              <a:t>Por qué TreeSHAP: </a:t>
            </a:r>
            <a:r>
              <a:rPr sz="1300" b="0">
                <a:solidFill>
                  <a:srgbClr val="1E1E1E"/>
                </a:solidFill>
              </a:rPr>
              <a:t>valores de Shapley exactos para modelos de árboles (como Isolation Forest); el signo se comprueba en cada ejecución (correlación 0,999).</a:t>
            </a:r>
          </a:p>
        </p:txBody>
      </p:sp>
      <p:sp>
        <p:nvSpPr>
          <p:cNvPr id="10" name="TextBox 9"/>
          <p:cNvSpPr txBox="1"/>
          <p:nvPr/>
        </p:nvSpPr>
        <p:spPr>
          <a:xfrm>
            <a:off x="905256" y="7269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de referencia conocida (memoria, Figura 7 y apartado 4.6.2).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Estilo: del modelo supervisado a reglas</a:t>
            </a:r>
          </a:p>
        </p:txBody>
      </p:sp>
      <p:sp>
        <p:nvSpPr>
          <p:cNvPr id="4" name="Text Placeholder 3"/>
          <p:cNvSpPr>
            <a:spLocks noGrp="1"/>
          </p:cNvSpPr>
          <p:nvPr>
            <p:ph type="body" idx="18" sz="quarter"/>
          </p:nvPr>
        </p:nvSpPr>
        <p:spPr>
          <a:xfrm>
            <a:off x="906463" y="2172974"/>
            <a:ext cx="12344400" cy="594092"/>
          </a:xfrm>
        </p:spPr>
        <p:txBody>
          <a:bodyPr/>
          <a:lstStyle/>
          <a:p>
            <a:r>
              <a:t>El 100 % con datos sintéticos no se mantenía con nadadores reales</a:t>
            </a:r>
          </a:p>
        </p:txBody>
      </p:sp>
      <p:sp>
        <p:nvSpPr>
          <p:cNvPr id="5" name="Rectangle 4"/>
          <p:cNvSpPr/>
          <p:nvPr/>
        </p:nvSpPr>
        <p:spPr>
          <a:xfrm>
            <a:off x="905256" y="2743200"/>
            <a:ext cx="3931920" cy="35661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XGBoost</a:t>
            </a:r>
          </a:p>
        </p:txBody>
      </p:sp>
      <p:sp>
        <p:nvSpPr>
          <p:cNvPr id="8" name="TextBox 7"/>
          <p:cNvSpPr txBox="1"/>
          <p:nvPr/>
        </p:nvSpPr>
        <p:spPr>
          <a:xfrm>
            <a:off x="1179576" y="4297679"/>
            <a:ext cx="3383279" cy="1828800"/>
          </a:xfrm>
          <a:prstGeom prst="rect">
            <a:avLst/>
          </a:prstGeom>
          <a:noFill/>
        </p:spPr>
        <p:txBody>
          <a:bodyPr wrap="square" anchor="t" lIns="0" rIns="0" tIns="0" bIns="0">
            <a:spAutoFit/>
          </a:bodyPr>
          <a:lstStyle/>
          <a:p>
            <a:pPr algn="l">
              <a:spcAft>
                <a:spcPts val="600"/>
              </a:spcAft>
            </a:pPr>
            <a:r>
              <a:rPr sz="1400" b="0">
                <a:solidFill>
                  <a:srgbClr val="1E1E1E"/>
                </a:solidFill>
              </a:rPr>
              <a:t>Boosting: árboles en secuencia que corrigen al anterior. Se sustituyó por un modelo más sencillo y con SHAP exacto.</a:t>
            </a:r>
          </a:p>
        </p:txBody>
      </p:sp>
      <p:sp>
        <p:nvSpPr>
          <p:cNvPr id="9" name="Rectangle 8"/>
          <p:cNvSpPr/>
          <p:nvPr/>
        </p:nvSpPr>
        <p:spPr>
          <a:xfrm>
            <a:off x="5120640" y="2743200"/>
            <a:ext cx="3931920" cy="35661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Bosque aleatorio</a:t>
            </a:r>
          </a:p>
        </p:txBody>
      </p:sp>
      <p:sp>
        <p:nvSpPr>
          <p:cNvPr id="12" name="TextBox 11"/>
          <p:cNvSpPr txBox="1"/>
          <p:nvPr/>
        </p:nvSpPr>
        <p:spPr>
          <a:xfrm>
            <a:off x="5394959" y="4297679"/>
            <a:ext cx="3383279" cy="1828800"/>
          </a:xfrm>
          <a:prstGeom prst="rect">
            <a:avLst/>
          </a:prstGeom>
          <a:noFill/>
        </p:spPr>
        <p:txBody>
          <a:bodyPr wrap="square" anchor="t" lIns="0" rIns="0" tIns="0" bIns="0">
            <a:spAutoFit/>
          </a:bodyPr>
          <a:lstStyle/>
          <a:p>
            <a:pPr algn="l">
              <a:spcAft>
                <a:spcPts val="600"/>
              </a:spcAft>
            </a:pPr>
            <a:r>
              <a:rPr sz="1400" b="0">
                <a:solidFill>
                  <a:srgbClr val="1E1E1E"/>
                </a:solidFill>
              </a:rPr>
              <a:t>300 árboles, ventanas de 4 s, GroupKFold por vídeo. Sintéticos: 100 %. Reales: 45,5 % dejando un vídeo fuera (base 36,4 %) y 9,1 % dejando fuera un participante → aprendía al nadador.</a:t>
            </a:r>
          </a:p>
        </p:txBody>
      </p:sp>
      <p:sp>
        <p:nvSpPr>
          <p:cNvPr id="13" name="Rectangle 12"/>
          <p:cNvSpPr/>
          <p:nvPr/>
        </p:nvSpPr>
        <p:spPr>
          <a:xfrm>
            <a:off x="9336024" y="2743200"/>
            <a:ext cx="3931920" cy="35661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017520"/>
            <a:ext cx="3383279" cy="548640"/>
          </a:xfrm>
          <a:prstGeom prst="rect">
            <a:avLst/>
          </a:prstGeom>
          <a:noFill/>
        </p:spPr>
        <p:txBody>
          <a:bodyPr wrap="square" anchor="t" lIns="0" rIns="0" tIns="0" bIns="0">
            <a:spAutoFit/>
          </a:bodyPr>
          <a:lstStyle/>
          <a:p>
            <a:pPr algn="l">
              <a:spcAft>
                <a:spcPts val="600"/>
              </a:spcAft>
            </a:pPr>
            <a:r>
              <a:rPr sz="3000" b="1">
                <a:solidFill>
                  <a:srgbClr val="FFFFFF"/>
                </a:solidFill>
              </a:rPr>
              <a:t>03</a:t>
            </a:r>
          </a:p>
        </p:txBody>
      </p:sp>
      <p:sp>
        <p:nvSpPr>
          <p:cNvPr id="15" name="TextBox 14"/>
          <p:cNvSpPr txBox="1"/>
          <p:nvPr/>
        </p:nvSpPr>
        <p:spPr>
          <a:xfrm>
            <a:off x="9610344" y="3611879"/>
            <a:ext cx="3383279" cy="731520"/>
          </a:xfrm>
          <a:prstGeom prst="rect">
            <a:avLst/>
          </a:prstGeom>
          <a:noFill/>
        </p:spPr>
        <p:txBody>
          <a:bodyPr wrap="square" anchor="t" lIns="0" rIns="0" tIns="0" bIns="0">
            <a:spAutoFit/>
          </a:bodyPr>
          <a:lstStyle/>
          <a:p>
            <a:pPr algn="l">
              <a:spcAft>
                <a:spcPts val="600"/>
              </a:spcAft>
            </a:pPr>
            <a:r>
              <a:rPr sz="1800" b="1">
                <a:solidFill>
                  <a:srgbClr val="FFFFFF"/>
                </a:solidFill>
              </a:rPr>
              <a:t>Reglas biomecánicas</a:t>
            </a:r>
          </a:p>
        </p:txBody>
      </p:sp>
      <p:sp>
        <p:nvSpPr>
          <p:cNvPr id="16" name="TextBox 15"/>
          <p:cNvSpPr txBox="1"/>
          <p:nvPr/>
        </p:nvSpPr>
        <p:spPr>
          <a:xfrm>
            <a:off x="9610344" y="4297679"/>
            <a:ext cx="3383279" cy="1828800"/>
          </a:xfrm>
          <a:prstGeom prst="rect">
            <a:avLst/>
          </a:prstGeom>
          <a:noFill/>
        </p:spPr>
        <p:txBody>
          <a:bodyPr wrap="square" anchor="t" lIns="0" rIns="0" tIns="0" bIns="0">
            <a:spAutoFit/>
          </a:bodyPr>
          <a:lstStyle/>
          <a:p>
            <a:pPr algn="l">
              <a:spcAft>
                <a:spcPts val="600"/>
              </a:spcAft>
            </a:pPr>
            <a:r>
              <a:rPr sz="1400" b="0">
                <a:solidFill>
                  <a:srgbClr val="FFFFFF"/>
                </a:solidFill>
              </a:rPr>
              <a:t>Sin entrenamiento. Correlación de las manos (0,65 lateral / 0,20 frontal) → alternos o simultáneos; nariz respecto a hombros → braza o espalda. Familia 12/13 reales; estilo 9/13; sintéticos 81 %.</a:t>
            </a:r>
          </a:p>
        </p:txBody>
      </p:sp>
      <p:sp>
        <p:nvSpPr>
          <p:cNvPr id="17" name="TextBox 16"/>
          <p:cNvSpPr txBox="1"/>
          <p:nvPr/>
        </p:nvSpPr>
        <p:spPr>
          <a:xfrm>
            <a:off x="905256" y="653796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Umbrales fijados con los vídeos reales: la exactitud real es optimista. De frente no distingue mariposa de braza. La familia basta para contar ciclos (2 o 1 brazadas).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Validación con referencia conocida</a:t>
            </a:r>
          </a:p>
        </p:txBody>
      </p:sp>
      <p:sp>
        <p:nvSpPr>
          <p:cNvPr id="4" name="Text Placeholder 3"/>
          <p:cNvSpPr>
            <a:spLocks noGrp="1"/>
          </p:cNvSpPr>
          <p:nvPr>
            <p:ph type="body" idx="18" sz="quarter"/>
          </p:nvPr>
        </p:nvSpPr>
        <p:spPr>
          <a:xfrm>
            <a:off x="906463" y="2172974"/>
            <a:ext cx="12344400" cy="594092"/>
          </a:xfrm>
        </p:spPr>
        <p:txBody>
          <a:bodyPr/>
          <a:lstStyle/>
          <a:p>
            <a:r>
              <a:t>Datos sintéticos: se sabe exactamente cuándo empieza la fatiga</a:t>
            </a:r>
          </a:p>
        </p:txBody>
      </p:sp>
      <p:sp>
        <p:nvSpPr>
          <p:cNvPr id="5" name="TextBox 4"/>
          <p:cNvSpPr txBox="1"/>
          <p:nvPr/>
        </p:nvSpPr>
        <p:spPr>
          <a:xfrm>
            <a:off x="90525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4,7 %</a:t>
            </a:r>
          </a:p>
        </p:txBody>
      </p:sp>
      <p:sp>
        <p:nvSpPr>
          <p:cNvPr id="6" name="TextBox 5"/>
          <p:cNvSpPr txBox="1"/>
          <p:nvPr/>
        </p:nvSpPr>
        <p:spPr>
          <a:xfrm>
            <a:off x="90525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7" name="TextBox 6"/>
          <p:cNvSpPr txBox="1"/>
          <p:nvPr/>
        </p:nvSpPr>
        <p:spPr>
          <a:xfrm>
            <a:off x="328269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1,3 %</a:t>
            </a:r>
          </a:p>
        </p:txBody>
      </p:sp>
      <p:sp>
        <p:nvSpPr>
          <p:cNvPr id="8" name="TextBox 7"/>
          <p:cNvSpPr txBox="1"/>
          <p:nvPr/>
        </p:nvSpPr>
        <p:spPr>
          <a:xfrm>
            <a:off x="328269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velocidad</a:t>
            </a:r>
          </a:p>
        </p:txBody>
      </p:sp>
      <p:sp>
        <p:nvSpPr>
          <p:cNvPr id="9" name="TextBox 8"/>
          <p:cNvSpPr txBox="1"/>
          <p:nvPr/>
        </p:nvSpPr>
        <p:spPr>
          <a:xfrm>
            <a:off x="566013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4,3 %</a:t>
            </a:r>
          </a:p>
        </p:txBody>
      </p:sp>
      <p:sp>
        <p:nvSpPr>
          <p:cNvPr id="10" name="TextBox 9"/>
          <p:cNvSpPr txBox="1"/>
          <p:nvPr/>
        </p:nvSpPr>
        <p:spPr>
          <a:xfrm>
            <a:off x="566013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distancia por ciclo</a:t>
            </a:r>
          </a:p>
        </p:txBody>
      </p:sp>
      <p:sp>
        <p:nvSpPr>
          <p:cNvPr id="11" name="Rectangle 10"/>
          <p:cNvSpPr/>
          <p:nvPr/>
        </p:nvSpPr>
        <p:spPr>
          <a:xfrm>
            <a:off x="905256" y="4846320"/>
            <a:ext cx="6766560" cy="201168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029200"/>
            <a:ext cx="3017520" cy="1737360"/>
          </a:xfrm>
          <a:prstGeom prst="rect">
            <a:avLst/>
          </a:prstGeom>
          <a:noFill/>
        </p:spPr>
        <p:txBody>
          <a:bodyPr wrap="square" anchor="t" lIns="0" rIns="0" tIns="0" bIns="0">
            <a:spAutoFit/>
          </a:bodyPr>
          <a:lstStyle/>
          <a:p>
            <a:pPr algn="l">
              <a:spcAft>
                <a:spcPts val="600"/>
              </a:spcAft>
            </a:pPr>
            <a:r>
              <a:rPr sz="4000" b="1">
                <a:solidFill>
                  <a:srgbClr val="FFFFFF"/>
                </a:solidFill>
              </a:rPr>
              <a:t>100 %</a:t>
            </a:r>
          </a:p>
          <a:p>
            <a:pPr algn="l">
              <a:spcAft>
                <a:spcPts val="600"/>
              </a:spcAft>
            </a:pPr>
            <a:r>
              <a:rPr sz="1300" b="0">
                <a:solidFill>
                  <a:srgbClr val="FFFFFF"/>
                </a:solidFill>
              </a:rPr>
              <a:t>detección de la fatiga · 10 % de falsas alarmas</a:t>
            </a:r>
          </a:p>
        </p:txBody>
      </p:sp>
      <p:sp>
        <p:nvSpPr>
          <p:cNvPr id="13" name="TextBox 12"/>
          <p:cNvSpPr txBox="1"/>
          <p:nvPr/>
        </p:nvSpPr>
        <p:spPr>
          <a:xfrm>
            <a:off x="4389120" y="5029200"/>
            <a:ext cx="3108960" cy="1737360"/>
          </a:xfrm>
          <a:prstGeom prst="rect">
            <a:avLst/>
          </a:prstGeom>
          <a:noFill/>
        </p:spPr>
        <p:txBody>
          <a:bodyPr wrap="square" anchor="t" lIns="0" rIns="0" tIns="0" bIns="0">
            <a:spAutoFit/>
          </a:bodyPr>
          <a:lstStyle/>
          <a:p>
            <a:pPr algn="l">
              <a:spcAft>
                <a:spcPts val="600"/>
              </a:spcAft>
            </a:pPr>
            <a:r>
              <a:rPr sz="4000" b="1">
                <a:solidFill>
                  <a:srgbClr val="FFFFFF"/>
                </a:solidFill>
              </a:rPr>
              <a:t>10/10</a:t>
            </a:r>
          </a:p>
          <a:p>
            <a:pPr algn="l">
              <a:spcAft>
                <a:spcPts val="600"/>
              </a:spcAft>
            </a:pPr>
            <a:r>
              <a:rPr sz="1300" b="0">
                <a:solidFill>
                  <a:srgbClr val="FFFFFF"/>
                </a:solidFill>
              </a:rPr>
              <a:t>en tiempo real, sin falsas alarmas</a:t>
            </a:r>
          </a:p>
        </p:txBody>
      </p:sp>
      <p:pic>
        <p:nvPicPr>
          <p:cNvPr id="14" name="Picture 13" descr="caso_verdad_vs_sistema.png"/>
          <p:cNvPicPr>
            <a:picLocks noChangeAspect="1"/>
          </p:cNvPicPr>
          <p:nvPr/>
        </p:nvPicPr>
        <p:blipFill>
          <a:blip r:embed="rId3"/>
          <a:stretch>
            <a:fillRect/>
          </a:stretch>
        </p:blipFill>
        <p:spPr>
          <a:xfrm>
            <a:off x="8138160" y="2848356"/>
            <a:ext cx="5577840" cy="3904487"/>
          </a:xfrm>
          <a:prstGeom prst="rect">
            <a:avLst/>
          </a:prstGeom>
        </p:spPr>
      </p:pic>
      <p:sp>
        <p:nvSpPr>
          <p:cNvPr id="15" name="TextBox 14"/>
          <p:cNvSpPr txBox="1"/>
          <p:nvPr/>
        </p:nvSpPr>
        <p:spPr>
          <a:xfrm>
            <a:off x="905256" y="708660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(generador con referencia conocida), presentados como tales.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Demostración: 100 m libre</a:t>
            </a:r>
          </a:p>
        </p:txBody>
      </p:sp>
      <p:sp>
        <p:nvSpPr>
          <p:cNvPr id="4" name="Text Placeholder 3"/>
          <p:cNvSpPr>
            <a:spLocks noGrp="1"/>
          </p:cNvSpPr>
          <p:nvPr>
            <p:ph type="body" idx="18" sz="quarter"/>
          </p:nvPr>
        </p:nvSpPr>
        <p:spPr>
          <a:xfrm>
            <a:off x="906463" y="2172974"/>
            <a:ext cx="12344400" cy="594092"/>
          </a:xfrm>
        </p:spPr>
        <p:txBody>
          <a:bodyPr/>
          <a:lstStyle/>
          <a:p>
            <a:r>
              <a:t>Una grabación nueva analizada con StrokeLab (GoPro, vista lateral)</a:t>
            </a:r>
          </a:p>
        </p:txBody>
      </p:sp>
      <p:sp>
        <p:nvSpPr>
          <p:cNvPr id="5" name="Rectangle 4"/>
          <p:cNvSpPr/>
          <p:nvPr/>
        </p:nvSpPr>
        <p:spPr>
          <a:xfrm>
            <a:off x="905256" y="2743200"/>
            <a:ext cx="7863840" cy="420624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7863840" cy="4206240"/>
          </a:xfrm>
          <a:prstGeom prst="rect">
            <a:avLst/>
          </a:prstGeom>
          <a:noFill/>
        </p:spPr>
        <p:txBody>
          <a:bodyPr wrap="square" anchor="ctr" lIns="0" rIns="0" tIns="0" bIns="0">
            <a:spAutoFit/>
          </a:bodyPr>
          <a:lstStyle/>
          <a:p>
            <a:pPr algn="ctr">
              <a:spcAft>
                <a:spcPts val="600"/>
              </a:spcAft>
            </a:pPr>
            <a:r>
              <a:rPr sz="1400" b="0">
                <a:solidFill>
                  <a:srgbClr val="504B4B"/>
                </a:solidFill>
              </a:rPr>
              <a:t>Insertar aquí el vídeo anotado del 100 suave</a:t>
            </a:r>
          </a:p>
          <a:p>
            <a:pPr algn="ctr">
              <a:spcAft>
                <a:spcPts val="600"/>
              </a:spcAft>
            </a:pPr>
            <a:r>
              <a:rPr sz="1100" b="0">
                <a:solidFill>
                  <a:srgbClr val="504B4B"/>
                </a:solidFill>
              </a:rPr>
              <a:t>Insertar → Vídeo → Este dispositivo</a:t>
            </a:r>
          </a:p>
        </p:txBody>
      </p:sp>
      <p:sp>
        <p:nvSpPr>
          <p:cNvPr id="7" name="Rectangle 6"/>
          <p:cNvSpPr/>
          <p:nvPr/>
        </p:nvSpPr>
        <p:spPr>
          <a:xfrm>
            <a:off x="9052560" y="2743200"/>
            <a:ext cx="4663440" cy="4206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0" y="2926080"/>
            <a:ext cx="4114800" cy="457200"/>
          </a:xfrm>
          <a:prstGeom prst="rect">
            <a:avLst/>
          </a:prstGeom>
          <a:noFill/>
        </p:spPr>
        <p:txBody>
          <a:bodyPr wrap="square" anchor="t" lIns="0" rIns="0" tIns="0" bIns="0">
            <a:spAutoFit/>
          </a:bodyPr>
          <a:lstStyle/>
          <a:p>
            <a:pPr algn="l">
              <a:spcAft>
                <a:spcPts val="600"/>
              </a:spcAft>
            </a:pPr>
            <a:r>
              <a:rPr sz="1700" b="1">
                <a:solidFill>
                  <a:srgbClr val="FF3228"/>
                </a:solidFill>
              </a:rPr>
              <a:t>100 m libre · ritmo suave</a:t>
            </a:r>
          </a:p>
        </p:txBody>
      </p:sp>
      <p:sp>
        <p:nvSpPr>
          <p:cNvPr id="9" name="TextBox 8"/>
          <p:cNvSpPr txBox="1"/>
          <p:nvPr/>
        </p:nvSpPr>
        <p:spPr>
          <a:xfrm>
            <a:off x="9326880" y="3474720"/>
            <a:ext cx="4114800" cy="3383280"/>
          </a:xfrm>
          <a:prstGeom prst="rect">
            <a:avLst/>
          </a:prstGeom>
          <a:noFill/>
        </p:spPr>
        <p:txBody>
          <a:bodyPr wrap="square" anchor="t" lIns="0" rIns="0" tIns="0" bIns="0">
            <a:spAutoFit/>
          </a:bodyPr>
          <a:lstStyle/>
          <a:p>
            <a:pPr algn="l">
              <a:spcAft>
                <a:spcPts val="900"/>
              </a:spcAft>
            </a:pPr>
            <a:r>
              <a:rPr sz="1400" b="0">
                <a:solidFill>
                  <a:srgbClr val="1E1E1E"/>
                </a:solidFill>
              </a:rPr>
              <a:t>•  Vista lateral y estilo crol detectados por el sistema</a:t>
            </a:r>
          </a:p>
          <a:p>
            <a:pPr algn="l">
              <a:spcAft>
                <a:spcPts val="900"/>
              </a:spcAft>
            </a:pPr>
            <a:r>
              <a:rPr sz="1400" b="0">
                <a:solidFill>
                  <a:srgbClr val="1E1E1E"/>
                </a:solidFill>
              </a:rPr>
              <a:t>•  20 ciclos válidos</a:t>
            </a:r>
          </a:p>
          <a:p>
            <a:pPr algn="l">
              <a:spcAft>
                <a:spcPts val="900"/>
              </a:spcAft>
            </a:pPr>
            <a:r>
              <a:rPr sz="1400" b="0">
                <a:solidFill>
                  <a:srgbClr val="1E1E1E"/>
                </a:solidFill>
              </a:rPr>
              <a:t>•  42,5 s analizables de 86 s</a:t>
            </a:r>
          </a:p>
          <a:p>
            <a:pPr algn="l">
              <a:spcAft>
                <a:spcPts val="900"/>
              </a:spcAft>
            </a:pPr>
            <a:r>
              <a:rPr sz="1400" b="0">
                <a:solidFill>
                  <a:srgbClr val="1E1E1E"/>
                </a:solidFill>
              </a:rPr>
              <a:t>•  56 ciclos/min de media</a:t>
            </a:r>
          </a:p>
          <a:p>
            <a:pPr algn="l">
              <a:spcAft>
                <a:spcPts val="900"/>
              </a:spcAft>
            </a:pPr>
            <a:r>
              <a:rPr sz="1400" b="0">
                <a:solidFill>
                  <a:srgbClr val="1E1E1E"/>
                </a:solidFill>
              </a:rPr>
              <a:t>•  Sin fatiga sostenida</a:t>
            </a:r>
          </a:p>
          <a:p>
            <a:pPr algn="l">
              <a:spcAft>
                <a:spcPts val="900"/>
              </a:spcAft>
            </a:pPr>
            <a:r>
              <a:rPr sz="1400" b="0">
                <a:solidFill>
                  <a:srgbClr val="1E1E1E"/>
                </a:solidFill>
              </a:rPr>
              <a:t>•  Panel: tiempo, ciclo, frecuencia y estado FRESCO / FATIGA; barra de anomalía por ciclo</a:t>
            </a:r>
          </a:p>
        </p:txBody>
      </p:sp>
      <p:sp>
        <p:nvSpPr>
          <p:cNvPr id="10" name="TextBox 9"/>
          <p:cNvSpPr txBox="1"/>
          <p:nvPr/>
        </p:nvSpPr>
        <p:spPr>
          <a:xfrm>
            <a:off x="905256" y="708660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Grabación posterior a la entrega, solo como demostración; frecuencia sin validar con conteo manual.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Método: un algoritmo por etapa</a:t>
            </a:r>
          </a:p>
        </p:txBody>
      </p:sp>
      <p:sp>
        <p:nvSpPr>
          <p:cNvPr id="4" name="Text Placeholder 3"/>
          <p:cNvSpPr>
            <a:spLocks noGrp="1"/>
          </p:cNvSpPr>
          <p:nvPr>
            <p:ph type="body" idx="18" sz="quarter"/>
          </p:nvPr>
        </p:nvSpPr>
        <p:spPr>
          <a:xfrm>
            <a:off x="906463" y="2172974"/>
            <a:ext cx="12344400" cy="594092"/>
          </a:xfrm>
        </p:spPr>
        <p:txBody>
          <a:bodyPr/>
          <a:lstStyle/>
          <a:p>
            <a:r>
              <a:t>Vertical de visión (pose) → vertical tabular (ciclos, fatiga, SHAP)</a:t>
            </a:r>
          </a:p>
        </p:txBody>
      </p:sp>
      <p:sp>
        <p:nvSpPr>
          <p:cNvPr id="5" name="Rectangle 4"/>
          <p:cNvSpPr/>
          <p:nvPr/>
        </p:nvSpPr>
        <p:spPr>
          <a:xfrm>
            <a:off x="905256" y="2743200"/>
            <a:ext cx="12801600" cy="6858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2252960" cy="685800"/>
          </a:xfrm>
          <a:prstGeom prst="rect">
            <a:avLst/>
          </a:prstGeom>
          <a:noFill/>
        </p:spPr>
        <p:txBody>
          <a:bodyPr wrap="square" anchor="ctr" lIns="0" rIns="0" tIns="0" bIns="0">
            <a:spAutoFit/>
          </a:bodyPr>
          <a:lstStyle/>
          <a:p>
            <a:pPr algn="l">
              <a:spcAft>
                <a:spcPts val="600"/>
              </a:spcAft>
            </a:pPr>
            <a:r>
              <a:rPr sz="1300" b="1">
                <a:solidFill>
                  <a:srgbClr val="FF3228"/>
                </a:solidFill>
              </a:rPr>
              <a:t>Datos: </a:t>
            </a:r>
            <a:r>
              <a:rPr sz="1300" b="0">
                <a:solidFill>
                  <a:srgbClr val="FFFFFF"/>
                </a:solidFill>
              </a:rPr>
              <a:t>17 secuencias reales · 4 participantes · 4 estilos · 6,6 min (GoPro 5K lateral y móvil desde el borde) · sin fotogramas anotados → validación con conteo manual y datos sintéticos de referencia conocida</a:t>
            </a:r>
          </a:p>
        </p:txBody>
      </p:sp>
      <p:graphicFrame>
        <p:nvGraphicFramePr>
          <p:cNvPr id="7" name="Table 6"/>
          <p:cNvGraphicFramePr>
            <a:graphicFrameLocks noGrp="1"/>
          </p:cNvGraphicFramePr>
          <p:nvPr/>
        </p:nvGraphicFramePr>
        <p:xfrm>
          <a:off x="905256" y="3611880"/>
          <a:ext cx="12801600" cy="3364992"/>
        </p:xfrm>
        <a:graphic>
          <a:graphicData uri="http://schemas.openxmlformats.org/drawingml/2006/table">
            <a:tbl>
              <a:tblPr firstRow="1" bandRow="1">
                <a:tableStyleId>{5C22544A-7EE6-4342-B048-85BDC9FD1C3A}</a:tableStyleId>
              </a:tblPr>
              <a:tblGrid>
                <a:gridCol w="1463040"/>
                <a:gridCol w="3566160"/>
                <a:gridCol w="3291840"/>
                <a:gridCol w="4480560"/>
              </a:tblGrid>
              <a:tr h="420624">
                <a:tc>
                  <a:txBody>
                    <a:bodyPr/>
                    <a:lstStyle/>
                    <a:p>
                      <a:r>
                        <a:rPr sz="1100" b="1">
                          <a:solidFill>
                            <a:srgbClr val="FFFFFF"/>
                          </a:solidFill>
                        </a:rPr>
                        <a:t>Etapa</a:t>
                      </a:r>
                    </a:p>
                  </a:txBody>
                  <a:tcPr marL="91440" marR="91440" marT="27432" marB="27432" anchor="ctr">
                    <a:solidFill>
                      <a:srgbClr val="FF3228"/>
                    </a:solidFill>
                  </a:tcPr>
                </a:tc>
                <a:tc>
                  <a:txBody>
                    <a:bodyPr/>
                    <a:lstStyle/>
                    <a:p>
                      <a:r>
                        <a:rPr sz="1100" b="1">
                          <a:solidFill>
                            <a:srgbClr val="FFFFFF"/>
                          </a:solidFill>
                        </a:rPr>
                        <a:t>Algoritmo elegido</a:t>
                      </a:r>
                    </a:p>
                  </a:txBody>
                  <a:tcPr marL="91440" marR="91440" marT="27432" marB="27432" anchor="ctr">
                    <a:solidFill>
                      <a:srgbClr val="FF3228"/>
                    </a:solidFill>
                  </a:tcPr>
                </a:tc>
                <a:tc>
                  <a:txBody>
                    <a:bodyPr/>
                    <a:lstStyle/>
                    <a:p>
                      <a:r>
                        <a:rPr sz="1100" b="1">
                          <a:solidFill>
                            <a:srgbClr val="FFFFFF"/>
                          </a:solidFill>
                        </a:rPr>
                        <a:t>Alternativa comparada</a:t>
                      </a:r>
                    </a:p>
                  </a:txBody>
                  <a:tcPr marL="91440" marR="91440" marT="27432" marB="27432" anchor="ctr">
                    <a:solidFill>
                      <a:srgbClr val="FF3228"/>
                    </a:solidFill>
                  </a:tcPr>
                </a:tc>
                <a:tc>
                  <a:txBody>
                    <a:bodyPr/>
                    <a:lstStyle/>
                    <a:p>
                      <a:r>
                        <a:rPr sz="1100" b="1">
                          <a:solidFill>
                            <a:srgbClr val="FFFFFF"/>
                          </a:solidFill>
                        </a:rPr>
                        <a:t>Por qué</a:t>
                      </a:r>
                    </a:p>
                  </a:txBody>
                  <a:tcPr marL="91440" marR="91440" marT="27432" marB="27432" anchor="ctr">
                    <a:solidFill>
                      <a:srgbClr val="FF3228"/>
                    </a:solidFill>
                  </a:tcPr>
                </a:tc>
              </a:tr>
              <a:tr h="420624">
                <a:tc>
                  <a:txBody>
                    <a:bodyPr/>
                    <a:lstStyle/>
                    <a:p>
                      <a:r>
                        <a:rPr sz="1100" b="0">
                          <a:solidFill>
                            <a:srgbClr val="1E1E1E"/>
                          </a:solidFill>
                        </a:rPr>
                        <a:t>Pose 2D</a:t>
                      </a:r>
                    </a:p>
                  </a:txBody>
                  <a:tcPr marL="91440" marR="91440" marT="27432" marB="27432" anchor="ctr">
                    <a:solidFill>
                      <a:srgbClr val="FFFFFF"/>
                    </a:solidFill>
                  </a:tcPr>
                </a:tc>
                <a:tc>
                  <a:txBody>
                    <a:bodyPr/>
                    <a:lstStyle/>
                    <a:p>
                      <a:r>
                        <a:rPr sz="1100" b="0">
                          <a:solidFill>
                            <a:srgbClr val="1E1E1E"/>
                          </a:solidFill>
                        </a:rPr>
                        <a:t>YOLOv8n-Pose (CNN, una etapa)</a:t>
                      </a:r>
                    </a:p>
                  </a:txBody>
                  <a:tcPr marL="91440" marR="91440" marT="27432" marB="27432" anchor="ctr">
                    <a:solidFill>
                      <a:srgbClr val="FFFFFF"/>
                    </a:solidFill>
                  </a:tcPr>
                </a:tc>
                <a:tc>
                  <a:txBody>
                    <a:bodyPr/>
                    <a:lstStyle/>
                    <a:p>
                      <a:r>
                        <a:rPr sz="1100" b="0">
                          <a:solidFill>
                            <a:srgbClr val="1E1E1E"/>
                          </a:solidFill>
                        </a:rPr>
                        <a:t>YOLO11n, YOLOv8s, MoveNet, HRNet, ViTPose</a:t>
                      </a:r>
                    </a:p>
                  </a:txBody>
                  <a:tcPr marL="91440" marR="91440" marT="27432" marB="27432" anchor="ctr">
                    <a:solidFill>
                      <a:srgbClr val="FFFFFF"/>
                    </a:solidFill>
                  </a:tcPr>
                </a:tc>
                <a:tc>
                  <a:txBody>
                    <a:bodyPr/>
                    <a:lstStyle/>
                    <a:p>
                      <a:r>
                        <a:rPr sz="1100" b="0">
                          <a:solidFill>
                            <a:srgbClr val="1E1E1E"/>
                          </a:solidFill>
                        </a:rPr>
                        <a:t>Detecta como v8s (35,6 %) con 3,3 M parámetros frente a 11,6 M; doble de confianza que MoveNet</a:t>
                      </a:r>
                    </a:p>
                  </a:txBody>
                  <a:tcPr marL="91440" marR="91440" marT="27432" marB="27432" anchor="ctr">
                    <a:solidFill>
                      <a:srgbClr val="FFFFFF"/>
                    </a:solidFill>
                  </a:tcPr>
                </a:tc>
              </a:tr>
              <a:tr h="420624">
                <a:tc>
                  <a:txBody>
                    <a:bodyPr/>
                    <a:lstStyle/>
                    <a:p>
                      <a:r>
                        <a:rPr sz="1100" b="0">
                          <a:solidFill>
                            <a:srgbClr val="1E1E1E"/>
                          </a:solidFill>
                        </a:rPr>
                        <a:t>Pose 3D</a:t>
                      </a:r>
                    </a:p>
                  </a:txBody>
                  <a:tcPr marL="91440" marR="91440" marT="27432" marB="27432" anchor="ctr">
                    <a:solidFill>
                      <a:srgbClr val="EEEDED"/>
                    </a:solidFill>
                  </a:tcPr>
                </a:tc>
                <a:tc>
                  <a:txBody>
                    <a:bodyPr/>
                    <a:lstStyle/>
                    <a:p>
                      <a:r>
                        <a:rPr sz="1100" b="0">
                          <a:solidFill>
                            <a:srgbClr val="1E1E1E"/>
                          </a:solidFill>
                        </a:rPr>
                        <a:t>MotionBERT-Lite (transformer)</a:t>
                      </a:r>
                    </a:p>
                  </a:txBody>
                  <a:tcPr marL="91440" marR="91440" marT="27432" marB="27432" anchor="ctr">
                    <a:solidFill>
                      <a:srgbClr val="EEEDED"/>
                    </a:solidFill>
                  </a:tcPr>
                </a:tc>
                <a:tc>
                  <a:txBody>
                    <a:bodyPr/>
                    <a:lstStyle/>
                    <a:p>
                      <a:r>
                        <a:rPr sz="1100" b="0">
                          <a:solidFill>
                            <a:srgbClr val="1E1E1E"/>
                          </a:solidFill>
                        </a:rPr>
                        <a:t>Ángulos 2D</a:t>
                      </a:r>
                    </a:p>
                  </a:txBody>
                  <a:tcPr marL="91440" marR="91440" marT="27432" marB="27432" anchor="ctr">
                    <a:solidFill>
                      <a:srgbClr val="EEEDED"/>
                    </a:solidFill>
                  </a:tcPr>
                </a:tc>
                <a:tc>
                  <a:txBody>
                    <a:bodyPr/>
                    <a:lstStyle/>
                    <a:p>
                      <a:r>
                        <a:rPr sz="1100" b="0">
                          <a:solidFill>
                            <a:srgbClr val="1E1E1E"/>
                          </a:solidFill>
                        </a:rPr>
                        <a:t>Solo de frente: en lateral falla la rodilla (107° frente a 173°)</a:t>
                      </a:r>
                    </a:p>
                  </a:txBody>
                  <a:tcPr marL="91440" marR="91440" marT="27432" marB="27432" anchor="ctr">
                    <a:solidFill>
                      <a:srgbClr val="EEEDED"/>
                    </a:solidFill>
                  </a:tcPr>
                </a:tc>
              </a:tr>
              <a:tr h="420624">
                <a:tc>
                  <a:txBody>
                    <a:bodyPr/>
                    <a:lstStyle/>
                    <a:p>
                      <a:r>
                        <a:rPr sz="1100" b="0">
                          <a:solidFill>
                            <a:srgbClr val="1E1E1E"/>
                          </a:solidFill>
                        </a:rPr>
                        <a:t>Vista</a:t>
                      </a:r>
                    </a:p>
                  </a:txBody>
                  <a:tcPr marL="91440" marR="91440" marT="27432" marB="27432" anchor="ctr">
                    <a:solidFill>
                      <a:srgbClr val="FFFFFF"/>
                    </a:solidFill>
                  </a:tcPr>
                </a:tc>
                <a:tc>
                  <a:txBody>
                    <a:bodyPr/>
                    <a:lstStyle/>
                    <a:p>
                      <a:r>
                        <a:rPr sz="1100" b="0">
                          <a:solidFill>
                            <a:srgbClr val="1E1E1E"/>
                          </a:solidFill>
                        </a:rPr>
                        <a:t>Orientación del tronco, tramos de 60 s</a:t>
                      </a:r>
                    </a:p>
                  </a:txBody>
                  <a:tcPr marL="91440" marR="91440" marT="27432" marB="27432" anchor="ctr">
                    <a:solidFill>
                      <a:srgbClr val="FFFFFF"/>
                    </a:solidFill>
                  </a:tcPr>
                </a:tc>
                <a:tc>
                  <a:txBody>
                    <a:bodyPr/>
                    <a:lstStyle/>
                    <a:p>
                      <a:r>
                        <a:rPr sz="1100" b="0">
                          <a:solidFill>
                            <a:srgbClr val="1E1E1E"/>
                          </a:solidFill>
                        </a:rPr>
                        <a:t>Vista indicada a mano</a:t>
                      </a:r>
                    </a:p>
                  </a:txBody>
                  <a:tcPr marL="91440" marR="91440" marT="27432" marB="27432" anchor="ctr">
                    <a:solidFill>
                      <a:srgbClr val="FFFFFF"/>
                    </a:solidFill>
                  </a:tcPr>
                </a:tc>
                <a:tc>
                  <a:txBody>
                    <a:bodyPr/>
                    <a:lstStyle/>
                    <a:p>
                      <a:r>
                        <a:rPr sz="1100" b="0">
                          <a:solidFill>
                            <a:srgbClr val="1E1E1E"/>
                          </a:solidFill>
                        </a:rPr>
                        <a:t>Hay vídeos laterales y frontales, incluso en el mismo vídeo</a:t>
                      </a:r>
                    </a:p>
                  </a:txBody>
                  <a:tcPr marL="91440" marR="91440" marT="27432" marB="27432" anchor="ctr">
                    <a:solidFill>
                      <a:srgbClr val="FFFFFF"/>
                    </a:solidFill>
                  </a:tcPr>
                </a:tc>
              </a:tr>
              <a:tr h="420624">
                <a:tc>
                  <a:txBody>
                    <a:bodyPr/>
                    <a:lstStyle/>
                    <a:p>
                      <a:r>
                        <a:rPr sz="1100" b="0">
                          <a:solidFill>
                            <a:srgbClr val="1E1E1E"/>
                          </a:solidFill>
                        </a:rPr>
                        <a:t>Ciclos</a:t>
                      </a:r>
                    </a:p>
                  </a:txBody>
                  <a:tcPr marL="91440" marR="91440" marT="27432" marB="27432" anchor="ctr">
                    <a:solidFill>
                      <a:srgbClr val="EEEDED"/>
                    </a:solidFill>
                  </a:tcPr>
                </a:tc>
                <a:tc>
                  <a:txBody>
                    <a:bodyPr/>
                    <a:lstStyle/>
                    <a:p>
                      <a:r>
                        <a:rPr sz="1100" b="0">
                          <a:solidFill>
                            <a:srgbClr val="1E1E1E"/>
                          </a:solidFill>
                        </a:rPr>
                        <a:t>Picos de la mano (lateral) · PCA (frontal)</a:t>
                      </a:r>
                    </a:p>
                  </a:txBody>
                  <a:tcPr marL="91440" marR="91440" marT="27432" marB="27432" anchor="ctr">
                    <a:solidFill>
                      <a:srgbClr val="EEEDED"/>
                    </a:solidFill>
                  </a:tcPr>
                </a:tc>
                <a:tc>
                  <a:txBody>
                    <a:bodyPr/>
                    <a:lstStyle/>
                    <a:p>
                      <a:r>
                        <a:rPr sz="1100" b="0">
                          <a:solidFill>
                            <a:srgbClr val="1E1E1E"/>
                          </a:solidFill>
                        </a:rPr>
                        <a:t>Cada muñeca por separado</a:t>
                      </a:r>
                    </a:p>
                  </a:txBody>
                  <a:tcPr marL="91440" marR="91440" marT="27432" marB="27432" anchor="ctr">
                    <a:solidFill>
                      <a:srgbClr val="EEEDED"/>
                    </a:solidFill>
                  </a:tcPr>
                </a:tc>
                <a:tc>
                  <a:txBody>
                    <a:bodyPr/>
                    <a:lstStyle/>
                    <a:p>
                      <a:r>
                        <a:rPr sz="1100" b="0">
                          <a:solidFill>
                            <a:srgbClr val="1E1E1E"/>
                          </a:solidFill>
                        </a:rPr>
                        <a:t>YOLO copia el brazo visible en el oculto</a:t>
                      </a:r>
                    </a:p>
                  </a:txBody>
                  <a:tcPr marL="91440" marR="91440" marT="27432" marB="27432" anchor="ctr">
                    <a:solidFill>
                      <a:srgbClr val="EEEDED"/>
                    </a:solidFill>
                  </a:tcPr>
                </a:tc>
              </a:tr>
              <a:tr h="420624">
                <a:tc>
                  <a:txBody>
                    <a:bodyPr/>
                    <a:lstStyle/>
                    <a:p>
                      <a:r>
                        <a:rPr sz="1100" b="1">
                          <a:solidFill>
                            <a:srgbClr val="1E1E1E"/>
                          </a:solidFill>
                        </a:rPr>
                        <a:t>Fatiga</a:t>
                      </a:r>
                    </a:p>
                  </a:txBody>
                  <a:tcPr marL="91440" marR="91440" marT="27432" marB="27432" anchor="ctr">
                    <a:solidFill>
                      <a:srgbClr val="FFAFAA"/>
                    </a:solidFill>
                  </a:tcPr>
                </a:tc>
                <a:tc>
                  <a:txBody>
                    <a:bodyPr/>
                    <a:lstStyle/>
                    <a:p>
                      <a:r>
                        <a:rPr sz="1100" b="1">
                          <a:solidFill>
                            <a:srgbClr val="1E1E1E"/>
                          </a:solidFill>
                        </a:rPr>
                        <a:t>Isolation Forest + PELT</a:t>
                      </a:r>
                    </a:p>
                  </a:txBody>
                  <a:tcPr marL="91440" marR="91440" marT="27432" marB="27432" anchor="ctr">
                    <a:solidFill>
                      <a:srgbClr val="FFAFAA"/>
                    </a:solidFill>
                  </a:tcPr>
                </a:tc>
                <a:tc>
                  <a:txBody>
                    <a:bodyPr/>
                    <a:lstStyle/>
                    <a:p>
                      <a:r>
                        <a:rPr sz="1100" b="1">
                          <a:solidFill>
                            <a:srgbClr val="1E1E1E"/>
                          </a:solidFill>
                        </a:rPr>
                        <a:t>Red recurrente supervisada</a:t>
                      </a:r>
                    </a:p>
                  </a:txBody>
                  <a:tcPr marL="91440" marR="91440" marT="27432" marB="27432" anchor="ctr">
                    <a:solidFill>
                      <a:srgbClr val="FFAFAA"/>
                    </a:solidFill>
                  </a:tcPr>
                </a:tc>
                <a:tc>
                  <a:txBody>
                    <a:bodyPr/>
                    <a:lstStyle/>
                    <a:p>
                      <a:r>
                        <a:rPr sz="1100" b="1">
                          <a:solidFill>
                            <a:srgbClr val="1E1E1E"/>
                          </a:solidFill>
                        </a:rPr>
                        <a:t>No hay etiquetas de fatiga; coste lineal; SHAP exacto</a:t>
                      </a:r>
                    </a:p>
                  </a:txBody>
                  <a:tcPr marL="91440" marR="91440" marT="27432" marB="27432" anchor="ctr">
                    <a:solidFill>
                      <a:srgbClr val="FFAFAA"/>
                    </a:solidFill>
                  </a:tcPr>
                </a:tc>
              </a:tr>
              <a:tr h="420624">
                <a:tc>
                  <a:txBody>
                    <a:bodyPr/>
                    <a:lstStyle/>
                    <a:p>
                      <a:r>
                        <a:rPr sz="1100" b="0">
                          <a:solidFill>
                            <a:srgbClr val="1E1E1E"/>
                          </a:solidFill>
                        </a:rPr>
                        <a:t>Explicación</a:t>
                      </a:r>
                    </a:p>
                  </a:txBody>
                  <a:tcPr marL="91440" marR="91440" marT="27432" marB="27432" anchor="ctr">
                    <a:solidFill>
                      <a:srgbClr val="EEEDED"/>
                    </a:solidFill>
                  </a:tcPr>
                </a:tc>
                <a:tc>
                  <a:txBody>
                    <a:bodyPr/>
                    <a:lstStyle/>
                    <a:p>
                      <a:r>
                        <a:rPr sz="1100" b="0">
                          <a:solidFill>
                            <a:srgbClr val="1E1E1E"/>
                          </a:solidFill>
                        </a:rPr>
                        <a:t>TreeSHAP</a:t>
                      </a:r>
                    </a:p>
                  </a:txBody>
                  <a:tcPr marL="91440" marR="91440" marT="27432" marB="27432" anchor="ctr">
                    <a:solidFill>
                      <a:srgbClr val="EEEDED"/>
                    </a:solidFill>
                  </a:tcPr>
                </a:tc>
                <a:tc>
                  <a:txBody>
                    <a:bodyPr/>
                    <a:lstStyle/>
                    <a:p>
                      <a:r>
                        <a:rPr sz="1100" b="0">
                          <a:solidFill>
                            <a:srgbClr val="1E1E1E"/>
                          </a:solidFill>
                        </a:rPr>
                        <a:t>—</a:t>
                      </a:r>
                    </a:p>
                  </a:txBody>
                  <a:tcPr marL="91440" marR="91440" marT="27432" marB="27432" anchor="ctr">
                    <a:solidFill>
                      <a:srgbClr val="EEEDED"/>
                    </a:solidFill>
                  </a:tcPr>
                </a:tc>
                <a:tc>
                  <a:txBody>
                    <a:bodyPr/>
                    <a:lstStyle/>
                    <a:p>
                      <a:r>
                        <a:rPr sz="1100" b="0">
                          <a:solidFill>
                            <a:srgbClr val="1E1E1E"/>
                          </a:solidFill>
                        </a:rPr>
                        <a:t>Valores de Shapley exactos para modelos de árboles</a:t>
                      </a:r>
                    </a:p>
                  </a:txBody>
                  <a:tcPr marL="91440" marR="91440" marT="27432" marB="27432" anchor="ctr">
                    <a:solidFill>
                      <a:srgbClr val="EEEDED"/>
                    </a:solidFill>
                  </a:tcPr>
                </a:tc>
              </a:tr>
              <a:tr h="420624">
                <a:tc>
                  <a:txBody>
                    <a:bodyPr/>
                    <a:lstStyle/>
                    <a:p>
                      <a:r>
                        <a:rPr sz="1100" b="0">
                          <a:solidFill>
                            <a:srgbClr val="1E1E1E"/>
                          </a:solidFill>
                        </a:rPr>
                        <a:t>Estilo</a:t>
                      </a:r>
                    </a:p>
                  </a:txBody>
                  <a:tcPr marL="91440" marR="91440" marT="27432" marB="27432" anchor="ctr">
                    <a:solidFill>
                      <a:srgbClr val="FFFFFF"/>
                    </a:solidFill>
                  </a:tcPr>
                </a:tc>
                <a:tc>
                  <a:txBody>
                    <a:bodyPr/>
                    <a:lstStyle/>
                    <a:p>
                      <a:r>
                        <a:rPr sz="1100" b="0">
                          <a:solidFill>
                            <a:srgbClr val="1E1E1E"/>
                          </a:solidFill>
                        </a:rPr>
                        <a:t>Reglas biomecánicas</a:t>
                      </a:r>
                    </a:p>
                  </a:txBody>
                  <a:tcPr marL="91440" marR="91440" marT="27432" marB="27432" anchor="ctr">
                    <a:solidFill>
                      <a:srgbClr val="FFFFFF"/>
                    </a:solidFill>
                  </a:tcPr>
                </a:tc>
                <a:tc>
                  <a:txBody>
                    <a:bodyPr/>
                    <a:lstStyle/>
                    <a:p>
                      <a:r>
                        <a:rPr sz="1100" b="0">
                          <a:solidFill>
                            <a:srgbClr val="1E1E1E"/>
                          </a:solidFill>
                        </a:rPr>
                        <a:t>XGBoost, bosque aleatorio</a:t>
                      </a:r>
                    </a:p>
                  </a:txBody>
                  <a:tcPr marL="91440" marR="91440" marT="27432" marB="27432" anchor="ctr">
                    <a:solidFill>
                      <a:srgbClr val="FFFFFF"/>
                    </a:solidFill>
                  </a:tcPr>
                </a:tc>
                <a:tc>
                  <a:txBody>
                    <a:bodyPr/>
                    <a:lstStyle/>
                    <a:p>
                      <a:r>
                        <a:rPr sz="1100" b="0">
                          <a:solidFill>
                            <a:srgbClr val="1E1E1E"/>
                          </a:solidFill>
                        </a:rPr>
                        <a:t>El supervisado aprendía al nadador: 9,1 % con un nadador nuevo</a:t>
                      </a:r>
                    </a:p>
                  </a:txBody>
                  <a:tcPr marL="91440" marR="91440" marT="27432" marB="27432"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Visión: pose bajo el agua</a:t>
            </a:r>
          </a:p>
        </p:txBody>
      </p:sp>
      <p:sp>
        <p:nvSpPr>
          <p:cNvPr id="4" name="Text Placeholder 3"/>
          <p:cNvSpPr>
            <a:spLocks noGrp="1"/>
          </p:cNvSpPr>
          <p:nvPr>
            <p:ph type="body" idx="18" sz="quarter"/>
          </p:nvPr>
        </p:nvSpPr>
        <p:spPr>
          <a:xfrm>
            <a:off x="906463" y="2172974"/>
            <a:ext cx="12344400" cy="594092"/>
          </a:xfrm>
        </p:spPr>
        <p:txBody>
          <a:bodyPr/>
          <a:lstStyle/>
          <a:p>
            <a:r>
              <a:t>Modelos medidos en el vídeo real (GX011614, CPU de 4 hilos)</a:t>
            </a:r>
          </a:p>
        </p:txBody>
      </p:sp>
      <p:graphicFrame>
        <p:nvGraphicFramePr>
          <p:cNvPr id="5" name="Table 4"/>
          <p:cNvGraphicFramePr>
            <a:graphicFrameLocks noGrp="1"/>
          </p:cNvGraphicFramePr>
          <p:nvPr/>
        </p:nvGraphicFramePr>
        <p:xfrm>
          <a:off x="905256" y="2743200"/>
          <a:ext cx="7223760" cy="2286000"/>
        </p:xfrm>
        <a:graphic>
          <a:graphicData uri="http://schemas.openxmlformats.org/drawingml/2006/table">
            <a:tbl>
              <a:tblPr firstRow="1" bandRow="1">
                <a:tableStyleId>{5C22544A-7EE6-4342-B048-85BDC9FD1C3A}</a:tableStyleId>
              </a:tblPr>
              <a:tblGrid>
                <a:gridCol w="2377440"/>
                <a:gridCol w="1188720"/>
                <a:gridCol w="822960"/>
                <a:gridCol w="1371600"/>
                <a:gridCol w="1463040"/>
              </a:tblGrid>
              <a:tr h="457200">
                <a:tc>
                  <a:txBody>
                    <a:bodyPr/>
                    <a:lstStyle/>
                    <a:p>
                      <a:r>
                        <a:rPr sz="1300" b="1">
                          <a:solidFill>
                            <a:srgbClr val="FFFFFF"/>
                          </a:solidFill>
                        </a:rPr>
                        <a:t>Modelo</a:t>
                      </a:r>
                    </a:p>
                  </a:txBody>
                  <a:tcPr marL="91440" marR="91440" marT="27432" marB="27432" anchor="ctr">
                    <a:solidFill>
                      <a:srgbClr val="FF3228"/>
                    </a:solidFill>
                  </a:tcPr>
                </a:tc>
                <a:tc>
                  <a:txBody>
                    <a:bodyPr/>
                    <a:lstStyle/>
                    <a:p>
                      <a:r>
                        <a:rPr sz="1300" b="1">
                          <a:solidFill>
                            <a:srgbClr val="FFFFFF"/>
                          </a:solidFill>
                        </a:rPr>
                        <a:t>Parám. (M)</a:t>
                      </a:r>
                    </a:p>
                  </a:txBody>
                  <a:tcPr marL="91440" marR="91440" marT="27432" marB="27432" anchor="ctr">
                    <a:solidFill>
                      <a:srgbClr val="FF3228"/>
                    </a:solidFill>
                  </a:tcPr>
                </a:tc>
                <a:tc>
                  <a:txBody>
                    <a:bodyPr/>
                    <a:lstStyle/>
                    <a:p>
                      <a:r>
                        <a:rPr sz="1300" b="1">
                          <a:solidFill>
                            <a:srgbClr val="FFFFFF"/>
                          </a:solidFill>
                        </a:rPr>
                        <a:t>FPS</a:t>
                      </a:r>
                    </a:p>
                  </a:txBody>
                  <a:tcPr marL="91440" marR="91440" marT="27432" marB="27432" anchor="ctr">
                    <a:solidFill>
                      <a:srgbClr val="FF3228"/>
                    </a:solidFill>
                  </a:tcPr>
                </a:tc>
                <a:tc>
                  <a:txBody>
                    <a:bodyPr/>
                    <a:lstStyle/>
                    <a:p>
                      <a:r>
                        <a:rPr sz="1300" b="1">
                          <a:solidFill>
                            <a:srgbClr val="FFFFFF"/>
                          </a:solidFill>
                        </a:rPr>
                        <a:t>Detección</a:t>
                      </a:r>
                    </a:p>
                  </a:txBody>
                  <a:tcPr marL="91440" marR="91440" marT="27432" marB="27432" anchor="ctr">
                    <a:solidFill>
                      <a:srgbClr val="FF3228"/>
                    </a:solidFill>
                  </a:tcPr>
                </a:tc>
                <a:tc>
                  <a:txBody>
                    <a:bodyPr/>
                    <a:lstStyle/>
                    <a:p>
                      <a:r>
                        <a:rPr sz="1300" b="1">
                          <a:solidFill>
                            <a:srgbClr val="FFFFFF"/>
                          </a:solidFill>
                        </a:rPr>
                        <a:t>Confianza</a:t>
                      </a:r>
                    </a:p>
                  </a:txBody>
                  <a:tcPr marL="91440" marR="91440" marT="27432" marB="27432" anchor="ctr">
                    <a:solidFill>
                      <a:srgbClr val="FF3228"/>
                    </a:solidFill>
                  </a:tcPr>
                </a:tc>
              </a:tr>
              <a:tr h="457200">
                <a:tc>
                  <a:txBody>
                    <a:bodyPr/>
                    <a:lstStyle/>
                    <a:p>
                      <a:r>
                        <a:rPr sz="1300" b="1">
                          <a:solidFill>
                            <a:srgbClr val="1E1E1E"/>
                          </a:solidFill>
                        </a:rPr>
                        <a:t>YOLOv8n (elegido)</a:t>
                      </a:r>
                    </a:p>
                  </a:txBody>
                  <a:tcPr marL="91440" marR="91440" marT="27432" marB="27432" anchor="ctr">
                    <a:solidFill>
                      <a:srgbClr val="FFAFAA"/>
                    </a:solidFill>
                  </a:tcPr>
                </a:tc>
                <a:tc>
                  <a:txBody>
                    <a:bodyPr/>
                    <a:lstStyle/>
                    <a:p>
                      <a:r>
                        <a:rPr sz="1300" b="1">
                          <a:solidFill>
                            <a:srgbClr val="1E1E1E"/>
                          </a:solidFill>
                        </a:rPr>
                        <a:t>3,3</a:t>
                      </a:r>
                    </a:p>
                  </a:txBody>
                  <a:tcPr marL="91440" marR="91440" marT="27432" marB="27432" anchor="ctr">
                    <a:solidFill>
                      <a:srgbClr val="FFAFAA"/>
                    </a:solidFill>
                  </a:tcPr>
                </a:tc>
                <a:tc>
                  <a:txBody>
                    <a:bodyPr/>
                    <a:lstStyle/>
                    <a:p>
                      <a:r>
                        <a:rPr sz="1300" b="1">
                          <a:solidFill>
                            <a:srgbClr val="1E1E1E"/>
                          </a:solidFill>
                        </a:rPr>
                        <a:t>6,6</a:t>
                      </a:r>
                    </a:p>
                  </a:txBody>
                  <a:tcPr marL="91440" marR="91440" marT="27432" marB="27432" anchor="ctr">
                    <a:solidFill>
                      <a:srgbClr val="FFAFAA"/>
                    </a:solidFill>
                  </a:tcPr>
                </a:tc>
                <a:tc>
                  <a:txBody>
                    <a:bodyPr/>
                    <a:lstStyle/>
                    <a:p>
                      <a:r>
                        <a:rPr sz="1300" b="1">
                          <a:solidFill>
                            <a:srgbClr val="1E1E1E"/>
                          </a:solidFill>
                        </a:rPr>
                        <a:t>35,6 %</a:t>
                      </a:r>
                    </a:p>
                  </a:txBody>
                  <a:tcPr marL="91440" marR="91440" marT="27432" marB="27432" anchor="ctr">
                    <a:solidFill>
                      <a:srgbClr val="FFAFAA"/>
                    </a:solidFill>
                  </a:tcPr>
                </a:tc>
                <a:tc>
                  <a:txBody>
                    <a:bodyPr/>
                    <a:lstStyle/>
                    <a:p>
                      <a:r>
                        <a:rPr sz="1300" b="1">
                          <a:solidFill>
                            <a:srgbClr val="1E1E1E"/>
                          </a:solidFill>
                        </a:rPr>
                        <a:t>0,76</a:t>
                      </a:r>
                    </a:p>
                  </a:txBody>
                  <a:tcPr marL="91440" marR="91440" marT="27432" marB="27432" anchor="ctr">
                    <a:solidFill>
                      <a:srgbClr val="FFAFAA"/>
                    </a:solidFill>
                  </a:tcPr>
                </a:tc>
              </a:tr>
              <a:tr h="457200">
                <a:tc>
                  <a:txBody>
                    <a:bodyPr/>
                    <a:lstStyle/>
                    <a:p>
                      <a:r>
                        <a:rPr sz="1300" b="0">
                          <a:solidFill>
                            <a:srgbClr val="1E1E1E"/>
                          </a:solidFill>
                        </a:rPr>
                        <a:t>YOLO11n</a:t>
                      </a:r>
                    </a:p>
                  </a:txBody>
                  <a:tcPr marL="91440" marR="91440" marT="27432" marB="27432" anchor="ctr">
                    <a:solidFill>
                      <a:srgbClr val="EEEDED"/>
                    </a:solidFill>
                  </a:tcPr>
                </a:tc>
                <a:tc>
                  <a:txBody>
                    <a:bodyPr/>
                    <a:lstStyle/>
                    <a:p>
                      <a:r>
                        <a:rPr sz="1300" b="0">
                          <a:solidFill>
                            <a:srgbClr val="1E1E1E"/>
                          </a:solidFill>
                        </a:rPr>
                        <a:t>2,9</a:t>
                      </a:r>
                    </a:p>
                  </a:txBody>
                  <a:tcPr marL="91440" marR="91440" marT="27432" marB="27432" anchor="ctr">
                    <a:solidFill>
                      <a:srgbClr val="EEEDED"/>
                    </a:solidFill>
                  </a:tcPr>
                </a:tc>
                <a:tc>
                  <a:txBody>
                    <a:bodyPr/>
                    <a:lstStyle/>
                    <a:p>
                      <a:r>
                        <a:rPr sz="1300" b="0">
                          <a:solidFill>
                            <a:srgbClr val="1E1E1E"/>
                          </a:solidFill>
                        </a:rPr>
                        <a:t>6,2</a:t>
                      </a:r>
                    </a:p>
                  </a:txBody>
                  <a:tcPr marL="91440" marR="91440" marT="27432" marB="27432" anchor="ctr">
                    <a:solidFill>
                      <a:srgbClr val="EEEDED"/>
                    </a:solidFill>
                  </a:tcPr>
                </a:tc>
                <a:tc>
                  <a:txBody>
                    <a:bodyPr/>
                    <a:lstStyle/>
                    <a:p>
                      <a:r>
                        <a:rPr sz="1300" b="0">
                          <a:solidFill>
                            <a:srgbClr val="1E1E1E"/>
                          </a:solidFill>
                        </a:rPr>
                        <a:t>37,6 %</a:t>
                      </a:r>
                    </a:p>
                  </a:txBody>
                  <a:tcPr marL="91440" marR="91440" marT="27432" marB="27432" anchor="ctr">
                    <a:solidFill>
                      <a:srgbClr val="EEEDED"/>
                    </a:solidFill>
                  </a:tcPr>
                </a:tc>
                <a:tc>
                  <a:txBody>
                    <a:bodyPr/>
                    <a:lstStyle/>
                    <a:p>
                      <a:r>
                        <a:rPr sz="1300" b="0">
                          <a:solidFill>
                            <a:srgbClr val="1E1E1E"/>
                          </a:solidFill>
                        </a:rPr>
                        <a:t>0,78</a:t>
                      </a:r>
                    </a:p>
                  </a:txBody>
                  <a:tcPr marL="91440" marR="91440" marT="27432" marB="27432" anchor="ctr">
                    <a:solidFill>
                      <a:srgbClr val="EEEDED"/>
                    </a:solidFill>
                  </a:tcPr>
                </a:tc>
              </a:tr>
              <a:tr h="457200">
                <a:tc>
                  <a:txBody>
                    <a:bodyPr/>
                    <a:lstStyle/>
                    <a:p>
                      <a:r>
                        <a:rPr sz="1300" b="0">
                          <a:solidFill>
                            <a:srgbClr val="1E1E1E"/>
                          </a:solidFill>
                        </a:rPr>
                        <a:t>YOLOv8s</a:t>
                      </a:r>
                    </a:p>
                  </a:txBody>
                  <a:tcPr marL="91440" marR="91440" marT="27432" marB="27432" anchor="ctr">
                    <a:solidFill>
                      <a:srgbClr val="FFFFFF"/>
                    </a:solidFill>
                  </a:tcPr>
                </a:tc>
                <a:tc>
                  <a:txBody>
                    <a:bodyPr/>
                    <a:lstStyle/>
                    <a:p>
                      <a:r>
                        <a:rPr sz="1300" b="0">
                          <a:solidFill>
                            <a:srgbClr val="1E1E1E"/>
                          </a:solidFill>
                        </a:rPr>
                        <a:t>11,6</a:t>
                      </a:r>
                    </a:p>
                  </a:txBody>
                  <a:tcPr marL="91440" marR="91440" marT="27432" marB="27432" anchor="ctr">
                    <a:solidFill>
                      <a:srgbClr val="FFFFFF"/>
                    </a:solidFill>
                  </a:tcPr>
                </a:tc>
                <a:tc>
                  <a:txBody>
                    <a:bodyPr/>
                    <a:lstStyle/>
                    <a:p>
                      <a:r>
                        <a:rPr sz="1300" b="0">
                          <a:solidFill>
                            <a:srgbClr val="1E1E1E"/>
                          </a:solidFill>
                        </a:rPr>
                        <a:t>3,3</a:t>
                      </a:r>
                    </a:p>
                  </a:txBody>
                  <a:tcPr marL="91440" marR="91440" marT="27432" marB="27432" anchor="ctr">
                    <a:solidFill>
                      <a:srgbClr val="FFFFFF"/>
                    </a:solidFill>
                  </a:tcPr>
                </a:tc>
                <a:tc>
                  <a:txBody>
                    <a:bodyPr/>
                    <a:lstStyle/>
                    <a:p>
                      <a:r>
                        <a:rPr sz="1300" b="0">
                          <a:solidFill>
                            <a:srgbClr val="1E1E1E"/>
                          </a:solidFill>
                        </a:rPr>
                        <a:t>35,6 %</a:t>
                      </a:r>
                    </a:p>
                  </a:txBody>
                  <a:tcPr marL="91440" marR="91440" marT="27432" marB="27432" anchor="ctr">
                    <a:solidFill>
                      <a:srgbClr val="FFFFFF"/>
                    </a:solidFill>
                  </a:tcPr>
                </a:tc>
                <a:tc>
                  <a:txBody>
                    <a:bodyPr/>
                    <a:lstStyle/>
                    <a:p>
                      <a:r>
                        <a:rPr sz="1300" b="0">
                          <a:solidFill>
                            <a:srgbClr val="1E1E1E"/>
                          </a:solidFill>
                        </a:rPr>
                        <a:t>0,74</a:t>
                      </a:r>
                    </a:p>
                  </a:txBody>
                  <a:tcPr marL="91440" marR="91440" marT="27432" marB="27432" anchor="ctr">
                    <a:solidFill>
                      <a:srgbClr val="FFFFFF"/>
                    </a:solidFill>
                  </a:tcPr>
                </a:tc>
              </a:tr>
              <a:tr h="457200">
                <a:tc>
                  <a:txBody>
                    <a:bodyPr/>
                    <a:lstStyle/>
                    <a:p>
                      <a:r>
                        <a:rPr sz="1300" b="0">
                          <a:solidFill>
                            <a:srgbClr val="1E1E1E"/>
                          </a:solidFill>
                        </a:rPr>
                        <a:t>MoveNet Lightning</a:t>
                      </a:r>
                    </a:p>
                  </a:txBody>
                  <a:tcPr marL="91440" marR="91440" marT="27432" marB="27432" anchor="ctr">
                    <a:solidFill>
                      <a:srgbClr val="EEEDED"/>
                    </a:solidFill>
                  </a:tcPr>
                </a:tc>
                <a:tc>
                  <a:txBody>
                    <a:bodyPr/>
                    <a:lstStyle/>
                    <a:p>
                      <a:r>
                        <a:rPr sz="1300" b="0">
                          <a:solidFill>
                            <a:srgbClr val="1E1E1E"/>
                          </a:solidFill>
                        </a:rPr>
                        <a:t>—</a:t>
                      </a:r>
                    </a:p>
                  </a:txBody>
                  <a:tcPr marL="91440" marR="91440" marT="27432" marB="27432" anchor="ctr">
                    <a:solidFill>
                      <a:srgbClr val="EEEDED"/>
                    </a:solidFill>
                  </a:tcPr>
                </a:tc>
                <a:tc>
                  <a:txBody>
                    <a:bodyPr/>
                    <a:lstStyle/>
                    <a:p>
                      <a:r>
                        <a:rPr sz="1300" b="0">
                          <a:solidFill>
                            <a:srgbClr val="1E1E1E"/>
                          </a:solidFill>
                        </a:rPr>
                        <a:t>—</a:t>
                      </a:r>
                    </a:p>
                  </a:txBody>
                  <a:tcPr marL="91440" marR="91440" marT="27432" marB="27432" anchor="ctr">
                    <a:solidFill>
                      <a:srgbClr val="EEEDED"/>
                    </a:solidFill>
                  </a:tcPr>
                </a:tc>
                <a:tc>
                  <a:txBody>
                    <a:bodyPr/>
                    <a:lstStyle/>
                    <a:p>
                      <a:r>
                        <a:rPr sz="1300" b="0">
                          <a:solidFill>
                            <a:srgbClr val="1E1E1E"/>
                          </a:solidFill>
                        </a:rPr>
                        <a:t>35-48 %*</a:t>
                      </a:r>
                    </a:p>
                  </a:txBody>
                  <a:tcPr marL="91440" marR="91440" marT="27432" marB="27432" anchor="ctr">
                    <a:solidFill>
                      <a:srgbClr val="EEEDED"/>
                    </a:solidFill>
                  </a:tcPr>
                </a:tc>
                <a:tc>
                  <a:txBody>
                    <a:bodyPr/>
                    <a:lstStyle/>
                    <a:p>
                      <a:r>
                        <a:rPr sz="1300" b="0">
                          <a:solidFill>
                            <a:srgbClr val="1E1E1E"/>
                          </a:solidFill>
                        </a:rPr>
                        <a:t>0,34-0,37*</a:t>
                      </a:r>
                    </a:p>
                  </a:txBody>
                  <a:tcPr marL="91440" marR="91440" marT="27432" marB="27432" anchor="ctr">
                    <a:solidFill>
                      <a:srgbClr val="EEEDED"/>
                    </a:solidFill>
                  </a:tcPr>
                </a:tc>
              </a:tr>
            </a:tbl>
          </a:graphicData>
        </a:graphic>
      </p:graphicFrame>
      <p:sp>
        <p:nvSpPr>
          <p:cNvPr id="6" name="TextBox 5"/>
          <p:cNvSpPr txBox="1"/>
          <p:nvPr/>
        </p:nvSpPr>
        <p:spPr>
          <a:xfrm>
            <a:off x="905256" y="5120640"/>
            <a:ext cx="7223760" cy="1645920"/>
          </a:xfrm>
          <a:prstGeom prst="rect">
            <a:avLst/>
          </a:prstGeom>
          <a:noFill/>
        </p:spPr>
        <p:txBody>
          <a:bodyPr wrap="square" anchor="t" lIns="0" rIns="0" tIns="0" bIns="0">
            <a:spAutoFit/>
          </a:bodyPr>
          <a:lstStyle/>
          <a:p>
            <a:pPr algn="l">
              <a:spcAft>
                <a:spcPts val="500"/>
              </a:spcAft>
            </a:pPr>
            <a:r>
              <a:rPr sz="1300" b="0">
                <a:solidFill>
                  <a:srgbClr val="1E1E1E"/>
                </a:solidFill>
              </a:rPr>
              <a:t>•  Frente a MoveNet (vídeo subacuático): doble de confianza y 15 ciclos válidos frente a 3</a:t>
            </a:r>
          </a:p>
          <a:p>
            <a:pPr algn="l">
              <a:spcAft>
                <a:spcPts val="500"/>
              </a:spcAft>
            </a:pPr>
            <a:r>
              <a:rPr sz="1300" b="0">
                <a:solidFill>
                  <a:srgbClr val="1E1E1E"/>
                </a:solidFill>
              </a:rPr>
              <a:t>•  HRNet (AP 75,5) y ViTPose (80,9): más precisos en COCO, coste elevado en CPU</a:t>
            </a:r>
          </a:p>
          <a:p>
            <a:pPr algn="l">
              <a:spcAft>
                <a:spcPts val="500"/>
              </a:spcAft>
            </a:pPr>
            <a:r>
              <a:rPr sz="1300" b="0">
                <a:solidFill>
                  <a:srgbClr val="1E1E1E"/>
                </a:solidFill>
              </a:rPr>
              <a:t>•  Sin modelo propio: ningún fotograma subacuático anotado y sin GPU; se reutiliza un modelo preentrenado</a:t>
            </a:r>
          </a:p>
        </p:txBody>
      </p:sp>
      <p:sp>
        <p:nvSpPr>
          <p:cNvPr id="7" name="Rectangle 6"/>
          <p:cNvSpPr/>
          <p:nvPr/>
        </p:nvSpPr>
        <p:spPr>
          <a:xfrm>
            <a:off x="8503920" y="2743200"/>
            <a:ext cx="5212080" cy="40233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0" y="2926080"/>
            <a:ext cx="4663440" cy="457200"/>
          </a:xfrm>
          <a:prstGeom prst="rect">
            <a:avLst/>
          </a:prstGeom>
          <a:noFill/>
        </p:spPr>
        <p:txBody>
          <a:bodyPr wrap="square" anchor="t" lIns="0" rIns="0" tIns="0" bIns="0">
            <a:spAutoFit/>
          </a:bodyPr>
          <a:lstStyle/>
          <a:p>
            <a:pPr algn="l">
              <a:spcAft>
                <a:spcPts val="600"/>
              </a:spcAft>
            </a:pPr>
            <a:r>
              <a:rPr sz="1700" b="1">
                <a:solidFill>
                  <a:srgbClr val="FF3228"/>
                </a:solidFill>
              </a:rPr>
              <a:t>Adaptación al agua</a:t>
            </a:r>
          </a:p>
        </p:txBody>
      </p:sp>
      <p:sp>
        <p:nvSpPr>
          <p:cNvPr id="9" name="TextBox 8"/>
          <p:cNvSpPr txBox="1"/>
          <p:nvPr/>
        </p:nvSpPr>
        <p:spPr>
          <a:xfrm>
            <a:off x="8778240" y="3474720"/>
            <a:ext cx="4663440" cy="3200400"/>
          </a:xfrm>
          <a:prstGeom prst="rect">
            <a:avLst/>
          </a:prstGeom>
          <a:noFill/>
        </p:spPr>
        <p:txBody>
          <a:bodyPr wrap="square" anchor="t" lIns="0" rIns="0" tIns="0" bIns="0">
            <a:spAutoFit/>
          </a:bodyPr>
          <a:lstStyle/>
          <a:p>
            <a:pPr algn="l">
              <a:spcAft>
                <a:spcPts val="700"/>
              </a:spcAft>
            </a:pPr>
            <a:r>
              <a:rPr sz="1300" b="0">
                <a:solidFill>
                  <a:srgbClr val="1E1E1E"/>
                </a:solidFill>
              </a:rPr>
              <a:t>•  Giro ±90° del fotograma si detecta mejor (YOLO se entrenó con personas de pie)</a:t>
            </a:r>
          </a:p>
          <a:p>
            <a:pPr algn="l">
              <a:spcAft>
                <a:spcPts val="700"/>
              </a:spcAft>
            </a:pPr>
            <a:r>
              <a:rPr sz="1300" b="0">
                <a:solidFill>
                  <a:srgbClr val="1E1E1E"/>
                </a:solidFill>
              </a:rPr>
              <a:t>•  Filtros anatómicos: tronco girado o vertical, segmentos imposibles, codos &lt; 25°</a:t>
            </a:r>
          </a:p>
          <a:p>
            <a:pPr algn="l">
              <a:spcAft>
                <a:spcPts val="700"/>
              </a:spcAft>
            </a:pPr>
            <a:r>
              <a:rPr sz="1300" b="0">
                <a:solidFill>
                  <a:srgbClr val="1E1E1E"/>
                </a:solidFill>
              </a:rPr>
              <a:t>•  Savitzky-Golay: suaviza sin aplastar los picos (frente a una media móvil)</a:t>
            </a:r>
          </a:p>
          <a:p>
            <a:pPr algn="l">
              <a:spcAft>
                <a:spcPts val="700"/>
              </a:spcAft>
            </a:pPr>
            <a:r>
              <a:rPr sz="1300" b="0">
                <a:solidFill>
                  <a:srgbClr val="1E1E1E"/>
                </a:solidFill>
              </a:rPr>
              <a:t>•  3D con MotionBERT solo de frente: en lateral la rodilla sale a 107° frente a 173° en 2D</a:t>
            </a:r>
          </a:p>
        </p:txBody>
      </p:sp>
      <p:sp>
        <p:nvSpPr>
          <p:cNvPr id="10" name="TextBox 9"/>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 MoveNet: valores medidos con GPU (memoria, Tabla 2). AP: precisión media en COCO según las publicaciones originales (Tabla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Contar ciclos en dos vistas</a:t>
            </a:r>
          </a:p>
        </p:txBody>
      </p:sp>
      <p:sp>
        <p:nvSpPr>
          <p:cNvPr id="4" name="Text Placeholder 3"/>
          <p:cNvSpPr>
            <a:spLocks noGrp="1"/>
          </p:cNvSpPr>
          <p:nvPr>
            <p:ph type="body" idx="18" sz="quarter"/>
          </p:nvPr>
        </p:nvSpPr>
        <p:spPr>
          <a:xfrm>
            <a:off x="906463" y="2172974"/>
            <a:ext cx="12344400" cy="594092"/>
          </a:xfrm>
        </p:spPr>
        <p:txBody>
          <a:bodyPr/>
          <a:lstStyle/>
          <a:p>
            <a:r>
              <a:t>Cada vista usa la señal de brazada que puede ver</a:t>
            </a:r>
          </a:p>
        </p:txBody>
      </p:sp>
      <p:pic>
        <p:nvPicPr>
          <p:cNvPr id="5" name="Picture 4" descr="aaron_brazadas.png"/>
          <p:cNvPicPr>
            <a:picLocks noChangeAspect="1"/>
          </p:cNvPicPr>
          <p:nvPr/>
        </p:nvPicPr>
        <p:blipFill>
          <a:blip r:embed="rId3"/>
          <a:stretch>
            <a:fillRect/>
          </a:stretch>
        </p:blipFill>
        <p:spPr>
          <a:xfrm>
            <a:off x="905256" y="2931566"/>
            <a:ext cx="7680960" cy="2457907"/>
          </a:xfrm>
          <a:prstGeom prst="rect">
            <a:avLst/>
          </a:prstGeom>
        </p:spPr>
      </p:pic>
      <p:sp>
        <p:nvSpPr>
          <p:cNvPr id="6" name="TextBox 5"/>
          <p:cNvSpPr txBox="1"/>
          <p:nvPr/>
        </p:nvSpPr>
        <p:spPr>
          <a:xfrm>
            <a:off x="905256" y="5760720"/>
            <a:ext cx="7680960" cy="1188720"/>
          </a:xfrm>
          <a:prstGeom prst="rect">
            <a:avLst/>
          </a:prstGeom>
          <a:noFill/>
        </p:spPr>
        <p:txBody>
          <a:bodyPr wrap="square" anchor="t" lIns="0" rIns="0" tIns="0" bIns="0">
            <a:spAutoFit/>
          </a:bodyPr>
          <a:lstStyle/>
          <a:p>
            <a:pPr algn="l">
              <a:spcAft>
                <a:spcPts val="600"/>
              </a:spcAft>
            </a:pPr>
            <a:r>
              <a:rPr sz="1300" b="1">
                <a:solidFill>
                  <a:srgbClr val="1E1E1E"/>
                </a:solidFill>
              </a:rPr>
              <a:t>Lateral: </a:t>
            </a:r>
            <a:r>
              <a:rPr sz="1300" b="0">
                <a:solidFill>
                  <a:srgbClr val="1E1E1E"/>
                </a:solidFill>
              </a:rPr>
              <a:t>profundidad de la mano más profunda (YOLO copia el brazo oculto); cada pico, una brazada.</a:t>
            </a:r>
          </a:p>
          <a:p>
            <a:pPr algn="l">
              <a:spcAft>
                <a:spcPts val="600"/>
              </a:spcAft>
            </a:pPr>
            <a:r>
              <a:rPr sz="1300" b="1">
                <a:solidFill>
                  <a:srgbClr val="1E1E1E"/>
                </a:solidFill>
              </a:rPr>
              <a:t>Frontal: </a:t>
            </a:r>
            <a:r>
              <a:rPr sz="1300" b="0">
                <a:solidFill>
                  <a:srgbClr val="1E1E1E"/>
                </a:solidFill>
              </a:rPr>
              <a:t>recorrido de la muñeca en su dirección principal (PCA), en anchos de hombros.</a:t>
            </a:r>
          </a:p>
        </p:txBody>
      </p:sp>
      <p:graphicFrame>
        <p:nvGraphicFramePr>
          <p:cNvPr id="7" name="Table 6"/>
          <p:cNvGraphicFramePr>
            <a:graphicFrameLocks noGrp="1"/>
          </p:cNvGraphicFramePr>
          <p:nvPr/>
        </p:nvGraphicFramePr>
        <p:xfrm>
          <a:off x="8961120" y="2743200"/>
          <a:ext cx="4754880" cy="1828800"/>
        </p:xfrm>
        <a:graphic>
          <a:graphicData uri="http://schemas.openxmlformats.org/drawingml/2006/table">
            <a:tbl>
              <a:tblPr firstRow="1" bandRow="1">
                <a:tableStyleId>{5C22544A-7EE6-4342-B048-85BDC9FD1C3A}</a:tableStyleId>
              </a:tblPr>
              <a:tblGrid>
                <a:gridCol w="1920240"/>
                <a:gridCol w="868680"/>
                <a:gridCol w="1005840"/>
                <a:gridCol w="960120"/>
              </a:tblGrid>
              <a:tr h="457200">
                <a:tc>
                  <a:txBody>
                    <a:bodyPr/>
                    <a:lstStyle/>
                    <a:p>
                      <a:r>
                        <a:rPr sz="1100" b="1">
                          <a:solidFill>
                            <a:srgbClr val="FFFFFF"/>
                          </a:solidFill>
                        </a:rPr>
                        <a:t>Secuencia (P1, crol)</a:t>
                      </a:r>
                    </a:p>
                  </a:txBody>
                  <a:tcPr marL="91440" marR="91440" marT="27432" marB="27432" anchor="ctr">
                    <a:solidFill>
                      <a:srgbClr val="FF3228"/>
                    </a:solidFill>
                  </a:tcPr>
                </a:tc>
                <a:tc>
                  <a:txBody>
                    <a:bodyPr/>
                    <a:lstStyle/>
                    <a:p>
                      <a:r>
                        <a:rPr sz="1100" b="1">
                          <a:solidFill>
                            <a:srgbClr val="FFFFFF"/>
                          </a:solidFill>
                        </a:rPr>
                        <a:t>Manual</a:t>
                      </a:r>
                    </a:p>
                  </a:txBody>
                  <a:tcPr marL="91440" marR="91440" marT="27432" marB="27432" anchor="ctr">
                    <a:solidFill>
                      <a:srgbClr val="FF3228"/>
                    </a:solidFill>
                  </a:tcPr>
                </a:tc>
                <a:tc>
                  <a:txBody>
                    <a:bodyPr/>
                    <a:lstStyle/>
                    <a:p>
                      <a:r>
                        <a:rPr sz="1100" b="1">
                          <a:solidFill>
                            <a:srgbClr val="FFFFFF"/>
                          </a:solidFill>
                        </a:rPr>
                        <a:t>Sistema</a:t>
                      </a:r>
                    </a:p>
                  </a:txBody>
                  <a:tcPr marL="91440" marR="91440" marT="27432" marB="27432" anchor="ctr">
                    <a:solidFill>
                      <a:srgbClr val="FF3228"/>
                    </a:solidFill>
                  </a:tcPr>
                </a:tc>
                <a:tc>
                  <a:txBody>
                    <a:bodyPr/>
                    <a:lstStyle/>
                    <a:p>
                      <a:r>
                        <a:rPr sz="1100" b="1">
                          <a:solidFill>
                            <a:srgbClr val="FFFFFF"/>
                          </a:solidFill>
                        </a:rPr>
                        <a:t>Error</a:t>
                      </a:r>
                    </a:p>
                  </a:txBody>
                  <a:tcPr marL="91440" marR="91440" marT="27432" marB="27432" anchor="ctr">
                    <a:solidFill>
                      <a:srgbClr val="FF3228"/>
                    </a:solidFill>
                  </a:tcPr>
                </a:tc>
              </a:tr>
              <a:tr h="457200">
                <a:tc>
                  <a:txBody>
                    <a:bodyPr/>
                    <a:lstStyle/>
                    <a:p>
                      <a:r>
                        <a:rPr sz="1100" b="0">
                          <a:solidFill>
                            <a:srgbClr val="1E1E1E"/>
                          </a:solidFill>
                        </a:rPr>
                        <a:t>GX011614 · lateral</a:t>
                      </a:r>
                    </a:p>
                  </a:txBody>
                  <a:tcPr marL="91440" marR="91440" marT="27432" marB="27432" anchor="ctr">
                    <a:solidFill>
                      <a:srgbClr val="FFFFFF"/>
                    </a:solidFill>
                  </a:tcPr>
                </a:tc>
                <a:tc>
                  <a:txBody>
                    <a:bodyPr/>
                    <a:lstStyle/>
                    <a:p>
                      <a:r>
                        <a:rPr sz="1100" b="0">
                          <a:solidFill>
                            <a:srgbClr val="1E1E1E"/>
                          </a:solidFill>
                        </a:rPr>
                        <a:t>54,0</a:t>
                      </a:r>
                    </a:p>
                  </a:txBody>
                  <a:tcPr marL="91440" marR="91440" marT="27432" marB="27432" anchor="ctr">
                    <a:solidFill>
                      <a:srgbClr val="FFFFFF"/>
                    </a:solidFill>
                  </a:tcPr>
                </a:tc>
                <a:tc>
                  <a:txBody>
                    <a:bodyPr/>
                    <a:lstStyle/>
                    <a:p>
                      <a:r>
                        <a:rPr sz="1100" b="0">
                          <a:solidFill>
                            <a:srgbClr val="1E1E1E"/>
                          </a:solidFill>
                        </a:rPr>
                        <a:t>50,5</a:t>
                      </a:r>
                    </a:p>
                  </a:txBody>
                  <a:tcPr marL="91440" marR="91440" marT="27432" marB="27432" anchor="ctr">
                    <a:solidFill>
                      <a:srgbClr val="FFFFFF"/>
                    </a:solidFill>
                  </a:tcPr>
                </a:tc>
                <a:tc>
                  <a:txBody>
                    <a:bodyPr/>
                    <a:lstStyle/>
                    <a:p>
                      <a:r>
                        <a:rPr sz="1100" b="0">
                          <a:solidFill>
                            <a:srgbClr val="1E1E1E"/>
                          </a:solidFill>
                        </a:rPr>
                        <a:t>−6,5 %</a:t>
                      </a:r>
                    </a:p>
                  </a:txBody>
                  <a:tcPr marL="91440" marR="91440" marT="27432" marB="27432" anchor="ctr">
                    <a:solidFill>
                      <a:srgbClr val="FFFFFF"/>
                    </a:solidFill>
                  </a:tcPr>
                </a:tc>
              </a:tr>
              <a:tr h="457200">
                <a:tc>
                  <a:txBody>
                    <a:bodyPr/>
                    <a:lstStyle/>
                    <a:p>
                      <a:r>
                        <a:rPr sz="1100" b="0">
                          <a:solidFill>
                            <a:srgbClr val="1E1E1E"/>
                          </a:solidFill>
                        </a:rPr>
                        <a:t>IMG_7207 · frontal</a:t>
                      </a:r>
                    </a:p>
                  </a:txBody>
                  <a:tcPr marL="91440" marR="91440" marT="27432" marB="27432" anchor="ctr">
                    <a:solidFill>
                      <a:srgbClr val="EEEDED"/>
                    </a:solidFill>
                  </a:tcPr>
                </a:tc>
                <a:tc>
                  <a:txBody>
                    <a:bodyPr/>
                    <a:lstStyle/>
                    <a:p>
                      <a:r>
                        <a:rPr sz="1100" b="0">
                          <a:solidFill>
                            <a:srgbClr val="1E1E1E"/>
                          </a:solidFill>
                        </a:rPr>
                        <a:t>80,0</a:t>
                      </a:r>
                    </a:p>
                  </a:txBody>
                  <a:tcPr marL="91440" marR="91440" marT="27432" marB="27432" anchor="ctr">
                    <a:solidFill>
                      <a:srgbClr val="EEEDED"/>
                    </a:solidFill>
                  </a:tcPr>
                </a:tc>
                <a:tc>
                  <a:txBody>
                    <a:bodyPr/>
                    <a:lstStyle/>
                    <a:p>
                      <a:r>
                        <a:rPr sz="1100" b="0">
                          <a:solidFill>
                            <a:srgbClr val="1E1E1E"/>
                          </a:solidFill>
                        </a:rPr>
                        <a:t>73,9</a:t>
                      </a:r>
                    </a:p>
                  </a:txBody>
                  <a:tcPr marL="91440" marR="91440" marT="27432" marB="27432" anchor="ctr">
                    <a:solidFill>
                      <a:srgbClr val="EEEDED"/>
                    </a:solidFill>
                  </a:tcPr>
                </a:tc>
                <a:tc>
                  <a:txBody>
                    <a:bodyPr/>
                    <a:lstStyle/>
                    <a:p>
                      <a:r>
                        <a:rPr sz="1100" b="0">
                          <a:solidFill>
                            <a:srgbClr val="1E1E1E"/>
                          </a:solidFill>
                        </a:rPr>
                        <a:t>−7,6 %</a:t>
                      </a:r>
                    </a:p>
                  </a:txBody>
                  <a:tcPr marL="91440" marR="91440" marT="27432" marB="27432" anchor="ctr">
                    <a:solidFill>
                      <a:srgbClr val="EEEDED"/>
                    </a:solidFill>
                  </a:tcPr>
                </a:tc>
              </a:tr>
              <a:tr h="457200">
                <a:tc>
                  <a:txBody>
                    <a:bodyPr/>
                    <a:lstStyle/>
                    <a:p>
                      <a:r>
                        <a:rPr sz="1100" b="0">
                          <a:solidFill>
                            <a:srgbClr val="1E1E1E"/>
                          </a:solidFill>
                        </a:rPr>
                        <a:t>IMG_7215 · frontal</a:t>
                      </a:r>
                    </a:p>
                  </a:txBody>
                  <a:tcPr marL="91440" marR="91440" marT="27432" marB="27432" anchor="ctr">
                    <a:solidFill>
                      <a:srgbClr val="FFFFFF"/>
                    </a:solidFill>
                  </a:tcPr>
                </a:tc>
                <a:tc>
                  <a:txBody>
                    <a:bodyPr/>
                    <a:lstStyle/>
                    <a:p>
                      <a:r>
                        <a:rPr sz="1100" b="0">
                          <a:solidFill>
                            <a:srgbClr val="1E1E1E"/>
                          </a:solidFill>
                        </a:rPr>
                        <a:t>51,1</a:t>
                      </a:r>
                    </a:p>
                  </a:txBody>
                  <a:tcPr marL="91440" marR="91440" marT="27432" marB="27432" anchor="ctr">
                    <a:solidFill>
                      <a:srgbClr val="FFFFFF"/>
                    </a:solidFill>
                  </a:tcPr>
                </a:tc>
                <a:tc>
                  <a:txBody>
                    <a:bodyPr/>
                    <a:lstStyle/>
                    <a:p>
                      <a:r>
                        <a:rPr sz="1100" b="0">
                          <a:solidFill>
                            <a:srgbClr val="1E1E1E"/>
                          </a:solidFill>
                        </a:rPr>
                        <a:t>55,2</a:t>
                      </a:r>
                    </a:p>
                  </a:txBody>
                  <a:tcPr marL="91440" marR="91440" marT="27432" marB="27432" anchor="ctr">
                    <a:solidFill>
                      <a:srgbClr val="FFFFFF"/>
                    </a:solidFill>
                  </a:tcPr>
                </a:tc>
                <a:tc>
                  <a:txBody>
                    <a:bodyPr/>
                    <a:lstStyle/>
                    <a:p>
                      <a:r>
                        <a:rPr sz="1100" b="0">
                          <a:solidFill>
                            <a:srgbClr val="1E1E1E"/>
                          </a:solidFill>
                        </a:rPr>
                        <a:t>+8,2 %</a:t>
                      </a:r>
                    </a:p>
                  </a:txBody>
                  <a:tcPr marL="91440" marR="91440" marT="27432" marB="27432" anchor="ctr">
                    <a:solidFill>
                      <a:srgbClr val="FFFFFF"/>
                    </a:solidFill>
                  </a:tcPr>
                </a:tc>
              </a:tr>
            </a:tbl>
          </a:graphicData>
        </a:graphic>
      </p:graphicFrame>
      <p:sp>
        <p:nvSpPr>
          <p:cNvPr id="8" name="TextBox 7"/>
          <p:cNvSpPr txBox="1"/>
          <p:nvPr/>
        </p:nvSpPr>
        <p:spPr>
          <a:xfrm>
            <a:off x="8961120" y="4663440"/>
            <a:ext cx="4754880" cy="365760"/>
          </a:xfrm>
          <a:prstGeom prst="rect">
            <a:avLst/>
          </a:prstGeom>
          <a:noFill/>
        </p:spPr>
        <p:txBody>
          <a:bodyPr wrap="square" anchor="t" lIns="0" rIns="0" tIns="0" bIns="0">
            <a:spAutoFit/>
          </a:bodyPr>
          <a:lstStyle/>
          <a:p>
            <a:pPr algn="l">
              <a:spcAft>
                <a:spcPts val="600"/>
              </a:spcAft>
            </a:pPr>
            <a:r>
              <a:rPr sz="1100" b="0">
                <a:solidFill>
                  <a:srgbClr val="504B4B"/>
                </a:solidFill>
              </a:rPr>
              <a:t>Frecuencia (ciclos/min) frente al conteo manual</a:t>
            </a:r>
          </a:p>
        </p:txBody>
      </p:sp>
      <p:sp>
        <p:nvSpPr>
          <p:cNvPr id="9" name="Rectangle 8"/>
          <p:cNvSpPr/>
          <p:nvPr/>
        </p:nvSpPr>
        <p:spPr>
          <a:xfrm>
            <a:off x="8961120" y="5166360"/>
            <a:ext cx="4754880" cy="1600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89720" y="5166360"/>
            <a:ext cx="4297680" cy="1600200"/>
          </a:xfrm>
          <a:prstGeom prst="rect">
            <a:avLst/>
          </a:prstGeom>
          <a:noFill/>
        </p:spPr>
        <p:txBody>
          <a:bodyPr wrap="square" anchor="ctr" lIns="0" rIns="0" tIns="0" bIns="0">
            <a:spAutoFit/>
          </a:bodyPr>
          <a:lstStyle/>
          <a:p>
            <a:pPr algn="l">
              <a:spcAft>
                <a:spcPts val="600"/>
              </a:spcAft>
            </a:pPr>
            <a:r>
              <a:rPr sz="1300" b="1">
                <a:solidFill>
                  <a:srgbClr val="FF3228"/>
                </a:solidFill>
              </a:rPr>
              <a:t>Vista automática: </a:t>
            </a:r>
            <a:r>
              <a:rPr sz="1300" b="0">
                <a:solidFill>
                  <a:srgbClr val="FFFFFF"/>
                </a:solidFill>
              </a:rPr>
              <a:t>tramo frontal si ≥ 65 % de fotogramas con el tronco a &gt; 55° de la horizontal.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Fatiga con Isolation Forest</a:t>
            </a:r>
          </a:p>
        </p:txBody>
      </p:sp>
      <p:sp>
        <p:nvSpPr>
          <p:cNvPr id="4" name="Text Placeholder 3"/>
          <p:cNvSpPr>
            <a:spLocks noGrp="1"/>
          </p:cNvSpPr>
          <p:nvPr>
            <p:ph type="body" idx="18" sz="quarter"/>
          </p:nvPr>
        </p:nvSpPr>
        <p:spPr>
          <a:xfrm>
            <a:off x="906463" y="2172974"/>
            <a:ext cx="12344400" cy="594092"/>
          </a:xfrm>
        </p:spPr>
        <p:txBody>
          <a:bodyPr/>
          <a:lstStyle/>
          <a:p>
            <a:r>
              <a:t>Sin etiquetas: cuánto se aparta cada ciclo del nadador fresco</a:t>
            </a:r>
          </a:p>
        </p:txBody>
      </p:sp>
      <p:sp>
        <p:nvSpPr>
          <p:cNvPr id="5" name="Rectangle 4"/>
          <p:cNvSpPr/>
          <p:nvPr/>
        </p:nvSpPr>
        <p:spPr>
          <a:xfrm>
            <a:off x="905256" y="2743200"/>
            <a:ext cx="5486400" cy="9601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743200"/>
            <a:ext cx="5029200" cy="960120"/>
          </a:xfrm>
          <a:prstGeom prst="rect">
            <a:avLst/>
          </a:prstGeom>
          <a:noFill/>
        </p:spPr>
        <p:txBody>
          <a:bodyPr wrap="square" anchor="ctr" lIns="0" rIns="0" tIns="0" bIns="0">
            <a:spAutoFit/>
          </a:bodyPr>
          <a:lstStyle/>
          <a:p>
            <a:pPr algn="l">
              <a:spcAft>
                <a:spcPts val="600"/>
              </a:spcAft>
            </a:pPr>
            <a:r>
              <a:rPr sz="1300" b="1">
                <a:solidFill>
                  <a:srgbClr val="504B4B"/>
                </a:solidFill>
              </a:rPr>
              <a:t>Descartada: red recurrente supervisada. </a:t>
            </a:r>
            <a:r>
              <a:rPr sz="1300" b="0">
                <a:solidFill>
                  <a:srgbClr val="1E1E1E"/>
                </a:solidFill>
              </a:rPr>
              <a:t>Necesita ciclos etiquetados como fatigados: no existen.</a:t>
            </a:r>
          </a:p>
        </p:txBody>
      </p:sp>
      <p:sp>
        <p:nvSpPr>
          <p:cNvPr id="7" name="Rectangle 6"/>
          <p:cNvSpPr/>
          <p:nvPr/>
        </p:nvSpPr>
        <p:spPr>
          <a:xfrm>
            <a:off x="905256" y="3886200"/>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3886200"/>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1</a:t>
            </a:r>
          </a:p>
        </p:txBody>
      </p:sp>
      <p:sp>
        <p:nvSpPr>
          <p:cNvPr id="9" name="TextBox 8"/>
          <p:cNvSpPr txBox="1"/>
          <p:nvPr/>
        </p:nvSpPr>
        <p:spPr>
          <a:xfrm>
            <a:off x="1645920" y="3867912"/>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Fase fresca</a:t>
            </a:r>
          </a:p>
        </p:txBody>
      </p:sp>
      <p:sp>
        <p:nvSpPr>
          <p:cNvPr id="10" name="TextBox 9"/>
          <p:cNvSpPr txBox="1"/>
          <p:nvPr/>
        </p:nvSpPr>
        <p:spPr>
          <a:xfrm>
            <a:off x="1645920" y="4187952"/>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Primer 30 % de los ciclos (mín. 5); variables estandarizadas con ella</a:t>
            </a:r>
          </a:p>
        </p:txBody>
      </p:sp>
      <p:sp>
        <p:nvSpPr>
          <p:cNvPr id="11" name="Rectangle 10"/>
          <p:cNvSpPr/>
          <p:nvPr/>
        </p:nvSpPr>
        <p:spPr>
          <a:xfrm>
            <a:off x="905256" y="4645152"/>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4645152"/>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2</a:t>
            </a:r>
          </a:p>
        </p:txBody>
      </p:sp>
      <p:sp>
        <p:nvSpPr>
          <p:cNvPr id="13" name="TextBox 12"/>
          <p:cNvSpPr txBox="1"/>
          <p:nvPr/>
        </p:nvSpPr>
        <p:spPr>
          <a:xfrm>
            <a:off x="1645920" y="4626864"/>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Isolation Forest</a:t>
            </a:r>
          </a:p>
        </p:txBody>
      </p:sp>
      <p:sp>
        <p:nvSpPr>
          <p:cNvPr id="14" name="TextBox 13"/>
          <p:cNvSpPr txBox="1"/>
          <p:nvPr/>
        </p:nvSpPr>
        <p:spPr>
          <a:xfrm>
            <a:off x="1645920" y="4946904"/>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500 árboles; lo anómalo se aísla con menos cortes aleatorios</a:t>
            </a:r>
          </a:p>
        </p:txBody>
      </p:sp>
      <p:sp>
        <p:nvSpPr>
          <p:cNvPr id="15" name="Rectangle 14"/>
          <p:cNvSpPr/>
          <p:nvPr/>
        </p:nvSpPr>
        <p:spPr>
          <a:xfrm>
            <a:off x="905256" y="5404104"/>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5404104"/>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3</a:t>
            </a:r>
          </a:p>
        </p:txBody>
      </p:sp>
      <p:sp>
        <p:nvSpPr>
          <p:cNvPr id="17" name="TextBox 16"/>
          <p:cNvSpPr txBox="1"/>
          <p:nvPr/>
        </p:nvSpPr>
        <p:spPr>
          <a:xfrm>
            <a:off x="1645920" y="5385816"/>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Inicio</a:t>
            </a:r>
          </a:p>
        </p:txBody>
      </p:sp>
      <p:sp>
        <p:nvSpPr>
          <p:cNvPr id="18" name="TextBox 17"/>
          <p:cNvSpPr txBox="1"/>
          <p:nvPr/>
        </p:nvSpPr>
        <p:spPr>
          <a:xfrm>
            <a:off x="1645920" y="5705856"/>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3 ciclos seguidos sobre el percentil 95 fresco; PELT de contraste</a:t>
            </a:r>
          </a:p>
        </p:txBody>
      </p:sp>
      <p:sp>
        <p:nvSpPr>
          <p:cNvPr id="19" name="Rectangle 18"/>
          <p:cNvSpPr/>
          <p:nvPr/>
        </p:nvSpPr>
        <p:spPr>
          <a:xfrm>
            <a:off x="905256" y="6163056"/>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6163056"/>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4</a:t>
            </a:r>
          </a:p>
        </p:txBody>
      </p:sp>
      <p:sp>
        <p:nvSpPr>
          <p:cNvPr id="21" name="TextBox 20"/>
          <p:cNvSpPr txBox="1"/>
          <p:nvPr/>
        </p:nvSpPr>
        <p:spPr>
          <a:xfrm>
            <a:off x="1645920" y="6144768"/>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TreeSHAP</a:t>
            </a:r>
          </a:p>
        </p:txBody>
      </p:sp>
      <p:sp>
        <p:nvSpPr>
          <p:cNvPr id="22" name="TextBox 21"/>
          <p:cNvSpPr txBox="1"/>
          <p:nvPr/>
        </p:nvSpPr>
        <p:spPr>
          <a:xfrm>
            <a:off x="1645920" y="6464808"/>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Qué variable acerca cada ciclo a la fatiga</a:t>
            </a:r>
          </a:p>
        </p:txBody>
      </p:sp>
      <p:pic>
        <p:nvPicPr>
          <p:cNvPr id="23" name="Picture 22" descr="sintetico_fatiga_timeline.png"/>
          <p:cNvPicPr>
            <a:picLocks noChangeAspect="1"/>
          </p:cNvPicPr>
          <p:nvPr/>
        </p:nvPicPr>
        <p:blipFill>
          <a:blip r:embed="rId3"/>
          <a:stretch>
            <a:fillRect/>
          </a:stretch>
        </p:blipFill>
        <p:spPr>
          <a:xfrm>
            <a:off x="6903720" y="2697480"/>
            <a:ext cx="6583680" cy="3291840"/>
          </a:xfrm>
          <a:prstGeom prst="rect">
            <a:avLst/>
          </a:prstGeom>
        </p:spPr>
      </p:pic>
      <p:graphicFrame>
        <p:nvGraphicFramePr>
          <p:cNvPr id="24" name="Table 23"/>
          <p:cNvGraphicFramePr>
            <a:graphicFrameLocks noGrp="1"/>
          </p:cNvGraphicFramePr>
          <p:nvPr/>
        </p:nvGraphicFramePr>
        <p:xfrm>
          <a:off x="6675120" y="6035040"/>
          <a:ext cx="7040880" cy="731520"/>
        </p:xfrm>
        <a:graphic>
          <a:graphicData uri="http://schemas.openxmlformats.org/drawingml/2006/table">
            <a:tbl>
              <a:tblPr firstRow="1" bandRow="1">
                <a:tableStyleId>{5C22544A-7EE6-4342-B048-85BDC9FD1C3A}</a:tableStyleId>
              </a:tblPr>
              <a:tblGrid>
                <a:gridCol w="1463040"/>
                <a:gridCol w="1828800"/>
                <a:gridCol w="1737360"/>
                <a:gridCol w="2011680"/>
              </a:tblGrid>
              <a:tr h="365760">
                <a:tc>
                  <a:txBody>
                    <a:bodyPr/>
                    <a:lstStyle/>
                    <a:p>
                      <a:r>
                        <a:rPr sz="1100" b="1">
                          <a:solidFill>
                            <a:srgbClr val="FFFFFF"/>
                          </a:solidFill>
                        </a:rPr>
                        <a:t>Percentil</a:t>
                      </a:r>
                    </a:p>
                  </a:txBody>
                  <a:tcPr marL="91440" marR="91440" marT="27432" marB="27432" anchor="ctr">
                    <a:solidFill>
                      <a:srgbClr val="FF3228"/>
                    </a:solidFill>
                  </a:tcPr>
                </a:tc>
                <a:tc>
                  <a:txBody>
                    <a:bodyPr/>
                    <a:lstStyle/>
                    <a:p>
                      <a:r>
                        <a:rPr sz="1100" b="1">
                          <a:solidFill>
                            <a:srgbClr val="FFFFFF"/>
                          </a:solidFill>
                        </a:rPr>
                        <a:t>Detección</a:t>
                      </a:r>
                    </a:p>
                  </a:txBody>
                  <a:tcPr marL="91440" marR="91440" marT="27432" marB="27432" anchor="ctr">
                    <a:solidFill>
                      <a:srgbClr val="FF3228"/>
                    </a:solidFill>
                  </a:tcPr>
                </a:tc>
                <a:tc>
                  <a:txBody>
                    <a:bodyPr/>
                    <a:lstStyle/>
                    <a:p>
                      <a:r>
                        <a:rPr sz="1100" b="1">
                          <a:solidFill>
                            <a:srgbClr val="FFFFFF"/>
                          </a:solidFill>
                        </a:rPr>
                        <a:t>Falsas alarmas</a:t>
                      </a:r>
                    </a:p>
                  </a:txBody>
                  <a:tcPr marL="91440" marR="91440" marT="27432" marB="27432" anchor="ctr">
                    <a:solidFill>
                      <a:srgbClr val="FF3228"/>
                    </a:solidFill>
                  </a:tcPr>
                </a:tc>
                <a:tc>
                  <a:txBody>
                    <a:bodyPr/>
                    <a:lstStyle/>
                    <a:p>
                      <a:r>
                        <a:rPr sz="1100" b="1">
                          <a:solidFill>
                            <a:srgbClr val="FFFFFF"/>
                          </a:solidFill>
                        </a:rPr>
                        <a:t>Inicio (59-81 s)</a:t>
                      </a:r>
                    </a:p>
                  </a:txBody>
                  <a:tcPr marL="91440" marR="91440" marT="27432" marB="27432" anchor="ctr">
                    <a:solidFill>
                      <a:srgbClr val="FF3228"/>
                    </a:solidFill>
                  </a:tcPr>
                </a:tc>
              </a:tr>
              <a:tr h="365760">
                <a:tc>
                  <a:txBody>
                    <a:bodyPr/>
                    <a:lstStyle/>
                    <a:p>
                      <a:r>
                        <a:rPr sz="1100" b="0">
                          <a:solidFill>
                            <a:srgbClr val="1E1E1E"/>
                          </a:solidFill>
                        </a:rPr>
                        <a:t>90 · 95 · 99</a:t>
                      </a:r>
                    </a:p>
                  </a:txBody>
                  <a:tcPr marL="91440" marR="91440" marT="27432" marB="27432" anchor="ctr">
                    <a:solidFill>
                      <a:srgbClr val="FFFFFF"/>
                    </a:solidFill>
                  </a:tcPr>
                </a:tc>
                <a:tc>
                  <a:txBody>
                    <a:bodyPr/>
                    <a:lstStyle/>
                    <a:p>
                      <a:r>
                        <a:rPr sz="1100" b="0">
                          <a:solidFill>
                            <a:srgbClr val="1E1E1E"/>
                          </a:solidFill>
                        </a:rPr>
                        <a:t>100 · 100 · 60 %</a:t>
                      </a:r>
                    </a:p>
                  </a:txBody>
                  <a:tcPr marL="91440" marR="91440" marT="27432" marB="27432" anchor="ctr">
                    <a:solidFill>
                      <a:srgbClr val="FFFFFF"/>
                    </a:solidFill>
                  </a:tcPr>
                </a:tc>
                <a:tc>
                  <a:txBody>
                    <a:bodyPr/>
                    <a:lstStyle/>
                    <a:p>
                      <a:r>
                        <a:rPr sz="1100" b="0">
                          <a:solidFill>
                            <a:srgbClr val="1E1E1E"/>
                          </a:solidFill>
                        </a:rPr>
                        <a:t>30 · 10 · 0 %</a:t>
                      </a:r>
                    </a:p>
                  </a:txBody>
                  <a:tcPr marL="91440" marR="91440" marT="27432" marB="27432" anchor="ctr">
                    <a:solidFill>
                      <a:srgbClr val="FFFFFF"/>
                    </a:solidFill>
                  </a:tcPr>
                </a:tc>
                <a:tc>
                  <a:txBody>
                    <a:bodyPr/>
                    <a:lstStyle/>
                    <a:p>
                      <a:r>
                        <a:rPr sz="1100" b="0">
                          <a:solidFill>
                            <a:srgbClr val="1E1E1E"/>
                          </a:solidFill>
                        </a:rPr>
                        <a:t>64,1 · 70,5 · 80,5 s</a:t>
                      </a:r>
                    </a:p>
                  </a:txBody>
                  <a:tcPr marL="91440" marR="91440" marT="27432" marB="27432" anchor="ctr">
                    <a:solidFill>
                      <a:srgbClr val="FFFFFF"/>
                    </a:solidFill>
                  </a:tcPr>
                </a:tc>
              </a:tr>
            </a:tbl>
          </a:graphicData>
        </a:graphic>
      </p:graphicFrame>
      <p:sp>
        <p:nvSpPr>
          <p:cNvPr id="25" name="TextBox 24"/>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Gráfica y sensibilidad: datos sintéticos con fatiga programada (referencia conocida), no un nadador real.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El problema y el estado del arte</a:t>
            </a:r>
          </a:p>
        </p:txBody>
      </p:sp>
      <p:sp>
        <p:nvSpPr>
          <p:cNvPr id="4" name="Text Placeholder 3"/>
          <p:cNvSpPr>
            <a:spLocks noGrp="1"/>
          </p:cNvSpPr>
          <p:nvPr>
            <p:ph type="body" idx="18" sz="quarter"/>
          </p:nvPr>
        </p:nvSpPr>
        <p:spPr>
          <a:xfrm>
            <a:off x="906463" y="2172974"/>
            <a:ext cx="12344400" cy="594092"/>
          </a:xfrm>
        </p:spPr>
        <p:txBody>
          <a:bodyPr/>
          <a:lstStyle/>
          <a:p>
            <a:r>
              <a:t>¿Cuándo aparece la fatiga técnica y por qué?</a:t>
            </a:r>
          </a:p>
        </p:txBody>
      </p:sp>
      <p:sp>
        <p:nvSpPr>
          <p:cNvPr id="5" name="TextBox 4"/>
          <p:cNvSpPr txBox="1"/>
          <p:nvPr/>
        </p:nvSpPr>
        <p:spPr>
          <a:xfrm>
            <a:off x="905256" y="2697480"/>
            <a:ext cx="12801600" cy="914400"/>
          </a:xfrm>
          <a:prstGeom prst="rect">
            <a:avLst/>
          </a:prstGeom>
          <a:noFill/>
        </p:spPr>
        <p:txBody>
          <a:bodyPr wrap="square" anchor="t" lIns="0" rIns="0" tIns="0" bIns="0">
            <a:spAutoFit/>
          </a:bodyPr>
          <a:lstStyle/>
          <a:p>
            <a:pPr algn="l">
              <a:spcAft>
                <a:spcPts val="600"/>
              </a:spcAft>
            </a:pPr>
            <a:r>
              <a:rPr sz="1500" b="1">
                <a:solidFill>
                  <a:srgbClr val="FF3228"/>
                </a:solidFill>
              </a:rPr>
              <a:t>El problema. </a:t>
            </a:r>
            <a:r>
              <a:rPr sz="1500" b="0">
                <a:solidFill>
                  <a:srgbClr val="1E1E1E"/>
                </a:solidFill>
              </a:rPr>
              <a:t>No existe una herramienta accesible que, a partir de un único vídeo y sin instrumentación adicional, cuantifique la eficiencia de la técnica de nado, detecte el inicio de la fatiga técnica y atribuya esa fatiga a variables biomecánicas que el entrenador pueda interpretar.</a:t>
            </a:r>
          </a:p>
        </p:txBody>
      </p:sp>
      <p:graphicFrame>
        <p:nvGraphicFramePr>
          <p:cNvPr id="6" name="Table 5"/>
          <p:cNvGraphicFramePr>
            <a:graphicFrameLocks noGrp="1"/>
          </p:cNvGraphicFramePr>
          <p:nvPr/>
        </p:nvGraphicFramePr>
        <p:xfrm>
          <a:off x="905256" y="3703320"/>
          <a:ext cx="12801600" cy="2011680"/>
        </p:xfrm>
        <a:graphic>
          <a:graphicData uri="http://schemas.openxmlformats.org/drawingml/2006/table">
            <a:tbl>
              <a:tblPr firstRow="1" bandRow="1">
                <a:tableStyleId>{5C22544A-7EE6-4342-B048-85BDC9FD1C3A}</a:tableStyleId>
              </a:tblPr>
              <a:tblGrid>
                <a:gridCol w="2651760"/>
                <a:gridCol w="3108960"/>
                <a:gridCol w="3657600"/>
                <a:gridCol w="3383280"/>
              </a:tblGrid>
              <a:tr h="402336">
                <a:tc>
                  <a:txBody>
                    <a:bodyPr/>
                    <a:lstStyle/>
                    <a:p/>
                  </a:txBody>
                  <a:tcPr marL="91440" marR="91440" marT="27432" marB="27432" anchor="ctr">
                    <a:solidFill>
                      <a:srgbClr val="FF3228"/>
                    </a:solidFill>
                  </a:tcPr>
                </a:tc>
                <a:tc>
                  <a:txBody>
                    <a:bodyPr/>
                    <a:lstStyle/>
                    <a:p>
                      <a:r>
                        <a:rPr sz="1100" b="1">
                          <a:solidFill>
                            <a:srgbClr val="FFFFFF"/>
                          </a:solidFill>
                        </a:rPr>
                        <a:t>Observación del entrenador</a:t>
                      </a:r>
                    </a:p>
                  </a:txBody>
                  <a:tcPr marL="91440" marR="91440" marT="27432" marB="27432" anchor="ctr">
                    <a:solidFill>
                      <a:srgbClr val="FF3228"/>
                    </a:solidFill>
                  </a:tcPr>
                </a:tc>
                <a:tc>
                  <a:txBody>
                    <a:bodyPr/>
                    <a:lstStyle/>
                    <a:p>
                      <a:r>
                        <a:rPr sz="1100" b="1">
                          <a:solidFill>
                            <a:srgbClr val="FFFFFF"/>
                          </a:solidFill>
                        </a:rPr>
                        <a:t>Sistemas instrumentados</a:t>
                      </a:r>
                    </a:p>
                  </a:txBody>
                  <a:tcPr marL="91440" marR="91440" marT="27432" marB="27432" anchor="ctr">
                    <a:solidFill>
                      <a:srgbClr val="FF3228"/>
                    </a:solidFill>
                  </a:tcPr>
                </a:tc>
                <a:tc>
                  <a:txBody>
                    <a:bodyPr/>
                    <a:lstStyle/>
                    <a:p>
                      <a:r>
                        <a:rPr sz="1100" b="1">
                          <a:solidFill>
                            <a:srgbClr val="FFFFFF"/>
                          </a:solidFill>
                        </a:rPr>
                        <a:t>StrokeLab</a:t>
                      </a:r>
                    </a:p>
                  </a:txBody>
                  <a:tcPr marL="91440" marR="91440" marT="27432" marB="27432" anchor="ctr">
                    <a:solidFill>
                      <a:srgbClr val="FF3228"/>
                    </a:solidFill>
                  </a:tcPr>
                </a:tc>
              </a:tr>
              <a:tr h="402336">
                <a:tc>
                  <a:txBody>
                    <a:bodyPr/>
                    <a:lstStyle/>
                    <a:p>
                      <a:r>
                        <a:rPr sz="1100" b="0">
                          <a:solidFill>
                            <a:srgbClr val="1E1E1E"/>
                          </a:solidFill>
                        </a:rPr>
                        <a:t>Entrada</a:t>
                      </a:r>
                    </a:p>
                  </a:txBody>
                  <a:tcPr marL="91440" marR="91440" marT="27432" marB="27432" anchor="ctr">
                    <a:solidFill>
                      <a:srgbClr val="FFFFFF"/>
                    </a:solidFill>
                  </a:tcPr>
                </a:tc>
                <a:tc>
                  <a:txBody>
                    <a:bodyPr/>
                    <a:lstStyle/>
                    <a:p>
                      <a:r>
                        <a:rPr sz="1100" b="0">
                          <a:solidFill>
                            <a:srgbClr val="1E1E1E"/>
                          </a:solidFill>
                        </a:rPr>
                        <a:t>El ojo del entrenador</a:t>
                      </a:r>
                    </a:p>
                  </a:txBody>
                  <a:tcPr marL="91440" marR="91440" marT="27432" marB="27432" anchor="ctr">
                    <a:solidFill>
                      <a:srgbClr val="FFFFFF"/>
                    </a:solidFill>
                  </a:tcPr>
                </a:tc>
                <a:tc>
                  <a:txBody>
                    <a:bodyPr/>
                    <a:lstStyle/>
                    <a:p>
                      <a:r>
                        <a:rPr sz="1100" b="0">
                          <a:solidFill>
                            <a:srgbClr val="1E1E1E"/>
                          </a:solidFill>
                        </a:rPr>
                        <a:t>Sensores inerciales, varias cámaras o marcadores</a:t>
                      </a:r>
                    </a:p>
                  </a:txBody>
                  <a:tcPr marL="91440" marR="91440" marT="27432" marB="27432" anchor="ctr">
                    <a:solidFill>
                      <a:srgbClr val="FFFFFF"/>
                    </a:solidFill>
                  </a:tcPr>
                </a:tc>
                <a:tc>
                  <a:txBody>
                    <a:bodyPr/>
                    <a:lstStyle/>
                    <a:p>
                      <a:r>
                        <a:rPr sz="1100" b="0">
                          <a:solidFill>
                            <a:srgbClr val="1E1E1E"/>
                          </a:solidFill>
                        </a:rPr>
                        <a:t>Un único vídeo convencional</a:t>
                      </a:r>
                    </a:p>
                  </a:txBody>
                  <a:tcPr marL="91440" marR="91440" marT="27432" marB="27432" anchor="ctr">
                    <a:solidFill>
                      <a:srgbClr val="FFFFFF"/>
                    </a:solidFill>
                  </a:tcPr>
                </a:tc>
              </a:tr>
              <a:tr h="402336">
                <a:tc>
                  <a:txBody>
                    <a:bodyPr/>
                    <a:lstStyle/>
                    <a:p>
                      <a:r>
                        <a:rPr sz="1100" b="0">
                          <a:solidFill>
                            <a:srgbClr val="1E1E1E"/>
                          </a:solidFill>
                        </a:rPr>
                        <a:t>Coste y equipo</a:t>
                      </a:r>
                    </a:p>
                  </a:txBody>
                  <a:tcPr marL="91440" marR="91440" marT="27432" marB="27432" anchor="ctr">
                    <a:solidFill>
                      <a:srgbClr val="EEEDED"/>
                    </a:solidFill>
                  </a:tcPr>
                </a:tc>
                <a:tc>
                  <a:txBody>
                    <a:bodyPr/>
                    <a:lstStyle/>
                    <a:p>
                      <a:r>
                        <a:rPr sz="1100" b="0">
                          <a:solidFill>
                            <a:srgbClr val="1E1E1E"/>
                          </a:solidFill>
                        </a:rPr>
                        <a:t>Ninguno</a:t>
                      </a:r>
                    </a:p>
                  </a:txBody>
                  <a:tcPr marL="91440" marR="91440" marT="27432" marB="27432" anchor="ctr">
                    <a:solidFill>
                      <a:srgbClr val="EEEDED"/>
                    </a:solidFill>
                  </a:tcPr>
                </a:tc>
                <a:tc>
                  <a:txBody>
                    <a:bodyPr/>
                    <a:lstStyle/>
                    <a:p>
                      <a:r>
                        <a:rPr sz="1100" b="0">
                          <a:solidFill>
                            <a:srgbClr val="1E1E1E"/>
                          </a:solidFill>
                        </a:rPr>
                        <a:t>Coste elevado</a:t>
                      </a:r>
                    </a:p>
                  </a:txBody>
                  <a:tcPr marL="91440" marR="91440" marT="27432" marB="27432" anchor="ctr">
                    <a:solidFill>
                      <a:srgbClr val="EEEDED"/>
                    </a:solidFill>
                  </a:tcPr>
                </a:tc>
                <a:tc>
                  <a:txBody>
                    <a:bodyPr/>
                    <a:lstStyle/>
                    <a:p>
                      <a:r>
                        <a:rPr sz="1100" b="0">
                          <a:solidFill>
                            <a:srgbClr val="1E1E1E"/>
                          </a:solidFill>
                        </a:rPr>
                        <a:t>Portátil sin GPU, ejecución local</a:t>
                      </a:r>
                    </a:p>
                  </a:txBody>
                  <a:tcPr marL="91440" marR="91440" marT="27432" marB="27432" anchor="ctr">
                    <a:solidFill>
                      <a:srgbClr val="EEEDED"/>
                    </a:solidFill>
                  </a:tcPr>
                </a:tc>
              </a:tr>
              <a:tr h="402336">
                <a:tc>
                  <a:txBody>
                    <a:bodyPr/>
                    <a:lstStyle/>
                    <a:p>
                      <a:r>
                        <a:rPr sz="1100" b="0">
                          <a:solidFill>
                            <a:srgbClr val="1E1E1E"/>
                          </a:solidFill>
                        </a:rPr>
                        <a:t>¿Cuándo empieza la fatiga?</a:t>
                      </a:r>
                    </a:p>
                  </a:txBody>
                  <a:tcPr marL="91440" marR="91440" marT="27432" marB="27432" anchor="ctr">
                    <a:solidFill>
                      <a:srgbClr val="FFFFFF"/>
                    </a:solidFill>
                  </a:tcPr>
                </a:tc>
                <a:tc>
                  <a:txBody>
                    <a:bodyPr/>
                    <a:lstStyle/>
                    <a:p>
                      <a:r>
                        <a:rPr sz="1100" b="0">
                          <a:solidFill>
                            <a:srgbClr val="1E1E1E"/>
                          </a:solidFill>
                        </a:rPr>
                        <a:t>No se fija con precisión</a:t>
                      </a:r>
                    </a:p>
                  </a:txBody>
                  <a:tcPr marL="91440" marR="91440" marT="27432" marB="27432" anchor="ctr">
                    <a:solidFill>
                      <a:srgbClr val="FFFFFF"/>
                    </a:solidFill>
                  </a:tcPr>
                </a:tc>
                <a:tc>
                  <a:txBody>
                    <a:bodyPr/>
                    <a:lstStyle/>
                    <a:p>
                      <a:r>
                        <a:rPr sz="1100" b="0">
                          <a:solidFill>
                            <a:srgbClr val="1E1E1E"/>
                          </a:solidFill>
                        </a:rPr>
                        <a:t>Miden la técnica o la fatiga por separado</a:t>
                      </a:r>
                    </a:p>
                  </a:txBody>
                  <a:tcPr marL="91440" marR="91440" marT="27432" marB="27432" anchor="ctr">
                    <a:solidFill>
                      <a:srgbClr val="FFFFFF"/>
                    </a:solidFill>
                  </a:tcPr>
                </a:tc>
                <a:tc>
                  <a:txBody>
                    <a:bodyPr/>
                    <a:lstStyle/>
                    <a:p>
                      <a:r>
                        <a:rPr sz="1100" b="0">
                          <a:solidFill>
                            <a:srgbClr val="1E1E1E"/>
                          </a:solidFill>
                        </a:rPr>
                        <a:t>Ciclo de inicio, sin etiquetas</a:t>
                      </a:r>
                    </a:p>
                  </a:txBody>
                  <a:tcPr marL="91440" marR="91440" marT="27432" marB="27432" anchor="ctr">
                    <a:solidFill>
                      <a:srgbClr val="FFFFFF"/>
                    </a:solidFill>
                  </a:tcPr>
                </a:tc>
              </a:tr>
              <a:tr h="402336">
                <a:tc>
                  <a:txBody>
                    <a:bodyPr/>
                    <a:lstStyle/>
                    <a:p>
                      <a:r>
                        <a:rPr sz="1100" b="0">
                          <a:solidFill>
                            <a:srgbClr val="1E1E1E"/>
                          </a:solidFill>
                        </a:rPr>
                        <a:t>¿Por qué? (qué variable)</a:t>
                      </a:r>
                    </a:p>
                  </a:txBody>
                  <a:tcPr marL="91440" marR="91440" marT="27432" marB="27432" anchor="ctr">
                    <a:solidFill>
                      <a:srgbClr val="EEEDED"/>
                    </a:solidFill>
                  </a:tcPr>
                </a:tc>
                <a:tc>
                  <a:txBody>
                    <a:bodyPr/>
                    <a:lstStyle/>
                    <a:p>
                      <a:r>
                        <a:rPr sz="1100" b="0">
                          <a:solidFill>
                            <a:srgbClr val="1E1E1E"/>
                          </a:solidFill>
                        </a:rPr>
                        <a:t>No se sabe cuál cambia primero</a:t>
                      </a:r>
                    </a:p>
                  </a:txBody>
                  <a:tcPr marL="91440" marR="91440" marT="27432" marB="27432" anchor="ctr">
                    <a:solidFill>
                      <a:srgbClr val="EEEDED"/>
                    </a:solidFill>
                  </a:tcPr>
                </a:tc>
                <a:tc>
                  <a:txBody>
                    <a:bodyPr/>
                    <a:lstStyle/>
                    <a:p>
                      <a:r>
                        <a:rPr sz="1100" b="0">
                          <a:solidFill>
                            <a:srgbClr val="1E1E1E"/>
                          </a:solidFill>
                        </a:rPr>
                        <a:t>Métricas sin explicar su relación con el estado</a:t>
                      </a:r>
                    </a:p>
                  </a:txBody>
                  <a:tcPr marL="91440" marR="91440" marT="27432" marB="27432" anchor="ctr">
                    <a:solidFill>
                      <a:srgbClr val="EEEDED"/>
                    </a:solidFill>
                  </a:tcPr>
                </a:tc>
                <a:tc>
                  <a:txBody>
                    <a:bodyPr/>
                    <a:lstStyle/>
                    <a:p>
                      <a:r>
                        <a:rPr sz="1100" b="0">
                          <a:solidFill>
                            <a:srgbClr val="1E1E1E"/>
                          </a:solidFill>
                        </a:rPr>
                        <a:t>SHAP por variable y texto para el entrenador</a:t>
                      </a:r>
                    </a:p>
                  </a:txBody>
                  <a:tcPr marL="91440" marR="91440" marT="27432" marB="27432" anchor="ctr">
                    <a:solidFill>
                      <a:srgbClr val="EEEDED"/>
                    </a:solidFill>
                  </a:tcPr>
                </a:tc>
              </a:tr>
            </a:tbl>
          </a:graphicData>
        </a:graphic>
      </p:graphicFrame>
      <p:sp>
        <p:nvSpPr>
          <p:cNvPr id="7" name="Rectangle 6"/>
          <p:cNvSpPr/>
          <p:nvPr/>
        </p:nvSpPr>
        <p:spPr>
          <a:xfrm>
            <a:off x="905256" y="5852160"/>
            <a:ext cx="12801600" cy="96012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5852160"/>
            <a:ext cx="12252960" cy="960120"/>
          </a:xfrm>
          <a:prstGeom prst="rect">
            <a:avLst/>
          </a:prstGeom>
          <a:noFill/>
        </p:spPr>
        <p:txBody>
          <a:bodyPr wrap="square" anchor="ctr" lIns="0" rIns="0" tIns="0" bIns="0">
            <a:spAutoFit/>
          </a:bodyPr>
          <a:lstStyle/>
          <a:p>
            <a:pPr algn="l">
              <a:spcAft>
                <a:spcPts val="600"/>
              </a:spcAft>
            </a:pPr>
            <a:r>
              <a:rPr sz="1400" b="1">
                <a:solidFill>
                  <a:srgbClr val="FF3228"/>
                </a:solidFill>
              </a:rPr>
              <a:t>Preguntas de investigación: </a:t>
            </a:r>
            <a:r>
              <a:rPr sz="1400" b="0">
                <a:solidFill>
                  <a:srgbClr val="FFFFFF"/>
                </a:solidFill>
              </a:rPr>
              <a:t>(1) pose bajo el agua en CPU · (2) de la pose a ciclos y variables biomecánicas · (3, la central) sin etiquetas, en qué ciclo se degrada la técnica y qué variables lo explican.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Objetivo y aportación</a:t>
            </a:r>
          </a:p>
        </p:txBody>
      </p:sp>
      <p:sp>
        <p:nvSpPr>
          <p:cNvPr id="4" name="Text Placeholder 3"/>
          <p:cNvSpPr>
            <a:spLocks noGrp="1"/>
          </p:cNvSpPr>
          <p:nvPr>
            <p:ph type="body" idx="18" sz="quarter"/>
          </p:nvPr>
        </p:nvSpPr>
        <p:spPr>
          <a:xfrm>
            <a:off x="906463" y="2172974"/>
            <a:ext cx="12344400" cy="594092"/>
          </a:xfrm>
        </p:spPr>
        <p:txBody>
          <a:bodyPr/>
          <a:lstStyle/>
          <a:p>
            <a:r>
              <a:t>IA explicable desde un vídeo, en un portátil sin GPU</a:t>
            </a:r>
          </a:p>
        </p:txBody>
      </p:sp>
      <p:sp>
        <p:nvSpPr>
          <p:cNvPr id="5" name="TextBox 4"/>
          <p:cNvSpPr txBox="1"/>
          <p:nvPr/>
        </p:nvSpPr>
        <p:spPr>
          <a:xfrm>
            <a:off x="905256" y="2697480"/>
            <a:ext cx="12801600" cy="1051560"/>
          </a:xfrm>
          <a:prstGeom prst="rect">
            <a:avLst/>
          </a:prstGeom>
          <a:noFill/>
        </p:spPr>
        <p:txBody>
          <a:bodyPr wrap="square" anchor="t" lIns="0" rIns="0" tIns="0" bIns="0">
            <a:spAutoFit/>
          </a:bodyPr>
          <a:lstStyle/>
          <a:p>
            <a:pPr algn="l">
              <a:spcAft>
                <a:spcPts val="600"/>
              </a:spcAft>
            </a:pPr>
            <a:r>
              <a:rPr sz="1500" b="1">
                <a:solidFill>
                  <a:srgbClr val="FF3228"/>
                </a:solidFill>
              </a:rPr>
              <a:t>El objetivo. </a:t>
            </a:r>
            <a:r>
              <a:rPr sz="1500" b="0">
                <a:solidFill>
                  <a:srgbClr val="1E1E1E"/>
                </a:solidFill>
              </a:rPr>
              <a:t>Desarrollar un sistema de inteligencia artificial explicable que, a partir de un vídeo de nado y en un ordenador personal sin GPU, cuantifique la eficiencia de la técnica de nado, detecte el inicio de la fatiga técnica y atribuya sus causas a variables biomecánicas interpretables.</a:t>
            </a:r>
          </a:p>
        </p:txBody>
      </p:sp>
      <p:sp>
        <p:nvSpPr>
          <p:cNvPr id="6" name="Rectangle 5"/>
          <p:cNvSpPr/>
          <p:nvPr/>
        </p:nvSpPr>
        <p:spPr>
          <a:xfrm>
            <a:off x="905256" y="3840480"/>
            <a:ext cx="3063240" cy="22402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 y="3977639"/>
            <a:ext cx="2651760" cy="365760"/>
          </a:xfrm>
          <a:prstGeom prst="rect">
            <a:avLst/>
          </a:prstGeom>
          <a:noFill/>
        </p:spPr>
        <p:txBody>
          <a:bodyPr wrap="square" anchor="t" lIns="0" rIns="0" tIns="0" bIns="0">
            <a:spAutoFit/>
          </a:bodyPr>
          <a:lstStyle/>
          <a:p>
            <a:pPr algn="l">
              <a:spcAft>
                <a:spcPts val="600"/>
              </a:spcAft>
            </a:pPr>
            <a:r>
              <a:rPr sz="1600" b="1">
                <a:solidFill>
                  <a:srgbClr val="FF3228"/>
                </a:solidFill>
              </a:rPr>
              <a:t>Visión</a:t>
            </a:r>
          </a:p>
        </p:txBody>
      </p:sp>
      <p:sp>
        <p:nvSpPr>
          <p:cNvPr id="8" name="TextBox 7"/>
          <p:cNvSpPr txBox="1"/>
          <p:nvPr/>
        </p:nvSpPr>
        <p:spPr>
          <a:xfrm>
            <a:off x="1133856" y="4434840"/>
            <a:ext cx="2651760" cy="1280160"/>
          </a:xfrm>
          <a:prstGeom prst="rect">
            <a:avLst/>
          </a:prstGeom>
          <a:noFill/>
        </p:spPr>
        <p:txBody>
          <a:bodyPr wrap="square" anchor="t" lIns="0" rIns="0" tIns="0" bIns="0">
            <a:spAutoFit/>
          </a:bodyPr>
          <a:lstStyle/>
          <a:p>
            <a:pPr algn="l">
              <a:spcAft>
                <a:spcPts val="400"/>
              </a:spcAft>
            </a:pPr>
            <a:r>
              <a:rPr sz="1200" b="0">
                <a:solidFill>
                  <a:srgbClr val="1E1E1E"/>
                </a:solidFill>
              </a:rPr>
              <a:t>OE1 · elegir el modelo de pose en CPU</a:t>
            </a:r>
          </a:p>
          <a:p>
            <a:pPr algn="l">
              <a:spcAft>
                <a:spcPts val="400"/>
              </a:spcAft>
            </a:pPr>
            <a:r>
              <a:rPr sz="1200" b="0">
                <a:solidFill>
                  <a:srgbClr val="1E1E1E"/>
                </a:solidFill>
              </a:rPr>
              <a:t>OE2 · elevar a 3D y evaluarlo</a:t>
            </a:r>
          </a:p>
        </p:txBody>
      </p:sp>
      <p:sp>
        <p:nvSpPr>
          <p:cNvPr id="9" name="TextBox 8"/>
          <p:cNvSpPr txBox="1"/>
          <p:nvPr/>
        </p:nvSpPr>
        <p:spPr>
          <a:xfrm>
            <a:off x="1133856" y="5715000"/>
            <a:ext cx="2651760" cy="274320"/>
          </a:xfrm>
          <a:prstGeom prst="rect">
            <a:avLst/>
          </a:prstGeom>
          <a:noFill/>
        </p:spPr>
        <p:txBody>
          <a:bodyPr wrap="square" anchor="t" lIns="0" rIns="0" tIns="0" bIns="0">
            <a:spAutoFit/>
          </a:bodyPr>
          <a:lstStyle/>
          <a:p>
            <a:pPr algn="l">
              <a:spcAft>
                <a:spcPts val="600"/>
              </a:spcAft>
            </a:pPr>
            <a:r>
              <a:rPr sz="1000" b="0">
                <a:solidFill>
                  <a:srgbClr val="504B4B"/>
                </a:solidFill>
              </a:rPr>
              <a:t>Vertical de visión</a:t>
            </a:r>
          </a:p>
        </p:txBody>
      </p:sp>
      <p:sp>
        <p:nvSpPr>
          <p:cNvPr id="10" name="Rectangle 9"/>
          <p:cNvSpPr/>
          <p:nvPr/>
        </p:nvSpPr>
        <p:spPr>
          <a:xfrm>
            <a:off x="4151376" y="3840480"/>
            <a:ext cx="3063240" cy="22402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79976" y="3977639"/>
            <a:ext cx="2651760" cy="365760"/>
          </a:xfrm>
          <a:prstGeom prst="rect">
            <a:avLst/>
          </a:prstGeom>
          <a:noFill/>
        </p:spPr>
        <p:txBody>
          <a:bodyPr wrap="square" anchor="t" lIns="0" rIns="0" tIns="0" bIns="0">
            <a:spAutoFit/>
          </a:bodyPr>
          <a:lstStyle/>
          <a:p>
            <a:pPr algn="l">
              <a:spcAft>
                <a:spcPts val="600"/>
              </a:spcAft>
            </a:pPr>
            <a:r>
              <a:rPr sz="1600" b="1">
                <a:solidFill>
                  <a:srgbClr val="FF3228"/>
                </a:solidFill>
              </a:rPr>
              <a:t>Ciclos y variables</a:t>
            </a:r>
          </a:p>
        </p:txBody>
      </p:sp>
      <p:sp>
        <p:nvSpPr>
          <p:cNvPr id="12" name="TextBox 11"/>
          <p:cNvSpPr txBox="1"/>
          <p:nvPr/>
        </p:nvSpPr>
        <p:spPr>
          <a:xfrm>
            <a:off x="4379976" y="4434840"/>
            <a:ext cx="2651760" cy="1280160"/>
          </a:xfrm>
          <a:prstGeom prst="rect">
            <a:avLst/>
          </a:prstGeom>
          <a:noFill/>
        </p:spPr>
        <p:txBody>
          <a:bodyPr wrap="square" anchor="t" lIns="0" rIns="0" tIns="0" bIns="0">
            <a:spAutoFit/>
          </a:bodyPr>
          <a:lstStyle/>
          <a:p>
            <a:pPr algn="l">
              <a:spcAft>
                <a:spcPts val="400"/>
              </a:spcAft>
            </a:pPr>
            <a:r>
              <a:rPr sz="1200" b="0">
                <a:solidFill>
                  <a:srgbClr val="1E1E1E"/>
                </a:solidFill>
              </a:rPr>
              <a:t>OE3 · ciclos validados con conteo manual</a:t>
            </a:r>
          </a:p>
          <a:p>
            <a:pPr algn="l">
              <a:spcAft>
                <a:spcPts val="400"/>
              </a:spcAft>
            </a:pPr>
            <a:r>
              <a:rPr sz="1200" b="0">
                <a:solidFill>
                  <a:srgbClr val="1E1E1E"/>
                </a:solidFill>
              </a:rPr>
              <a:t>OE4 · eficiencia y ángulos por ciclo</a:t>
            </a:r>
          </a:p>
          <a:p>
            <a:pPr algn="l">
              <a:spcAft>
                <a:spcPts val="400"/>
              </a:spcAft>
            </a:pPr>
            <a:r>
              <a:rPr sz="1200" b="0">
                <a:solidFill>
                  <a:srgbClr val="1E1E1E"/>
                </a:solidFill>
              </a:rPr>
              <a:t>OE7 · estilo de nado</a:t>
            </a:r>
          </a:p>
        </p:txBody>
      </p:sp>
      <p:sp>
        <p:nvSpPr>
          <p:cNvPr id="13" name="TextBox 12"/>
          <p:cNvSpPr txBox="1"/>
          <p:nvPr/>
        </p:nvSpPr>
        <p:spPr>
          <a:xfrm>
            <a:off x="4379976" y="5715000"/>
            <a:ext cx="2651760" cy="274320"/>
          </a:xfrm>
          <a:prstGeom prst="rect">
            <a:avLst/>
          </a:prstGeom>
          <a:noFill/>
        </p:spPr>
        <p:txBody>
          <a:bodyPr wrap="square" anchor="t" lIns="0" rIns="0" tIns="0" bIns="0">
            <a:spAutoFit/>
          </a:bodyPr>
          <a:lstStyle/>
          <a:p>
            <a:pPr algn="l">
              <a:spcAft>
                <a:spcPts val="600"/>
              </a:spcAft>
            </a:pPr>
            <a:r>
              <a:rPr sz="1000" b="0">
                <a:solidFill>
                  <a:srgbClr val="504B4B"/>
                </a:solidFill>
              </a:rPr>
              <a:t>Vertical tabular</a:t>
            </a:r>
          </a:p>
        </p:txBody>
      </p:sp>
      <p:sp>
        <p:nvSpPr>
          <p:cNvPr id="14" name="Rectangle 13"/>
          <p:cNvSpPr/>
          <p:nvPr/>
        </p:nvSpPr>
        <p:spPr>
          <a:xfrm>
            <a:off x="7397496" y="3840480"/>
            <a:ext cx="3063240" cy="224028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6096" y="3977639"/>
            <a:ext cx="2651760" cy="365760"/>
          </a:xfrm>
          <a:prstGeom prst="rect">
            <a:avLst/>
          </a:prstGeom>
          <a:noFill/>
        </p:spPr>
        <p:txBody>
          <a:bodyPr wrap="square" anchor="t" lIns="0" rIns="0" tIns="0" bIns="0">
            <a:spAutoFit/>
          </a:bodyPr>
          <a:lstStyle/>
          <a:p>
            <a:pPr algn="l">
              <a:spcAft>
                <a:spcPts val="600"/>
              </a:spcAft>
            </a:pPr>
            <a:r>
              <a:rPr sz="1600" b="1">
                <a:solidFill>
                  <a:srgbClr val="FFFFFF"/>
                </a:solidFill>
              </a:rPr>
              <a:t>Fatiga explicable</a:t>
            </a:r>
          </a:p>
        </p:txBody>
      </p:sp>
      <p:sp>
        <p:nvSpPr>
          <p:cNvPr id="16" name="TextBox 15"/>
          <p:cNvSpPr txBox="1"/>
          <p:nvPr/>
        </p:nvSpPr>
        <p:spPr>
          <a:xfrm>
            <a:off x="7626096" y="4434840"/>
            <a:ext cx="2651760" cy="1280160"/>
          </a:xfrm>
          <a:prstGeom prst="rect">
            <a:avLst/>
          </a:prstGeom>
          <a:noFill/>
        </p:spPr>
        <p:txBody>
          <a:bodyPr wrap="square" anchor="t" lIns="0" rIns="0" tIns="0" bIns="0">
            <a:spAutoFit/>
          </a:bodyPr>
          <a:lstStyle/>
          <a:p>
            <a:pPr algn="l">
              <a:spcAft>
                <a:spcPts val="400"/>
              </a:spcAft>
            </a:pPr>
            <a:r>
              <a:rPr sz="1200" b="0">
                <a:solidFill>
                  <a:srgbClr val="FFFFFF"/>
                </a:solidFill>
              </a:rPr>
              <a:t>OE5 · inicio respecto al propio nadador</a:t>
            </a:r>
          </a:p>
          <a:p>
            <a:pPr algn="l">
              <a:spcAft>
                <a:spcPts val="400"/>
              </a:spcAft>
            </a:pPr>
            <a:r>
              <a:rPr sz="1200" b="0">
                <a:solidFill>
                  <a:srgbClr val="FFFFFF"/>
                </a:solidFill>
              </a:rPr>
              <a:t>OE6 · causas con SHAP y en texto</a:t>
            </a:r>
          </a:p>
        </p:txBody>
      </p:sp>
      <p:sp>
        <p:nvSpPr>
          <p:cNvPr id="17" name="TextBox 16"/>
          <p:cNvSpPr txBox="1"/>
          <p:nvPr/>
        </p:nvSpPr>
        <p:spPr>
          <a:xfrm>
            <a:off x="7626096" y="5715000"/>
            <a:ext cx="2651760" cy="274320"/>
          </a:xfrm>
          <a:prstGeom prst="rect">
            <a:avLst/>
          </a:prstGeom>
          <a:noFill/>
        </p:spPr>
        <p:txBody>
          <a:bodyPr wrap="square" anchor="t" lIns="0" rIns="0" tIns="0" bIns="0">
            <a:spAutoFit/>
          </a:bodyPr>
          <a:lstStyle/>
          <a:p>
            <a:pPr algn="l">
              <a:spcAft>
                <a:spcPts val="600"/>
              </a:spcAft>
            </a:pPr>
            <a:r>
              <a:rPr sz="1000" b="0">
                <a:solidFill>
                  <a:srgbClr val="FFFFFF"/>
                </a:solidFill>
              </a:rPr>
              <a:t>Vertical tabular + XAI</a:t>
            </a:r>
          </a:p>
        </p:txBody>
      </p:sp>
      <p:sp>
        <p:nvSpPr>
          <p:cNvPr id="18" name="Rectangle 17"/>
          <p:cNvSpPr/>
          <p:nvPr/>
        </p:nvSpPr>
        <p:spPr>
          <a:xfrm>
            <a:off x="10643615" y="3840480"/>
            <a:ext cx="3063240" cy="22402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872215" y="3977639"/>
            <a:ext cx="2651760" cy="365760"/>
          </a:xfrm>
          <a:prstGeom prst="rect">
            <a:avLst/>
          </a:prstGeom>
          <a:noFill/>
        </p:spPr>
        <p:txBody>
          <a:bodyPr wrap="square" anchor="t" lIns="0" rIns="0" tIns="0" bIns="0">
            <a:spAutoFit/>
          </a:bodyPr>
          <a:lstStyle/>
          <a:p>
            <a:pPr algn="l">
              <a:spcAft>
                <a:spcPts val="600"/>
              </a:spcAft>
            </a:pPr>
            <a:r>
              <a:rPr sz="1600" b="1">
                <a:solidFill>
                  <a:srgbClr val="FF3228"/>
                </a:solidFill>
              </a:rPr>
              <a:t>Entrega y validación</a:t>
            </a:r>
          </a:p>
        </p:txBody>
      </p:sp>
      <p:sp>
        <p:nvSpPr>
          <p:cNvPr id="20" name="TextBox 19"/>
          <p:cNvSpPr txBox="1"/>
          <p:nvPr/>
        </p:nvSpPr>
        <p:spPr>
          <a:xfrm>
            <a:off x="10872215" y="4434840"/>
            <a:ext cx="2651760" cy="1280160"/>
          </a:xfrm>
          <a:prstGeom prst="rect">
            <a:avLst/>
          </a:prstGeom>
          <a:noFill/>
        </p:spPr>
        <p:txBody>
          <a:bodyPr wrap="square" anchor="t" lIns="0" rIns="0" tIns="0" bIns="0">
            <a:spAutoFit/>
          </a:bodyPr>
          <a:lstStyle/>
          <a:p>
            <a:pPr algn="l">
              <a:spcAft>
                <a:spcPts val="400"/>
              </a:spcAft>
            </a:pPr>
            <a:r>
              <a:rPr sz="1200" b="0">
                <a:solidFill>
                  <a:srgbClr val="1E1E1E"/>
                </a:solidFill>
              </a:rPr>
              <a:t>OE8 · vídeo anotado y tiempo real</a:t>
            </a:r>
          </a:p>
          <a:p>
            <a:pPr algn="l">
              <a:spcAft>
                <a:spcPts val="400"/>
              </a:spcAft>
            </a:pPr>
            <a:r>
              <a:rPr sz="1200" b="0">
                <a:solidFill>
                  <a:srgbClr val="1E1E1E"/>
                </a:solidFill>
              </a:rPr>
              <a:t>OE9 · datos sintéticos de referencia conocida</a:t>
            </a:r>
          </a:p>
        </p:txBody>
      </p:sp>
      <p:sp>
        <p:nvSpPr>
          <p:cNvPr id="21" name="TextBox 20"/>
          <p:cNvSpPr txBox="1"/>
          <p:nvPr/>
        </p:nvSpPr>
        <p:spPr>
          <a:xfrm>
            <a:off x="10872215" y="5715000"/>
            <a:ext cx="2651760" cy="274320"/>
          </a:xfrm>
          <a:prstGeom prst="rect">
            <a:avLst/>
          </a:prstGeom>
          <a:noFill/>
        </p:spPr>
        <p:txBody>
          <a:bodyPr wrap="square" anchor="t" lIns="0" rIns="0" tIns="0" bIns="0">
            <a:spAutoFit/>
          </a:bodyPr>
          <a:lstStyle/>
          <a:p>
            <a:pPr algn="l">
              <a:spcAft>
                <a:spcPts val="600"/>
              </a:spcAft>
            </a:pPr>
            <a:r>
              <a:rPr sz="1000" b="0">
                <a:solidFill>
                  <a:srgbClr val="504B4B"/>
                </a:solidFill>
              </a:rPr>
              <a:t>Producto y evaluación</a:t>
            </a:r>
          </a:p>
        </p:txBody>
      </p:sp>
      <p:sp>
        <p:nvSpPr>
          <p:cNvPr id="22" name="TextBox 21"/>
          <p:cNvSpPr txBox="1"/>
          <p:nvPr/>
        </p:nvSpPr>
        <p:spPr>
          <a:xfrm>
            <a:off x="905256" y="6263640"/>
            <a:ext cx="12801600" cy="640080"/>
          </a:xfrm>
          <a:prstGeom prst="rect">
            <a:avLst/>
          </a:prstGeom>
          <a:noFill/>
        </p:spPr>
        <p:txBody>
          <a:bodyPr wrap="square" anchor="t" lIns="0" rIns="0" tIns="0" bIns="0">
            <a:spAutoFit/>
          </a:bodyPr>
          <a:lstStyle/>
          <a:p>
            <a:pPr algn="l">
              <a:spcAft>
                <a:spcPts val="600"/>
              </a:spcAft>
            </a:pPr>
            <a:r>
              <a:rPr sz="1300" b="1">
                <a:solidFill>
                  <a:srgbClr val="FF3228"/>
                </a:solidFill>
              </a:rPr>
              <a:t>Aportación: </a:t>
            </a:r>
            <a:r>
              <a:rPr sz="1300" b="0">
                <a:solidFill>
                  <a:srgbClr val="1E1E1E"/>
                </a:solidFill>
              </a:rPr>
              <a:t>detección no supervisada del inicio de la fatiga y atribución por variable interpretable, en un sistema de bajo coste. No está en el detector de pose, sino en lo que se construye sobre él.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Resultados frente a los objetivos</a:t>
            </a:r>
          </a:p>
        </p:txBody>
      </p:sp>
      <p:sp>
        <p:nvSpPr>
          <p:cNvPr id="4" name="Text Placeholder 3"/>
          <p:cNvSpPr>
            <a:spLocks noGrp="1"/>
          </p:cNvSpPr>
          <p:nvPr>
            <p:ph type="body" idx="18" sz="quarter"/>
          </p:nvPr>
        </p:nvSpPr>
        <p:spPr>
          <a:xfrm>
            <a:off x="906463" y="2172974"/>
            <a:ext cx="12344400" cy="594092"/>
          </a:xfrm>
        </p:spPr>
        <p:txBody>
          <a:bodyPr/>
          <a:lstStyle/>
          <a:p>
            <a:r>
              <a:t>7 cumplidos y 2 parciales · reales y sintéticos, por separado</a:t>
            </a:r>
          </a:p>
        </p:txBody>
      </p:sp>
      <p:graphicFrame>
        <p:nvGraphicFramePr>
          <p:cNvPr id="5" name="Table 4"/>
          <p:cNvGraphicFramePr>
            <a:graphicFrameLocks noGrp="1"/>
          </p:cNvGraphicFramePr>
          <p:nvPr/>
        </p:nvGraphicFramePr>
        <p:xfrm>
          <a:off x="905256" y="2743200"/>
          <a:ext cx="12801600" cy="3840480"/>
        </p:xfrm>
        <a:graphic>
          <a:graphicData uri="http://schemas.openxmlformats.org/drawingml/2006/table">
            <a:tbl>
              <a:tblPr firstRow="1" bandRow="1">
                <a:tableStyleId>{5C22544A-7EE6-4342-B048-85BDC9FD1C3A}</a:tableStyleId>
              </a:tblPr>
              <a:tblGrid>
                <a:gridCol w="2926080"/>
                <a:gridCol w="7589520"/>
                <a:gridCol w="2286000"/>
              </a:tblGrid>
              <a:tr h="384048">
                <a:tc>
                  <a:txBody>
                    <a:bodyPr/>
                    <a:lstStyle/>
                    <a:p>
                      <a:r>
                        <a:rPr sz="1100" b="1">
                          <a:solidFill>
                            <a:srgbClr val="FFFFFF"/>
                          </a:solidFill>
                        </a:rPr>
                        <a:t>Objetivo</a:t>
                      </a:r>
                    </a:p>
                  </a:txBody>
                  <a:tcPr marL="91440" marR="91440" marT="27432" marB="27432" anchor="ctr">
                    <a:solidFill>
                      <a:srgbClr val="FF3228"/>
                    </a:solidFill>
                  </a:tcPr>
                </a:tc>
                <a:tc>
                  <a:txBody>
                    <a:bodyPr/>
                    <a:lstStyle/>
                    <a:p>
                      <a:r>
                        <a:rPr sz="1100" b="1">
                          <a:solidFill>
                            <a:srgbClr val="FFFFFF"/>
                          </a:solidFill>
                        </a:rPr>
                        <a:t>Resultado medido</a:t>
                      </a:r>
                    </a:p>
                  </a:txBody>
                  <a:tcPr marL="91440" marR="91440" marT="27432" marB="27432" anchor="ctr">
                    <a:solidFill>
                      <a:srgbClr val="FF3228"/>
                    </a:solidFill>
                  </a:tcPr>
                </a:tc>
                <a:tc>
                  <a:txBody>
                    <a:bodyPr/>
                    <a:lstStyle/>
                    <a:p>
                      <a:r>
                        <a:rPr sz="1100" b="1">
                          <a:solidFill>
                            <a:srgbClr val="FFFFFF"/>
                          </a:solidFill>
                        </a:rPr>
                        <a:t>Estado</a:t>
                      </a:r>
                    </a:p>
                  </a:txBody>
                  <a:tcPr marL="91440" marR="91440" marT="27432" marB="27432" anchor="ctr">
                    <a:solidFill>
                      <a:srgbClr val="FF3228"/>
                    </a:solidFill>
                  </a:tcPr>
                </a:tc>
              </a:tr>
              <a:tr h="384048">
                <a:tc>
                  <a:txBody>
                    <a:bodyPr/>
                    <a:lstStyle/>
                    <a:p>
                      <a:r>
                        <a:rPr sz="1100" b="0">
                          <a:solidFill>
                            <a:srgbClr val="1E1E1E"/>
                          </a:solidFill>
                        </a:rPr>
                        <a:t>OE1 · Modelo de pose</a:t>
                      </a:r>
                    </a:p>
                  </a:txBody>
                  <a:tcPr marL="91440" marR="91440" marT="27432" marB="27432" anchor="ctr">
                    <a:solidFill>
                      <a:srgbClr val="FFFFFF"/>
                    </a:solidFill>
                  </a:tcPr>
                </a:tc>
                <a:tc>
                  <a:txBody>
                    <a:bodyPr/>
                    <a:lstStyle/>
                    <a:p>
                      <a:r>
                        <a:rPr sz="1100" b="0">
                          <a:solidFill>
                            <a:srgbClr val="1E1E1E"/>
                          </a:solidFill>
                        </a:rPr>
                        <a:t>Comparativa en CPU; YOLOv8n-Pose elegido y justificado</a:t>
                      </a:r>
                    </a:p>
                  </a:txBody>
                  <a:tcPr marL="91440" marR="91440" marT="27432" marB="27432" anchor="ctr">
                    <a:solidFill>
                      <a:srgbClr val="FFFFFF"/>
                    </a:solidFill>
                  </a:tcPr>
                </a:tc>
                <a:tc>
                  <a:txBody>
                    <a:bodyPr/>
                    <a:lstStyle/>
                    <a:p>
                      <a:r>
                        <a:rPr sz="1100" b="0">
                          <a:solidFill>
                            <a:srgbClr val="1E1E1E"/>
                          </a:solidFill>
                        </a:rPr>
                        <a:t>Cumplido</a:t>
                      </a:r>
                    </a:p>
                  </a:txBody>
                  <a:tcPr marL="91440" marR="91440" marT="27432" marB="27432" anchor="ctr">
                    <a:solidFill>
                      <a:srgbClr val="FFFFFF"/>
                    </a:solidFill>
                  </a:tcPr>
                </a:tc>
              </a:tr>
              <a:tr h="384048">
                <a:tc>
                  <a:txBody>
                    <a:bodyPr/>
                    <a:lstStyle/>
                    <a:p>
                      <a:r>
                        <a:rPr sz="1100" b="0">
                          <a:solidFill>
                            <a:srgbClr val="1E1E1E"/>
                          </a:solidFill>
                        </a:rPr>
                        <a:t>OE2 · Elevación a 3D</a:t>
                      </a:r>
                    </a:p>
                  </a:txBody>
                  <a:tcPr marL="91440" marR="91440" marT="27432" marB="27432" anchor="ctr">
                    <a:solidFill>
                      <a:srgbClr val="EEEDED"/>
                    </a:solidFill>
                  </a:tcPr>
                </a:tc>
                <a:tc>
                  <a:txBody>
                    <a:bodyPr/>
                    <a:lstStyle/>
                    <a:p>
                      <a:r>
                        <a:rPr sz="1100" b="0">
                          <a:solidFill>
                            <a:srgbClr val="1E1E1E"/>
                          </a:solidFill>
                        </a:rPr>
                        <a:t>Implementada y evaluada; válida en codo y cadera, no en rodilla</a:t>
                      </a:r>
                    </a:p>
                  </a:txBody>
                  <a:tcPr marL="91440" marR="91440" marT="27432" marB="27432" anchor="ctr">
                    <a:solidFill>
                      <a:srgbClr val="EEEDED"/>
                    </a:solidFill>
                  </a:tcPr>
                </a:tc>
                <a:tc>
                  <a:txBody>
                    <a:bodyPr/>
                    <a:lstStyle/>
                    <a:p>
                      <a:r>
                        <a:rPr sz="1100" b="0">
                          <a:solidFill>
                            <a:srgbClr val="1E1E1E"/>
                          </a:solidFill>
                        </a:rPr>
                        <a:t>Cumplido con limitaciones</a:t>
                      </a:r>
                    </a:p>
                  </a:txBody>
                  <a:tcPr marL="91440" marR="91440" marT="27432" marB="27432" anchor="ctr">
                    <a:solidFill>
                      <a:srgbClr val="EEEDED"/>
                    </a:solidFill>
                  </a:tcPr>
                </a:tc>
              </a:tr>
              <a:tr h="384048">
                <a:tc>
                  <a:txBody>
                    <a:bodyPr/>
                    <a:lstStyle/>
                    <a:p>
                      <a:r>
                        <a:rPr sz="1100" b="0">
                          <a:solidFill>
                            <a:srgbClr val="1E1E1E"/>
                          </a:solidFill>
                        </a:rPr>
                        <a:t>OE3 · Ciclos de brazada</a:t>
                      </a:r>
                    </a:p>
                  </a:txBody>
                  <a:tcPr marL="91440" marR="91440" marT="27432" marB="27432" anchor="ctr">
                    <a:solidFill>
                      <a:srgbClr val="FFFFFF"/>
                    </a:solidFill>
                  </a:tcPr>
                </a:tc>
                <a:tc>
                  <a:txBody>
                    <a:bodyPr/>
                    <a:lstStyle/>
                    <a:p>
                      <a:r>
                        <a:rPr sz="1100" b="0">
                          <a:solidFill>
                            <a:srgbClr val="1E1E1E"/>
                          </a:solidFill>
                        </a:rPr>
                        <a:t>Error de la frecuencia del 6,5 % al 8,2 % frente al conteo manual; vista automática</a:t>
                      </a:r>
                    </a:p>
                  </a:txBody>
                  <a:tcPr marL="91440" marR="91440" marT="27432" marB="27432" anchor="ctr">
                    <a:solidFill>
                      <a:srgbClr val="FFFFFF"/>
                    </a:solidFill>
                  </a:tcPr>
                </a:tc>
                <a:tc>
                  <a:txBody>
                    <a:bodyPr/>
                    <a:lstStyle/>
                    <a:p>
                      <a:r>
                        <a:rPr sz="1100" b="0">
                          <a:solidFill>
                            <a:srgbClr val="1E1E1E"/>
                          </a:solidFill>
                        </a:rPr>
                        <a:t>Cumplido</a:t>
                      </a:r>
                    </a:p>
                  </a:txBody>
                  <a:tcPr marL="91440" marR="91440" marT="27432" marB="27432" anchor="ctr">
                    <a:solidFill>
                      <a:srgbClr val="FFFFFF"/>
                    </a:solidFill>
                  </a:tcPr>
                </a:tc>
              </a:tr>
              <a:tr h="384048">
                <a:tc>
                  <a:txBody>
                    <a:bodyPr/>
                    <a:lstStyle/>
                    <a:p>
                      <a:r>
                        <a:rPr sz="1100" b="0">
                          <a:solidFill>
                            <a:srgbClr val="1E1E1E"/>
                          </a:solidFill>
                        </a:rPr>
                        <a:t>OE4 · Variables por ciclo</a:t>
                      </a:r>
                    </a:p>
                  </a:txBody>
                  <a:tcPr marL="91440" marR="91440" marT="27432" marB="27432" anchor="ctr">
                    <a:solidFill>
                      <a:srgbClr val="EEEDED"/>
                    </a:solidFill>
                  </a:tcPr>
                </a:tc>
                <a:tc>
                  <a:txBody>
                    <a:bodyPr/>
                    <a:lstStyle/>
                    <a:p>
                      <a:r>
                        <a:rPr sz="1100" b="0">
                          <a:solidFill>
                            <a:srgbClr val="1E1E1E"/>
                          </a:solidFill>
                        </a:rPr>
                        <a:t>17 secuencias reales, 95 ciclos válidos; eficiencia y ángulos de codo, hombro, cadera, rodilla y pies</a:t>
                      </a:r>
                    </a:p>
                  </a:txBody>
                  <a:tcPr marL="91440" marR="91440" marT="27432" marB="27432" anchor="ctr">
                    <a:solidFill>
                      <a:srgbClr val="EEEDED"/>
                    </a:solidFill>
                  </a:tcPr>
                </a:tc>
                <a:tc>
                  <a:txBody>
                    <a:bodyPr/>
                    <a:lstStyle/>
                    <a:p>
                      <a:r>
                        <a:rPr sz="1100" b="0">
                          <a:solidFill>
                            <a:srgbClr val="1E1E1E"/>
                          </a:solidFill>
                        </a:rPr>
                        <a:t>Cumplido</a:t>
                      </a:r>
                    </a:p>
                  </a:txBody>
                  <a:tcPr marL="91440" marR="91440" marT="27432" marB="27432" anchor="ctr">
                    <a:solidFill>
                      <a:srgbClr val="EEEDED"/>
                    </a:solidFill>
                  </a:tcPr>
                </a:tc>
              </a:tr>
              <a:tr h="384048">
                <a:tc>
                  <a:txBody>
                    <a:bodyPr/>
                    <a:lstStyle/>
                    <a:p>
                      <a:r>
                        <a:rPr sz="1100" b="1">
                          <a:solidFill>
                            <a:srgbClr val="1E1E1E"/>
                          </a:solidFill>
                        </a:rPr>
                        <a:t>OE5 · Inicio de la fatiga</a:t>
                      </a:r>
                    </a:p>
                  </a:txBody>
                  <a:tcPr marL="91440" marR="91440" marT="27432" marB="27432" anchor="ctr">
                    <a:solidFill>
                      <a:srgbClr val="FFAFAA"/>
                    </a:solidFill>
                  </a:tcPr>
                </a:tc>
                <a:tc>
                  <a:txBody>
                    <a:bodyPr/>
                    <a:lstStyle/>
                    <a:p>
                      <a:r>
                        <a:rPr sz="1100" b="1">
                          <a:solidFill>
                            <a:srgbClr val="1E1E1E"/>
                          </a:solidFill>
                        </a:rPr>
                        <a:t>Sintéticos: detección 100 %, falsas alarmas 10 %; tiempo real 10/10; sin referencia fisiológica</a:t>
                      </a:r>
                    </a:p>
                  </a:txBody>
                  <a:tcPr marL="91440" marR="91440" marT="27432" marB="27432" anchor="ctr">
                    <a:solidFill>
                      <a:srgbClr val="FFAFAA"/>
                    </a:solidFill>
                  </a:tcPr>
                </a:tc>
                <a:tc>
                  <a:txBody>
                    <a:bodyPr/>
                    <a:lstStyle/>
                    <a:p>
                      <a:r>
                        <a:rPr sz="1100" b="1">
                          <a:solidFill>
                            <a:srgbClr val="1E1E1E"/>
                          </a:solidFill>
                        </a:rPr>
                        <a:t>Parcial</a:t>
                      </a:r>
                    </a:p>
                  </a:txBody>
                  <a:tcPr marL="91440" marR="91440" marT="27432" marB="27432" anchor="ctr">
                    <a:solidFill>
                      <a:srgbClr val="FFAFAA"/>
                    </a:solidFill>
                  </a:tcPr>
                </a:tc>
              </a:tr>
              <a:tr h="384048">
                <a:tc>
                  <a:txBody>
                    <a:bodyPr/>
                    <a:lstStyle/>
                    <a:p>
                      <a:r>
                        <a:rPr sz="1100" b="0">
                          <a:solidFill>
                            <a:srgbClr val="1E1E1E"/>
                          </a:solidFill>
                        </a:rPr>
                        <a:t>OE6 · Atribución SHAP</a:t>
                      </a:r>
                    </a:p>
                  </a:txBody>
                  <a:tcPr marL="91440" marR="91440" marT="27432" marB="27432" anchor="ctr">
                    <a:solidFill>
                      <a:srgbClr val="EEEDED"/>
                    </a:solidFill>
                  </a:tcPr>
                </a:tc>
                <a:tc>
                  <a:txBody>
                    <a:bodyPr/>
                    <a:lstStyle/>
                    <a:p>
                      <a:r>
                        <a:rPr sz="1100" b="0">
                          <a:solidFill>
                            <a:srgbClr val="1E1E1E"/>
                          </a:solidFill>
                        </a:rPr>
                        <a:t>Global, local y en texto; coincide con las variables alteradas</a:t>
                      </a:r>
                    </a:p>
                  </a:txBody>
                  <a:tcPr marL="91440" marR="91440" marT="27432" marB="27432" anchor="ctr">
                    <a:solidFill>
                      <a:srgbClr val="EEEDED"/>
                    </a:solidFill>
                  </a:tcPr>
                </a:tc>
                <a:tc>
                  <a:txBody>
                    <a:bodyPr/>
                    <a:lstStyle/>
                    <a:p>
                      <a:r>
                        <a:rPr sz="1100" b="0">
                          <a:solidFill>
                            <a:srgbClr val="1E1E1E"/>
                          </a:solidFill>
                        </a:rPr>
                        <a:t>Cumplido</a:t>
                      </a:r>
                    </a:p>
                  </a:txBody>
                  <a:tcPr marL="91440" marR="91440" marT="27432" marB="27432" anchor="ctr">
                    <a:solidFill>
                      <a:srgbClr val="EEEDED"/>
                    </a:solidFill>
                  </a:tcPr>
                </a:tc>
              </a:tr>
              <a:tr h="384048">
                <a:tc>
                  <a:txBody>
                    <a:bodyPr/>
                    <a:lstStyle/>
                    <a:p>
                      <a:r>
                        <a:rPr sz="1100" b="1">
                          <a:solidFill>
                            <a:srgbClr val="1E1E1E"/>
                          </a:solidFill>
                        </a:rPr>
                        <a:t>OE7 · Estilo de nado</a:t>
                      </a:r>
                    </a:p>
                  </a:txBody>
                  <a:tcPr marL="91440" marR="91440" marT="27432" marB="27432" anchor="ctr">
                    <a:solidFill>
                      <a:srgbClr val="FFAFAA"/>
                    </a:solidFill>
                  </a:tcPr>
                </a:tc>
                <a:tc>
                  <a:txBody>
                    <a:bodyPr/>
                    <a:lstStyle/>
                    <a:p>
                      <a:r>
                        <a:rPr sz="1100" b="1">
                          <a:solidFill>
                            <a:srgbClr val="1E1E1E"/>
                          </a:solidFill>
                        </a:rPr>
                        <a:t>Supervisado: 100 % sintético, no generaliza; reglas: familia correcta en 12 de 13 vídeos reales</a:t>
                      </a:r>
                    </a:p>
                  </a:txBody>
                  <a:tcPr marL="91440" marR="91440" marT="27432" marB="27432" anchor="ctr">
                    <a:solidFill>
                      <a:srgbClr val="FFAFAA"/>
                    </a:solidFill>
                  </a:tcPr>
                </a:tc>
                <a:tc>
                  <a:txBody>
                    <a:bodyPr/>
                    <a:lstStyle/>
                    <a:p>
                      <a:r>
                        <a:rPr sz="1100" b="1">
                          <a:solidFill>
                            <a:srgbClr val="1E1E1E"/>
                          </a:solidFill>
                        </a:rPr>
                        <a:t>Parcial</a:t>
                      </a:r>
                    </a:p>
                  </a:txBody>
                  <a:tcPr marL="91440" marR="91440" marT="27432" marB="27432" anchor="ctr">
                    <a:solidFill>
                      <a:srgbClr val="FFAFAA"/>
                    </a:solidFill>
                  </a:tcPr>
                </a:tc>
              </a:tr>
              <a:tr h="384048">
                <a:tc>
                  <a:txBody>
                    <a:bodyPr/>
                    <a:lstStyle/>
                    <a:p>
                      <a:r>
                        <a:rPr sz="1100" b="0">
                          <a:solidFill>
                            <a:srgbClr val="1E1E1E"/>
                          </a:solidFill>
                        </a:rPr>
                        <a:t>OE8 · Vídeo y tiempo real</a:t>
                      </a:r>
                    </a:p>
                  </a:txBody>
                  <a:tcPr marL="91440" marR="91440" marT="27432" marB="27432" anchor="ctr">
                    <a:solidFill>
                      <a:srgbClr val="EEEDED"/>
                    </a:solidFill>
                  </a:tcPr>
                </a:tc>
                <a:tc>
                  <a:txBody>
                    <a:bodyPr/>
                    <a:lstStyle/>
                    <a:p>
                      <a:r>
                        <a:rPr sz="1100" b="0">
                          <a:solidFill>
                            <a:srgbClr val="1E1E1E"/>
                          </a:solidFill>
                        </a:rPr>
                        <a:t>Panel de fatiga por ciclo en el vídeo anotado y en tiempo real</a:t>
                      </a:r>
                    </a:p>
                  </a:txBody>
                  <a:tcPr marL="91440" marR="91440" marT="27432" marB="27432" anchor="ctr">
                    <a:solidFill>
                      <a:srgbClr val="EEEDED"/>
                    </a:solidFill>
                  </a:tcPr>
                </a:tc>
                <a:tc>
                  <a:txBody>
                    <a:bodyPr/>
                    <a:lstStyle/>
                    <a:p>
                      <a:r>
                        <a:rPr sz="1100" b="0">
                          <a:solidFill>
                            <a:srgbClr val="1E1E1E"/>
                          </a:solidFill>
                        </a:rPr>
                        <a:t>Cumplido</a:t>
                      </a:r>
                    </a:p>
                  </a:txBody>
                  <a:tcPr marL="91440" marR="91440" marT="27432" marB="27432" anchor="ctr">
                    <a:solidFill>
                      <a:srgbClr val="EEEDED"/>
                    </a:solidFill>
                  </a:tcPr>
                </a:tc>
              </a:tr>
              <a:tr h="384048">
                <a:tc>
                  <a:txBody>
                    <a:bodyPr/>
                    <a:lstStyle/>
                    <a:p>
                      <a:r>
                        <a:rPr sz="1100" b="0">
                          <a:solidFill>
                            <a:srgbClr val="1E1E1E"/>
                          </a:solidFill>
                        </a:rPr>
                        <a:t>OE9 · Datos sintéticos</a:t>
                      </a:r>
                    </a:p>
                  </a:txBody>
                  <a:tcPr marL="91440" marR="91440" marT="27432" marB="27432" anchor="ctr">
                    <a:solidFill>
                      <a:srgbClr val="FFFFFF"/>
                    </a:solidFill>
                  </a:tcPr>
                </a:tc>
                <a:tc>
                  <a:txBody>
                    <a:bodyPr/>
                    <a:lstStyle/>
                    <a:p>
                      <a:r>
                        <a:rPr sz="1100" b="0">
                          <a:solidFill>
                            <a:srgbClr val="1E1E1E"/>
                          </a:solidFill>
                        </a:rPr>
                        <a:t>Referencia conocida: errores medianos 4,7 % (SR), 1,3 % (velocidad), 4,3 % (DPS)</a:t>
                      </a:r>
                    </a:p>
                  </a:txBody>
                  <a:tcPr marL="91440" marR="91440" marT="27432" marB="27432" anchor="ctr">
                    <a:solidFill>
                      <a:srgbClr val="FFFFFF"/>
                    </a:solidFill>
                  </a:tcPr>
                </a:tc>
                <a:tc>
                  <a:txBody>
                    <a:bodyPr/>
                    <a:lstStyle/>
                    <a:p>
                      <a:r>
                        <a:rPr sz="1100" b="0">
                          <a:solidFill>
                            <a:srgbClr val="1E1E1E"/>
                          </a:solidFill>
                        </a:rPr>
                        <a:t>Cumplido</a:t>
                      </a:r>
                    </a:p>
                  </a:txBody>
                  <a:tcPr marL="91440" marR="91440" marT="27432" marB="27432" anchor="ctr">
                    <a:solidFill>
                      <a:srgbClr val="FFFFFF"/>
                    </a:solidFill>
                  </a:tcPr>
                </a:tc>
              </a:tr>
            </a:tbl>
          </a:graphicData>
        </a:graphic>
      </p:graphicFrame>
      <p:sp>
        <p:nvSpPr>
          <p:cNvPr id="6" name="TextBox 5"/>
          <p:cNvSpPr txBox="1"/>
          <p:nvPr/>
        </p:nvSpPr>
        <p:spPr>
          <a:xfrm>
            <a:off x="905256" y="67208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Reales: nadador analizable el 34 % del tiempo grabado; 0 falsas alarmas en 3 sesiones de pasadas cortas (sin fatiga, como se esperaba).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Alcance y conclusiones</a:t>
            </a:r>
          </a:p>
        </p:txBody>
      </p:sp>
      <p:sp>
        <p:nvSpPr>
          <p:cNvPr id="4" name="Text Placeholder 3"/>
          <p:cNvSpPr>
            <a:spLocks noGrp="1"/>
          </p:cNvSpPr>
          <p:nvPr>
            <p:ph type="body" idx="18" sz="quarter"/>
          </p:nvPr>
        </p:nvSpPr>
        <p:spPr>
          <a:xfrm>
            <a:off x="906463" y="2172974"/>
            <a:ext cx="12344400" cy="594092"/>
          </a:xfrm>
        </p:spPr>
        <p:txBody>
          <a:bodyPr/>
          <a:lstStyle/>
          <a:p>
            <a:r>
              <a:t>Dónde terminan las cifras y dónde empieza el trabajo futuro</a:t>
            </a:r>
          </a:p>
        </p:txBody>
      </p:sp>
      <p:sp>
        <p:nvSpPr>
          <p:cNvPr id="5" name="Rectangle 4"/>
          <p:cNvSpPr/>
          <p:nvPr/>
        </p:nvSpPr>
        <p:spPr>
          <a:xfrm>
            <a:off x="905256" y="2743200"/>
            <a:ext cx="411480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3856" y="2880360"/>
            <a:ext cx="3657600" cy="365760"/>
          </a:xfrm>
          <a:prstGeom prst="rect">
            <a:avLst/>
          </a:prstGeom>
          <a:noFill/>
        </p:spPr>
        <p:txBody>
          <a:bodyPr wrap="square" anchor="t" lIns="0" rIns="0" tIns="0" bIns="0">
            <a:spAutoFit/>
          </a:bodyPr>
          <a:lstStyle/>
          <a:p>
            <a:pPr algn="l">
              <a:spcAft>
                <a:spcPts val="600"/>
              </a:spcAft>
            </a:pPr>
            <a:r>
              <a:rPr sz="1500" b="1">
                <a:solidFill>
                  <a:srgbClr val="FF3228"/>
                </a:solidFill>
              </a:rPr>
              <a:t>Fatiga sin referencia real</a:t>
            </a:r>
          </a:p>
        </p:txBody>
      </p:sp>
      <p:sp>
        <p:nvSpPr>
          <p:cNvPr id="7" name="TextBox 6"/>
          <p:cNvSpPr txBox="1"/>
          <p:nvPr/>
        </p:nvSpPr>
        <p:spPr>
          <a:xfrm>
            <a:off x="1133856" y="3291840"/>
            <a:ext cx="3657600" cy="1005840"/>
          </a:xfrm>
          <a:prstGeom prst="rect">
            <a:avLst/>
          </a:prstGeom>
          <a:noFill/>
        </p:spPr>
        <p:txBody>
          <a:bodyPr wrap="square" anchor="t" lIns="0" rIns="0" tIns="0" bIns="0">
            <a:spAutoFit/>
          </a:bodyPr>
          <a:lstStyle/>
          <a:p>
            <a:pPr algn="l">
              <a:spcAft>
                <a:spcPts val="600"/>
              </a:spcAft>
            </a:pPr>
            <a:r>
              <a:rPr sz="1200" b="0">
                <a:solidFill>
                  <a:srgbClr val="1E1E1E"/>
                </a:solidFill>
              </a:rPr>
              <a:t>Validada con datos sintéticos; las sesiones reales son pasadas cortas, sin fatiga.</a:t>
            </a:r>
          </a:p>
        </p:txBody>
      </p:sp>
      <p:sp>
        <p:nvSpPr>
          <p:cNvPr id="8" name="Rectangle 7"/>
          <p:cNvSpPr/>
          <p:nvPr/>
        </p:nvSpPr>
        <p:spPr>
          <a:xfrm>
            <a:off x="5202936" y="2743200"/>
            <a:ext cx="411480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31536" y="2880360"/>
            <a:ext cx="3657600" cy="365760"/>
          </a:xfrm>
          <a:prstGeom prst="rect">
            <a:avLst/>
          </a:prstGeom>
          <a:noFill/>
        </p:spPr>
        <p:txBody>
          <a:bodyPr wrap="square" anchor="t" lIns="0" rIns="0" tIns="0" bIns="0">
            <a:spAutoFit/>
          </a:bodyPr>
          <a:lstStyle/>
          <a:p>
            <a:pPr algn="l">
              <a:spcAft>
                <a:spcPts val="600"/>
              </a:spcAft>
            </a:pPr>
            <a:r>
              <a:rPr sz="1500" b="1">
                <a:solidFill>
                  <a:srgbClr val="FF3228"/>
                </a:solidFill>
              </a:rPr>
              <a:t>Detección parcial</a:t>
            </a:r>
          </a:p>
        </p:txBody>
      </p:sp>
      <p:sp>
        <p:nvSpPr>
          <p:cNvPr id="10" name="TextBox 9"/>
          <p:cNvSpPr txBox="1"/>
          <p:nvPr/>
        </p:nvSpPr>
        <p:spPr>
          <a:xfrm>
            <a:off x="5431536" y="3291840"/>
            <a:ext cx="3657600" cy="1005840"/>
          </a:xfrm>
          <a:prstGeom prst="rect">
            <a:avLst/>
          </a:prstGeom>
          <a:noFill/>
        </p:spPr>
        <p:txBody>
          <a:bodyPr wrap="square" anchor="t" lIns="0" rIns="0" tIns="0" bIns="0">
            <a:spAutoFit/>
          </a:bodyPr>
          <a:lstStyle/>
          <a:p>
            <a:pPr algn="l">
              <a:spcAft>
                <a:spcPts val="600"/>
              </a:spcAft>
            </a:pPr>
            <a:r>
              <a:rPr sz="1200" b="0">
                <a:solidFill>
                  <a:srgbClr val="1E1E1E"/>
                </a:solidFill>
              </a:rPr>
              <a:t>Nadador analizable el 34 % del tiempo; en lateral el modelo copia el brazo oculto.</a:t>
            </a:r>
          </a:p>
        </p:txBody>
      </p:sp>
      <p:sp>
        <p:nvSpPr>
          <p:cNvPr id="11" name="Rectangle 10"/>
          <p:cNvSpPr/>
          <p:nvPr/>
        </p:nvSpPr>
        <p:spPr>
          <a:xfrm>
            <a:off x="9500616" y="2743200"/>
            <a:ext cx="411480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29216" y="2880360"/>
            <a:ext cx="3657600" cy="365760"/>
          </a:xfrm>
          <a:prstGeom prst="rect">
            <a:avLst/>
          </a:prstGeom>
          <a:noFill/>
        </p:spPr>
        <p:txBody>
          <a:bodyPr wrap="square" anchor="t" lIns="0" rIns="0" tIns="0" bIns="0">
            <a:spAutoFit/>
          </a:bodyPr>
          <a:lstStyle/>
          <a:p>
            <a:pPr algn="l">
              <a:spcAft>
                <a:spcPts val="600"/>
              </a:spcAft>
            </a:pPr>
            <a:r>
              <a:rPr sz="1500" b="1">
                <a:solidFill>
                  <a:srgbClr val="FF3228"/>
                </a:solidFill>
              </a:rPr>
              <a:t>Umbrales optimistas</a:t>
            </a:r>
          </a:p>
        </p:txBody>
      </p:sp>
      <p:sp>
        <p:nvSpPr>
          <p:cNvPr id="13" name="TextBox 12"/>
          <p:cNvSpPr txBox="1"/>
          <p:nvPr/>
        </p:nvSpPr>
        <p:spPr>
          <a:xfrm>
            <a:off x="9729216" y="3291840"/>
            <a:ext cx="3657600" cy="1005840"/>
          </a:xfrm>
          <a:prstGeom prst="rect">
            <a:avLst/>
          </a:prstGeom>
          <a:noFill/>
        </p:spPr>
        <p:txBody>
          <a:bodyPr wrap="square" anchor="t" lIns="0" rIns="0" tIns="0" bIns="0">
            <a:spAutoFit/>
          </a:bodyPr>
          <a:lstStyle/>
          <a:p>
            <a:pPr algn="l">
              <a:spcAft>
                <a:spcPts val="600"/>
              </a:spcAft>
            </a:pPr>
            <a:r>
              <a:rPr sz="1200" b="0">
                <a:solidFill>
                  <a:srgbClr val="1E1E1E"/>
                </a:solidFill>
              </a:rPr>
              <a:t>Vista y estilo se fijaron con los mismos vídeos; falta validar con nadadores nuevos.</a:t>
            </a:r>
          </a:p>
        </p:txBody>
      </p:sp>
      <p:sp>
        <p:nvSpPr>
          <p:cNvPr id="14" name="TextBox 13"/>
          <p:cNvSpPr txBox="1"/>
          <p:nvPr/>
        </p:nvSpPr>
        <p:spPr>
          <a:xfrm>
            <a:off x="905256" y="4572000"/>
            <a:ext cx="6217920" cy="365760"/>
          </a:xfrm>
          <a:prstGeom prst="rect">
            <a:avLst/>
          </a:prstGeom>
          <a:noFill/>
        </p:spPr>
        <p:txBody>
          <a:bodyPr wrap="square" anchor="t" lIns="0" rIns="0" tIns="0" bIns="0">
            <a:spAutoFit/>
          </a:bodyPr>
          <a:lstStyle/>
          <a:p>
            <a:pPr algn="l">
              <a:spcAft>
                <a:spcPts val="600"/>
              </a:spcAft>
            </a:pPr>
            <a:r>
              <a:rPr sz="1700" b="1">
                <a:solidFill>
                  <a:srgbClr val="FF3228"/>
                </a:solidFill>
              </a:rPr>
              <a:t>Conclusiones</a:t>
            </a:r>
          </a:p>
        </p:txBody>
      </p:sp>
      <p:sp>
        <p:nvSpPr>
          <p:cNvPr id="15" name="TextBox 14"/>
          <p:cNvSpPr txBox="1"/>
          <p:nvPr/>
        </p:nvSpPr>
        <p:spPr>
          <a:xfrm>
            <a:off x="905256" y="4983480"/>
            <a:ext cx="6217920" cy="1920240"/>
          </a:xfrm>
          <a:prstGeom prst="rect">
            <a:avLst/>
          </a:prstGeom>
          <a:noFill/>
        </p:spPr>
        <p:txBody>
          <a:bodyPr wrap="square" anchor="t" lIns="0" rIns="0" tIns="0" bIns="0">
            <a:spAutoFit/>
          </a:bodyPr>
          <a:lstStyle/>
          <a:p>
            <a:pPr algn="l">
              <a:spcAft>
                <a:spcPts val="600"/>
              </a:spcAft>
            </a:pPr>
            <a:r>
              <a:rPr sz="1300" b="0">
                <a:solidFill>
                  <a:srgbClr val="1E1E1E"/>
                </a:solidFill>
              </a:rPr>
              <a:t>•  Sistema completo en CPU: del vídeo a cuándo empieza la fatiga y por qué</a:t>
            </a:r>
          </a:p>
          <a:p>
            <a:pPr algn="l">
              <a:spcAft>
                <a:spcPts val="600"/>
              </a:spcAft>
            </a:pPr>
            <a:r>
              <a:rPr sz="1300" b="0">
                <a:solidFill>
                  <a:srgbClr val="1E1E1E"/>
                </a:solidFill>
              </a:rPr>
              <a:t>•  La debilidad está en los datos reales, no en el modelo ni en la arquitectura</a:t>
            </a:r>
          </a:p>
          <a:p>
            <a:pPr algn="l">
              <a:spcAft>
                <a:spcPts val="600"/>
              </a:spcAft>
            </a:pPr>
            <a:r>
              <a:rPr sz="1300" b="0">
                <a:solidFill>
                  <a:srgbClr val="1E1E1E"/>
                </a:solidFill>
              </a:rPr>
              <a:t>•  La calidad de los datos pesa más que el modelo: el 99,99 % de una versión anterior era fuga de datos</a:t>
            </a:r>
          </a:p>
        </p:txBody>
      </p:sp>
      <p:sp>
        <p:nvSpPr>
          <p:cNvPr id="16" name="Rectangle 15"/>
          <p:cNvSpPr/>
          <p:nvPr/>
        </p:nvSpPr>
        <p:spPr>
          <a:xfrm>
            <a:off x="7498079" y="4572000"/>
            <a:ext cx="6217920" cy="2286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26679" y="4663440"/>
            <a:ext cx="5760720" cy="365760"/>
          </a:xfrm>
          <a:prstGeom prst="rect">
            <a:avLst/>
          </a:prstGeom>
          <a:noFill/>
        </p:spPr>
        <p:txBody>
          <a:bodyPr wrap="square" anchor="t" lIns="0" rIns="0" tIns="0" bIns="0">
            <a:spAutoFit/>
          </a:bodyPr>
          <a:lstStyle/>
          <a:p>
            <a:pPr algn="l">
              <a:spcAft>
                <a:spcPts val="600"/>
              </a:spcAft>
            </a:pPr>
            <a:r>
              <a:rPr sz="1700" b="1">
                <a:solidFill>
                  <a:srgbClr val="FFFFFF"/>
                </a:solidFill>
              </a:rPr>
              <a:t>Líneas futuras</a:t>
            </a:r>
          </a:p>
        </p:txBody>
      </p:sp>
      <p:sp>
        <p:nvSpPr>
          <p:cNvPr id="18" name="TextBox 17"/>
          <p:cNvSpPr txBox="1"/>
          <p:nvPr/>
        </p:nvSpPr>
        <p:spPr>
          <a:xfrm>
            <a:off x="7726679" y="5074920"/>
            <a:ext cx="5760720" cy="1737360"/>
          </a:xfrm>
          <a:prstGeom prst="rect">
            <a:avLst/>
          </a:prstGeom>
          <a:noFill/>
        </p:spPr>
        <p:txBody>
          <a:bodyPr wrap="square" anchor="t" lIns="0" rIns="0" tIns="0" bIns="0">
            <a:spAutoFit/>
          </a:bodyPr>
          <a:lstStyle/>
          <a:p>
            <a:pPr algn="l">
              <a:spcAft>
                <a:spcPts val="400"/>
              </a:spcAft>
            </a:pPr>
            <a:r>
              <a:rPr sz="1200" b="0">
                <a:solidFill>
                  <a:srgbClr val="FFFFFF"/>
                </a:solidFill>
              </a:rPr>
              <a:t>•  Series largas de nado continuo con lactato, esfuerzo percibido y valoración experta</a:t>
            </a:r>
          </a:p>
          <a:p>
            <a:pPr algn="l">
              <a:spcAft>
                <a:spcPts val="400"/>
              </a:spcAft>
            </a:pPr>
            <a:r>
              <a:rPr sz="1200" b="0">
                <a:solidFill>
                  <a:srgbClr val="FFFFFF"/>
                </a:solidFill>
              </a:rPr>
              <a:t>•  Anotar fotogramas propios: OKS, PCK y mAP; ajuste fino con SwimXYZ</a:t>
            </a:r>
          </a:p>
          <a:p>
            <a:pPr algn="l">
              <a:spcAft>
                <a:spcPts val="400"/>
              </a:spcAft>
            </a:pPr>
            <a:r>
              <a:rPr sz="1200" b="0">
                <a:solidFill>
                  <a:srgbClr val="FFFFFF"/>
                </a:solidFill>
              </a:rPr>
              <a:t>•  Adaptar MotionBERT a nadadores; ViTPose con GPU</a:t>
            </a:r>
          </a:p>
          <a:p>
            <a:pPr algn="l">
              <a:spcAft>
                <a:spcPts val="400"/>
              </a:spcAft>
            </a:pPr>
            <a:r>
              <a:rPr sz="1200" b="0">
                <a:solidFill>
                  <a:srgbClr val="FFFFFF"/>
                </a:solidFill>
              </a:rPr>
              <a:t>•  Modo audio y sensores inerciales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
        <p:nvSpPr>
          <p:cNvPr id="3" name="Text Placeholder 2"/>
          <p:cNvSpPr>
            <a:spLocks noGrp="1"/>
          </p:cNvSpPr>
          <p:nvPr>
            <p:ph type="body" idx="16" sz="quarter"/>
          </p:nvPr>
        </p:nvSpPr>
        <p:spPr/>
        <p:txBody>
          <a:bodyPr/>
          <a:lstStyle/>
          <a:p>
            <a:r>
              <a:t>¿Preguntas?</a:t>
            </a:r>
          </a:p>
        </p:txBody>
      </p:sp>
      <p:sp>
        <p:nvSpPr>
          <p:cNvPr id="4" name="Text Placeholder 3"/>
          <p:cNvSpPr>
            <a:spLocks noGrp="1"/>
          </p:cNvSpPr>
          <p:nvPr>
            <p:ph type="body" idx="22" sz="quarter"/>
          </p:nvPr>
        </p:nvSpPr>
        <p:spPr/>
        <p:txBody>
          <a:bodyPr/>
          <a:lstStyle/>
          <a:p>
            <a:r>
              <a:t>StrokeLab · TFM Máster en IA</a:t>
            </a:r>
          </a:p>
        </p:txBody>
      </p:sp>
      <p:sp>
        <p:nvSpPr>
          <p:cNvPr id="5" name="Text Placeholder 4"/>
          <p:cNvSpPr>
            <a:spLocks noGrp="1"/>
          </p:cNvSpPr>
          <p:nvPr>
            <p:ph type="body" idx="15" sz="quarter"/>
          </p:nvPr>
        </p:nvSpPr>
        <p:spPr/>
        <p:txBody>
          <a:bodyPr/>
          <a:lstStyle/>
          <a:p>
            <a:r>
              <a:t>Diana Cruz</a:t>
            </a:r>
          </a:p>
        </p:txBody>
      </p:sp>
      <p:sp>
        <p:nvSpPr>
          <p:cNvPr id="6" name="Text Placeholder 5"/>
          <p:cNvSpPr>
            <a:spLocks noGrp="1"/>
          </p:cNvSpPr>
          <p:nvPr>
            <p:ph type="body" idx="23" sz="quarter"/>
          </p:nvPr>
        </p:nvSpPr>
        <p:spPr/>
        <p:txBody>
          <a:bodyPr/>
          <a:lstStyle/>
          <a:p>
            <a:r>
              <a:t>Universidad Europea</a:t>
            </a:r>
          </a:p>
        </p:txBody>
      </p:sp>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