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19" r:id="rId11"/>
    <p:sldId id="320" r:id="rId12"/>
    <p:sldId id="321" r:id="rId13"/>
    <p:sldId id="322" r:id="rId14"/>
    <p:sldId id="323" r:id="rId15"/>
    <p:sldId id="324" r:id="rId16"/>
    <p:sldId id="325" r:id="rId17"/>
    <p:sldId id="326" r:id="rId18"/>
    <p:sldId id="327" r:id="rId19"/>
    <p:sldId id="328" r:id="rId20"/>
    <p:sldId id="329" r:id="rId21"/>
    <p:sldId id="330" r:id="rId22"/>
    <p:sldId id="332" r:id="rId24"/>
    <p:sldId id="333" r:id="rId25"/>
    <p:sldId id="334" r:id="rId26"/>
    <p:sldId id="335" r:id="rId27"/>
    <p:sldId id="336" r:id="rId28"/>
    <p:sldId id="340" r:id="rId32"/>
    <p:sldId id="341" r:id="rId33"/>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32" Type="http://schemas.openxmlformats.org/officeDocument/2006/relationships/slide" Target="slides/slide23.xml"/><Relationship Id="rId33" Type="http://schemas.openxmlformats.org/officeDocument/2006/relationships/slide" Target="slides/slide2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estructura: el problema, el sistema, cómo lo validé, una demostración con dos grabaciones de 100 m libre y las conclusiones. [≈ 15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nadador se cansa, su técnica cambia antes de que caiga el tiempo: acorta la brazada, sube la frecuencia, baja el codo. Hoy esto se detecta a ojo, de forma subjetiva, o con sistemas instrumentados —sensores inerciales, varias cámaras— que son caros y complejos. StrokeLab propone una tercera vía: una sola cámara convencional y un portátil, y un sistema que no solo detecta la fatiga sino que explica qué variable la provoca. [≈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vídeo monocular y en la CPU de un portátil, cuantifique la técnica, detecte el inicio de la fatiga y explique sus causas. El director marcó cuatro indicaciones: la explicabilidad es lo más importante, dos verticales de IA —visión y datos tabulares—, modos diferenciados y optimizar YOLO. La tabla resume cómo responde el sistema a cada una. [≈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arquitectura. La vertical de visión estima la pose: 17 puntos del cuerpo por fotograma con YOLOv8n en 2D y MotionBERT en 3D, y los limpia con filtros anatómicos. La vertical tabular divide el nado en ciclos de brazada, calcula por ciclo la frecuencia, la distancia por ciclo y los ángulos de codo, hombro, cadera, rodilla y tronco, aprende el patrón fresco del propio nadador con Isolation Forest y explica cada desviación con SHAP. El resultado llega al entrenador como vídeo anotado, tablas y un texto.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YOLO se entrenó con personas de pie, no con nadadores horizontales bajo el agua. Tres decisiones lo adaptan. Primero, el giro: pruebo el fotograma sin girar y girado 90 grados y me quedo con la orientación que mejor detecta. Segundo, filtros anatómicos: descarto cuerpos imposibles, como un tronco vertical en vista lateral o la cadera encima del hombro. Tercero, la elección del modelo: en el mismo vídeo YOLOv8n dio 15 ciclos válidos frente a 3 de MoveNet. El 3D de MotionBERT reconstruye mal las piernas de un nadador horizontal, así que en vista lateral uso los ángulos 2D. [≈ 1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Bajo el agua YOLO copia el brazo visible en el oculto: las dos muñecas salen casi idénticas. Por eso no sigo cada brazo por separado, sino la mano más profunda respecto al eje del cuerpo. Cada pico es una brazada y en crol dos brazadas forman un ciclo. Lo validé contra mi conteo manual: el error en la frecuencia está entre el 6,5 y el 8,2 %, en vista lateral y frontal. [≈ 1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hay etiquetas de fatiga, así que planteo el problema como detección de anomalías respecto al propio nadador. El primer 30 % de sus ciclos es su patrón fresco. Isolation Forest puntúa cada ciclo por lo distinto que es de ese patrón. El inicio de la fatiga es el primer momento con tres ciclos seguidos por encima del percentil 95 de la fase fresca, y lo contrasto con el detector de cambios PELT. En la gráfica, con datos sintéticos y fatiga programada, el sistema la detecta al comienzo de la transición.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PELT situó el cambio en el ciclo 33. [≈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vídeo real analicé 17 secuencias de 4 participantes en 4 estilos: 6,6 minutos grabados, de los que 2,2 minutos fueron analizables, con 95 ciclos válidos. La frecuencia se aproxima al conteo manual con un error del 6,5 al 8,2 %. La vista automática clasificó bien las 17 secuencias, aunque el umbral se fijó con ellas, y la familia del estilo en 12 de 13. Las sesiones de pasadas cortas no dieron fatiga, y tampoco falsas alarmas: es lo esperable, porque son pasadas a ritmo técnico con descansos. El nadador fue analizable en el 34 % del tiempo: la detección bajo el agua es la principal limitación. [≈ 1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1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la parte técnica, una demostración. Son dos grabaciones de 100 m libre hechas después de entregar la memoria, solo para mostrar el sistema funcionando; no forman parte de los resultados del trabajo. Aquí se ve el vídeo anotado: el esqueleto, el ciclo, la frecuencia y la barra de anomalía por ciclo. [Reproducir el vídeo ≈ 1 min] (No afirmar nada de fatiga que no se haya comprobado en el análisis.)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limitaciones son claras y las identifiqué con datos. Faltan grabaciones de nado continuo y una referencia fisiológica, así que la fatiga real no está validada todavía. El nadador solo es analizable el 34 % del tiempo y en vista lateral el modelo copia el brazo oculto. Con una cámara, los ángulos son proyecciones y el 3D falla en las piernas. El trabajo futuro sale directamente de ellas: series largas con lactato, esfuerzo percibido y valoración del entrenador; anotar fotogramas propios para medir OKS, PCK y mAP; ajustar la pose con SwimXYZ y datos propios; y ampliar con audio, sensores inerciales y una interfaz. [≈ 1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resumen: siete objetivos cumplidos y dos parciales. Los parciales son honestos: la fatiga está validada con datos sintéticos y en tiempo real, pero falta la validación fisiológica con nadadores reales; y el clasificador de estilo supervisado no generalizaba, por eso lo sustituí por reglas biomecánicas. La lección principal del trabajo es que la calidad de los datos pesa más que el modelo: detecté una exactitud del 99,99 % que era fuga de datos y, desde entonces, contrasté cada resultado con una referencia. Gracias. [≈ 1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la validación con referencia conocida: en vista lateral se estiman frecuencia, velocidad y distancia por ciclo con errores medianos del 4,7, 1,3 y 4,3 %; de frente, la frecuencia con un 0,3 %. El inicio se detecta a los 57,3 s, al comienzo de la transición, y SHAP señala variables alteradas en la simulación.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5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 Id="rId3" Type="http://schemas.openxmlformats.org/officeDocument/2006/relationships/image" Target="../media/image5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 Id="rId3"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 Id="rId3" Type="http://schemas.openxmlformats.org/officeDocument/2006/relationships/image" Target="../media/image5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 Id="rId3"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 Id="rId3"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600200" y="1005840"/>
            <a:ext cx="5486400" cy="1097280"/>
          </a:xfrm>
        </p:spPr>
        <p:txBody>
          <a:bodyPr/>
          <a:lstStyle/>
          <a:p>
            <a:r>
              <a:rPr sz="4400"/>
              <a:t>Índice</a:t>
            </a:r>
          </a:p>
        </p:txBody>
      </p:sp>
      <p:sp>
        <p:nvSpPr>
          <p:cNvPr id="3" name="Text Placeholder 2"/>
          <p:cNvSpPr>
            <a:spLocks noGrp="1"/>
          </p:cNvSpPr>
          <p:nvPr>
            <p:ph type="body" idx="15" sz="quarter"/>
          </p:nvPr>
        </p:nvSpPr>
        <p:spPr>
          <a:xfrm>
            <a:off x="1600200" y="2377440"/>
          </a:xfrm>
        </p:spPr>
        <p:txBody>
          <a:bodyPr/>
          <a:lstStyle/>
          <a:p>
            <a:pPr>
              <a:spcAft>
                <a:spcPts val="1400"/>
              </a:spcAft>
            </a:pPr>
            <a:r>
              <a:rPr b="1" sz="2400">
                <a:solidFill>
                  <a:srgbClr val="FF3228"/>
                </a:solidFill>
              </a:rPr>
              <a:t>01   </a:t>
            </a:r>
            <a:r>
              <a:rPr sz="2400"/>
              <a:t>El problema y el objetivo</a:t>
            </a:r>
          </a:p>
          <a:p>
            <a:pPr>
              <a:spcAft>
                <a:spcPts val="1400"/>
              </a:spcAft>
            </a:pPr>
            <a:r>
              <a:rPr b="1" sz="2400">
                <a:solidFill>
                  <a:srgbClr val="FF3228"/>
                </a:solidFill>
              </a:rPr>
              <a:t>02   </a:t>
            </a:r>
            <a:r>
              <a:rPr sz="2400"/>
              <a:t>StrokeLab: visión + datos tabulares</a:t>
            </a:r>
          </a:p>
          <a:p>
            <a:pPr>
              <a:spcAft>
                <a:spcPts val="1400"/>
              </a:spcAft>
            </a:pPr>
            <a:r>
              <a:rPr b="1" sz="2400">
                <a:solidFill>
                  <a:srgbClr val="FF3228"/>
                </a:solidFill>
              </a:rPr>
              <a:t>03   </a:t>
            </a:r>
            <a:r>
              <a:rPr sz="2400"/>
              <a:t>Validación y resultados</a:t>
            </a:r>
          </a:p>
          <a:p>
            <a:pPr>
              <a:spcAft>
                <a:spcPts val="1400"/>
              </a:spcAft>
            </a:pPr>
            <a:r>
              <a:rPr b="1" sz="2400">
                <a:solidFill>
                  <a:srgbClr val="FF3228"/>
                </a:solidFill>
              </a:rPr>
              <a:t>04   </a:t>
            </a:r>
            <a:r>
              <a:rPr sz="2400"/>
              <a:t>Demostración: 100 m libre</a:t>
            </a:r>
          </a:p>
          <a:p>
            <a:pPr>
              <a:spcAft>
                <a:spcPts val="1400"/>
              </a:spcAft>
            </a:pPr>
            <a:r>
              <a:rPr b="1" sz="2400">
                <a:solidFill>
                  <a:srgbClr val="FF3228"/>
                </a:solidFill>
              </a:rPr>
              <a:t>05   </a:t>
            </a:r>
            <a:r>
              <a:rPr sz="2400"/>
              <a:t>Conclusiones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¿Cuándo aparece la fatiga y por qué?</a:t>
            </a:r>
          </a:p>
        </p:txBody>
      </p:sp>
      <p:sp>
        <p:nvSpPr>
          <p:cNvPr id="4" name="Text Placeholder 3"/>
          <p:cNvSpPr>
            <a:spLocks noGrp="1"/>
          </p:cNvSpPr>
          <p:nvPr>
            <p:ph type="body" idx="18" sz="quarter"/>
          </p:nvPr>
        </p:nvSpPr>
        <p:spPr>
          <a:xfrm>
            <a:ext cx="12344400" cy="0"/>
          </a:xfrm>
        </p:spPr>
        <p:txBody>
          <a:bodyPr/>
          <a:lstStyle/>
          <a:p>
            <a:r>
              <a:t>Hoy el entrenador elige entre el ojo experto y los sensores caros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Observación</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Depende de la experiencia del entrenador. No cuantifica ni deja registro comparable entre sesiones.</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Sistemas instrumentados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Sensores inerciales o varias cámaras: coste elevado y montaje complejo en la piscina.</a:t>
            </a:r>
          </a:p>
        </p:txBody>
      </p:sp>
      <p:sp>
        <p:nvSpPr>
          <p:cNvPr id="13" name="Rectangle 12"/>
          <p:cNvSpPr/>
          <p:nvPr/>
        </p:nvSpPr>
        <p:spPr>
          <a:xfrm>
            <a:off x="9336024" y="2926080"/>
            <a:ext cx="3931920" cy="3017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StrokeLab</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FFFFFF"/>
                </a:solidFill>
              </a:rPr>
              <a:t>Una cámara convencional y un portátil sin GPU. Mide, detecta el inicio de la fatiga y explica su causa.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Objetivo: IA explicable desde un vídeo</a:t>
            </a:r>
          </a:p>
        </p:txBody>
      </p:sp>
      <p:sp>
        <p:nvSpPr>
          <p:cNvPr id="4" name="Text Placeholder 3"/>
          <p:cNvSpPr>
            <a:spLocks noGrp="1"/>
          </p:cNvSpPr>
          <p:nvPr>
            <p:ph type="body" idx="18" sz="quarter"/>
          </p:nvPr>
        </p:nvSpPr>
        <p:spPr>
          <a:xfrm>
            <a:ext cx="12344400" cy="0"/>
          </a:xfrm>
        </p:spPr>
        <p:txBody>
          <a:bodyPr/>
          <a:lstStyle/>
          <a:p>
            <a:r>
              <a:t>Indicaciones del director y cómo se cumplen</a:t>
            </a:r>
          </a:p>
        </p:txBody>
      </p:sp>
      <p:graphicFrame>
        <p:nvGraphicFramePr>
          <p:cNvPr id="5" name="Table 4"/>
          <p:cNvGraphicFramePr>
            <a:graphicFrameLocks noGrp="1"/>
          </p:cNvGraphicFramePr>
          <p:nvPr/>
        </p:nvGraphicFramePr>
        <p:xfrm>
          <a:off x="905256" y="2880360"/>
          <a:ext cx="12801600" cy="2834640"/>
        </p:xfrm>
        <a:graphic>
          <a:graphicData uri="http://schemas.openxmlformats.org/drawingml/2006/table">
            <a:tbl>
              <a:tblPr firstRow="1" bandRow="1">
                <a:tableStyleId>{5C22544A-7EE6-4342-B048-85BDC9FD1C3A}</a:tableStyleId>
              </a:tblPr>
              <a:tblGrid>
                <a:gridCol w="4754880"/>
                <a:gridCol w="8046720"/>
              </a:tblGrid>
              <a:tr h="566928">
                <a:tc>
                  <a:txBody>
                    <a:bodyPr/>
                    <a:lstStyle/>
                    <a:p>
                      <a:r>
                        <a:rPr sz="1400" b="1">
                          <a:solidFill>
                            <a:srgbClr val="FFFFFF"/>
                          </a:solidFill>
                        </a:rPr>
                        <a:t>Indicación</a:t>
                      </a:r>
                    </a:p>
                  </a:txBody>
                  <a:tcPr marL="91440" marR="91440" marT="27432" marB="27432" anchor="ctr">
                    <a:solidFill>
                      <a:srgbClr val="FF3228"/>
                    </a:solidFill>
                  </a:tcPr>
                </a:tc>
                <a:tc>
                  <a:txBody>
                    <a:bodyPr/>
                    <a:lstStyle/>
                    <a:p>
                      <a:r>
                        <a:rPr sz="1400" b="1">
                          <a:solidFill>
                            <a:srgbClr val="FFFFFF"/>
                          </a:solidFill>
                        </a:rPr>
                        <a:t>Implementación en StrokeLab</a:t>
                      </a:r>
                    </a:p>
                  </a:txBody>
                  <a:tcPr marL="91440" marR="91440" marT="27432" marB="27432" anchor="ctr">
                    <a:solidFill>
                      <a:srgbClr val="FF3228"/>
                    </a:solidFill>
                  </a:tcPr>
                </a:tc>
              </a:tr>
              <a:tr h="566928">
                <a:tc>
                  <a:txBody>
                    <a:bodyPr/>
                    <a:lstStyle/>
                    <a:p>
                      <a:r>
                        <a:rPr sz="1400" b="0">
                          <a:solidFill>
                            <a:srgbClr val="1E1E1E"/>
                          </a:solidFill>
                        </a:rPr>
                        <a:t>La explicabilidad (SHAP) es lo más importante</a:t>
                      </a:r>
                    </a:p>
                  </a:txBody>
                  <a:tcPr marL="91440" marR="91440" marT="27432" marB="27432" anchor="ctr">
                    <a:solidFill>
                      <a:srgbClr val="FFFFFF"/>
                    </a:solidFill>
                  </a:tcPr>
                </a:tc>
                <a:tc>
                  <a:txBody>
                    <a:bodyPr/>
                    <a:lstStyle/>
                    <a:p>
                      <a:r>
                        <a:rPr sz="1400" b="0">
                          <a:solidFill>
                            <a:srgbClr val="1E1E1E"/>
                          </a:solidFill>
                        </a:rPr>
                        <a:t>Isolation Forest sobre el estado fresco del propio nadador + TreeSHAP + explicación en texto</a:t>
                      </a:r>
                    </a:p>
                  </a:txBody>
                  <a:tcPr marL="91440" marR="91440" marT="27432" marB="27432" anchor="ctr">
                    <a:solidFill>
                      <a:srgbClr val="FFFFFF"/>
                    </a:solidFill>
                  </a:tcPr>
                </a:tc>
              </a:tr>
              <a:tr h="566928">
                <a:tc>
                  <a:txBody>
                    <a:bodyPr/>
                    <a:lstStyle/>
                    <a:p>
                      <a:r>
                        <a:rPr sz="1400" b="0">
                          <a:solidFill>
                            <a:srgbClr val="1E1E1E"/>
                          </a:solidFill>
                        </a:rPr>
                        <a:t>Dos verticales de IA: visión y tabular</a:t>
                      </a:r>
                    </a:p>
                  </a:txBody>
                  <a:tcPr marL="91440" marR="91440" marT="27432" marB="27432" anchor="ctr">
                    <a:solidFill>
                      <a:srgbClr val="EEEDED"/>
                    </a:solidFill>
                  </a:tcPr>
                </a:tc>
                <a:tc>
                  <a:txBody>
                    <a:bodyPr/>
                    <a:lstStyle/>
                    <a:p>
                      <a:r>
                        <a:rPr sz="1400" b="0">
                          <a:solidFill>
                            <a:srgbClr val="1E1E1E"/>
                          </a:solidFill>
                        </a:rPr>
                        <a:t>Visión: pose 2D (YOLOv8n) y 3D (MotionBERT) · Tabular: variables por ciclo y modelo de fatiga</a:t>
                      </a:r>
                    </a:p>
                  </a:txBody>
                  <a:tcPr marL="91440" marR="91440" marT="27432" marB="27432" anchor="ctr">
                    <a:solidFill>
                      <a:srgbClr val="EEEDED"/>
                    </a:solidFill>
                  </a:tcPr>
                </a:tc>
              </a:tr>
              <a:tr h="566928">
                <a:tc>
                  <a:txBody>
                    <a:bodyPr/>
                    <a:lstStyle/>
                    <a:p>
                      <a:r>
                        <a:rPr sz="1400" b="0">
                          <a:solidFill>
                            <a:srgbClr val="1E1E1E"/>
                          </a:solidFill>
                        </a:rPr>
                        <a:t>Modos diferenciados (vídeo, tabular, audio)</a:t>
                      </a:r>
                    </a:p>
                  </a:txBody>
                  <a:tcPr marL="91440" marR="91440" marT="27432" marB="27432" anchor="ctr">
                    <a:solidFill>
                      <a:srgbClr val="FFFFFF"/>
                    </a:solidFill>
                  </a:tcPr>
                </a:tc>
                <a:tc>
                  <a:txBody>
                    <a:bodyPr/>
                    <a:lstStyle/>
                    <a:p>
                      <a:r>
                        <a:rPr sz="1400" b="0">
                          <a:solidFill>
                            <a:srgbClr val="1E1E1E"/>
                          </a:solidFill>
                        </a:rPr>
                        <a:t>Vídeo y tabular implementados; el audio queda como trabajo futuro</a:t>
                      </a:r>
                    </a:p>
                  </a:txBody>
                  <a:tcPr marL="91440" marR="91440" marT="27432" marB="27432" anchor="ctr">
                    <a:solidFill>
                      <a:srgbClr val="FFFFFF"/>
                    </a:solidFill>
                  </a:tcPr>
                </a:tc>
              </a:tr>
              <a:tr h="566928">
                <a:tc>
                  <a:txBody>
                    <a:bodyPr/>
                    <a:lstStyle/>
                    <a:p>
                      <a:r>
                        <a:rPr sz="1400" b="0">
                          <a:solidFill>
                            <a:srgbClr val="1E1E1E"/>
                          </a:solidFill>
                        </a:rPr>
                        <a:t>Optimizar YOLO (MoveNet, ViTPose)</a:t>
                      </a:r>
                    </a:p>
                  </a:txBody>
                  <a:tcPr marL="91440" marR="91440" marT="27432" marB="27432" anchor="ctr">
                    <a:solidFill>
                      <a:srgbClr val="EEEDED"/>
                    </a:solidFill>
                  </a:tcPr>
                </a:tc>
                <a:tc>
                  <a:txBody>
                    <a:bodyPr/>
                    <a:lstStyle/>
                    <a:p>
                      <a:r>
                        <a:rPr sz="1400" b="0">
                          <a:solidFill>
                            <a:srgbClr val="1E1E1E"/>
                          </a:solidFill>
                        </a:rPr>
                        <a:t>Comparativa en CPU; YOLOv8n elegido; ViTPose como trabajo futuro</a:t>
                      </a:r>
                    </a:p>
                  </a:txBody>
                  <a:tcPr marL="91440" marR="91440" marT="27432" marB="27432" anchor="ctr">
                    <a:solidFill>
                      <a:srgbClr val="EEEDED"/>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verticales de IA</a:t>
            </a:r>
          </a:p>
        </p:txBody>
      </p:sp>
      <p:pic>
        <p:nvPicPr>
          <p:cNvPr id="5" name="Picture 4" descr="arquitectura.png"/>
          <p:cNvPicPr>
            <a:picLocks noChangeAspect="1"/>
          </p:cNvPicPr>
          <p:nvPr/>
        </p:nvPicPr>
        <p:blipFill>
          <a:blip r:embed="rId3"/>
          <a:stretch>
            <a:fillRect/>
          </a:stretch>
        </p:blipFill>
        <p:spPr>
          <a:xfrm>
            <a:off x="2819028" y="2057400"/>
            <a:ext cx="8992343"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Adaptar la pose humana al agua</a:t>
            </a:r>
          </a:p>
        </p:txBody>
      </p:sp>
      <p:sp>
        <p:nvSpPr>
          <p:cNvPr id="4" name="Text Placeholder 3"/>
          <p:cNvSpPr>
            <a:spLocks noGrp="1"/>
          </p:cNvSpPr>
          <p:nvPr>
            <p:ph type="body" idx="18" sz="quarter"/>
          </p:nvPr>
        </p:nvSpPr>
        <p:spPr>
          <a:xfrm>
            <a:ext cx="12344400" cy="0"/>
          </a:xfrm>
        </p:spPr>
        <p:txBody>
          <a:bodyPr/>
          <a:lstStyle/>
          <a:p>
            <a:r>
              <a:t>La pose bajo el agua necesita tres ajustes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Giro ±90°</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prueba el fotograma girado y se conserva la orientación que mejor detecta; las coordenadas vuelven al original.</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Filtros anatómicos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descartan troncos verticales en vista lateral, segmentos imposibles y codos &lt; 25°.</a:t>
            </a:r>
          </a:p>
        </p:txBody>
      </p:sp>
      <p:sp>
        <p:nvSpPr>
          <p:cNvPr id="13" name="Rectangle 12"/>
          <p:cNvSpPr/>
          <p:nvPr/>
        </p:nvSpPr>
        <p:spPr>
          <a:xfrm>
            <a:off x="9336024"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YOLOv8n-Pose</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15 ciclos válidos frente a 3 de MoveNet en el mismo vídeo; 6,6 FPS en la CPU del portátil.</a:t>
            </a:r>
          </a:p>
        </p:txBody>
      </p:sp>
      <p:sp>
        <p:nvSpPr>
          <p:cNvPr id="17" name="TextBox 16"/>
          <p:cNvSpPr txBox="1"/>
          <p:nvPr/>
        </p:nvSpPr>
        <p:spPr>
          <a:xfrm>
            <a:off x="905256" y="62179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3D (MotionBERT): válido en codo y cadera, no en rodilla → ángulos 2D en vista lateral y 3D en vista frontal u oblicua.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brazadas con la mano</a:t>
            </a:r>
          </a:p>
        </p:txBody>
      </p:sp>
      <p:sp>
        <p:nvSpPr>
          <p:cNvPr id="4" name="Text Placeholder 3"/>
          <p:cNvSpPr>
            <a:spLocks noGrp="1"/>
          </p:cNvSpPr>
          <p:nvPr>
            <p:ph type="body" idx="18" sz="quarter"/>
          </p:nvPr>
        </p:nvSpPr>
        <p:spPr>
          <a:xfrm>
            <a:ext cx="12344400" cy="0"/>
          </a:xfrm>
        </p:spPr>
        <p:txBody>
          <a:bodyPr/>
          <a:lstStyle/>
          <a:p>
            <a:r>
              <a:t>La mano más profunda respecto al eje del cuerpo marca cada brazada</a:t>
            </a:r>
          </a:p>
        </p:txBody>
      </p:sp>
      <p:pic>
        <p:nvPicPr>
          <p:cNvPr id="5" name="Picture 4" descr="aaron_brazadas.png"/>
          <p:cNvPicPr>
            <a:picLocks noChangeAspect="1"/>
          </p:cNvPicPr>
          <p:nvPr/>
        </p:nvPicPr>
        <p:blipFill>
          <a:blip r:embed="rId3"/>
          <a:stretch>
            <a:fillRect/>
          </a:stretch>
        </p:blipFill>
        <p:spPr>
          <a:xfrm>
            <a:off x="905256" y="3114446"/>
            <a:ext cx="7680960" cy="2457907"/>
          </a:xfrm>
          <a:prstGeom prst="rect">
            <a:avLst/>
          </a:prstGeom>
        </p:spPr>
      </p:pic>
      <p:graphicFrame>
        <p:nvGraphicFramePr>
          <p:cNvPr id="6" name="Table 5"/>
          <p:cNvGraphicFramePr>
            <a:graphicFrameLocks noGrp="1"/>
          </p:cNvGraphicFramePr>
          <p:nvPr/>
        </p:nvGraphicFramePr>
        <p:xfrm>
          <a:off x="8961120" y="283464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7" name="TextBox 6"/>
          <p:cNvSpPr txBox="1"/>
          <p:nvPr/>
        </p:nvSpPr>
        <p:spPr>
          <a:xfrm>
            <a:off x="8961120" y="4846320"/>
            <a:ext cx="4754880" cy="548640"/>
          </a:xfrm>
          <a:prstGeom prst="rect">
            <a:avLst/>
          </a:prstGeom>
          <a:noFill/>
        </p:spPr>
        <p:txBody>
          <a:bodyPr wrap="square" anchor="t" lIns="0" rIns="0" tIns="0" bIns="0">
            <a:spAutoFit/>
          </a:bodyPr>
          <a:lstStyle/>
          <a:p>
            <a:pPr algn="l">
              <a:spcAft>
                <a:spcPts val="600"/>
              </a:spcAft>
            </a:pPr>
            <a:r>
              <a:rPr sz="1100" b="0">
                <a:solidFill>
                  <a:srgbClr val="504B4B"/>
                </a:solidFill>
              </a:rPr>
              <a:t>Frecuencia de ciclo (ciclos/min) frente al conteo manual</a:t>
            </a:r>
          </a:p>
        </p:txBody>
      </p:sp>
      <p:sp>
        <p:nvSpPr>
          <p:cNvPr id="8" name="TextBox 7"/>
          <p:cNvSpPr txBox="1"/>
          <p:nvPr/>
        </p:nvSpPr>
        <p:spPr>
          <a:xfrm>
            <a:off x="905256" y="6126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Gris: intervalo del conteo manual (segundos 30-40). Triángulos: brazadas detectadas.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desviación del patrón fresco</a:t>
            </a:r>
          </a:p>
        </p:txBody>
      </p:sp>
      <p:sp>
        <p:nvSpPr>
          <p:cNvPr id="4" name="Text Placeholder 3"/>
          <p:cNvSpPr>
            <a:spLocks noGrp="1"/>
          </p:cNvSpPr>
          <p:nvPr>
            <p:ph type="body" idx="18" sz="quarter"/>
          </p:nvPr>
        </p:nvSpPr>
        <p:spPr>
          <a:xfrm>
            <a:ext cx="12344400" cy="0"/>
          </a:xfrm>
        </p:spPr>
        <p:txBody>
          <a:bodyPr/>
          <a:lstStyle/>
          <a:p>
            <a:r>
              <a:t>Aprendizaje no supervisado: no hacen falta etiquetas de fatiga</a:t>
            </a:r>
          </a:p>
        </p:txBody>
      </p:sp>
      <p:sp>
        <p:nvSpPr>
          <p:cNvPr id="5" name="Rectangle 4"/>
          <p:cNvSpPr/>
          <p:nvPr/>
        </p:nvSpPr>
        <p:spPr>
          <a:xfrm>
            <a:off x="905256" y="278892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8892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8892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Fase fresca</a:t>
            </a:r>
          </a:p>
        </p:txBody>
      </p:sp>
      <p:sp>
        <p:nvSpPr>
          <p:cNvPr id="8" name="TextBox 7"/>
          <p:cNvSpPr txBox="1"/>
          <p:nvPr/>
        </p:nvSpPr>
        <p:spPr>
          <a:xfrm>
            <a:off x="1828800" y="317296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Primer 30 % de ciclos del propio nadador</a:t>
            </a:r>
          </a:p>
        </p:txBody>
      </p:sp>
      <p:sp>
        <p:nvSpPr>
          <p:cNvPr id="9" name="Rectangle 8"/>
          <p:cNvSpPr/>
          <p:nvPr/>
        </p:nvSpPr>
        <p:spPr>
          <a:xfrm>
            <a:off x="905256" y="3840479"/>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840479"/>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840479"/>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Isolation Forest</a:t>
            </a:r>
          </a:p>
        </p:txBody>
      </p:sp>
      <p:sp>
        <p:nvSpPr>
          <p:cNvPr id="12" name="TextBox 11"/>
          <p:cNvSpPr txBox="1"/>
          <p:nvPr/>
        </p:nvSpPr>
        <p:spPr>
          <a:xfrm>
            <a:off x="1828800" y="4224527"/>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Puntúa la anomalía de cada ciclo</a:t>
            </a:r>
          </a:p>
        </p:txBody>
      </p:sp>
      <p:sp>
        <p:nvSpPr>
          <p:cNvPr id="13" name="Rectangle 12"/>
          <p:cNvSpPr/>
          <p:nvPr/>
        </p:nvSpPr>
        <p:spPr>
          <a:xfrm>
            <a:off x="905256" y="489204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89204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89204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Inicio de la fatiga</a:t>
            </a:r>
          </a:p>
        </p:txBody>
      </p:sp>
      <p:sp>
        <p:nvSpPr>
          <p:cNvPr id="16" name="TextBox 15"/>
          <p:cNvSpPr txBox="1"/>
          <p:nvPr/>
        </p:nvSpPr>
        <p:spPr>
          <a:xfrm>
            <a:off x="1828800" y="527608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3 ciclos seguidos sobre el p95 fresco; contraste con PELT</a:t>
            </a:r>
          </a:p>
        </p:txBody>
      </p:sp>
      <p:sp>
        <p:nvSpPr>
          <p:cNvPr id="17" name="Rectangle 16"/>
          <p:cNvSpPr/>
          <p:nvPr/>
        </p:nvSpPr>
        <p:spPr>
          <a:xfrm>
            <a:off x="905256" y="59436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59436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4</a:t>
            </a:r>
          </a:p>
        </p:txBody>
      </p:sp>
      <p:sp>
        <p:nvSpPr>
          <p:cNvPr id="19" name="TextBox 18"/>
          <p:cNvSpPr txBox="1"/>
          <p:nvPr/>
        </p:nvSpPr>
        <p:spPr>
          <a:xfrm>
            <a:off x="1828800" y="594360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TreeSHAP</a:t>
            </a:r>
          </a:p>
        </p:txBody>
      </p:sp>
      <p:sp>
        <p:nvSpPr>
          <p:cNvPr id="20" name="TextBox 19"/>
          <p:cNvSpPr txBox="1"/>
          <p:nvPr/>
        </p:nvSpPr>
        <p:spPr>
          <a:xfrm>
            <a:off x="1828800" y="632764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Qué variable empuja cada ciclo hacia la fatiga</a:t>
            </a:r>
          </a:p>
        </p:txBody>
      </p:sp>
      <p:pic>
        <p:nvPicPr>
          <p:cNvPr id="21" name="Picture 20" descr="sintetico_fatiga_timeline.png"/>
          <p:cNvPicPr>
            <a:picLocks noChangeAspect="1"/>
          </p:cNvPicPr>
          <p:nvPr/>
        </p:nvPicPr>
        <p:blipFill>
          <a:blip r:embed="rId3"/>
          <a:stretch>
            <a:fillRect/>
          </a:stretch>
        </p:blipFill>
        <p:spPr>
          <a:xfrm>
            <a:off x="6126480" y="2857500"/>
            <a:ext cx="7589520" cy="3794760"/>
          </a:xfrm>
          <a:prstGeom prst="rect">
            <a:avLst/>
          </a:prstGeom>
        </p:spPr>
      </p:pic>
      <p:sp>
        <p:nvSpPr>
          <p:cNvPr id="22" name="TextBox 21"/>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datos sintéticos con fatiga programada (referencia conocida), no un nadador real.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 con nadadores reales</a:t>
            </a:r>
          </a:p>
        </p:txBody>
      </p:sp>
      <p:sp>
        <p:nvSpPr>
          <p:cNvPr id="4" name="Text Placeholder 3"/>
          <p:cNvSpPr>
            <a:spLocks noGrp="1"/>
          </p:cNvSpPr>
          <p:nvPr>
            <p:ph type="body" idx="18" sz="quarter"/>
          </p:nvPr>
        </p:nvSpPr>
        <p:spPr>
          <a:xfrm>
            <a:ext cx="12344400" cy="0"/>
          </a:xfrm>
        </p:spPr>
        <p:txBody>
          <a:bodyPr/>
          <a:lstStyle/>
          <a:p>
            <a:r>
              <a:t>17 secuencias · 4 participantes · 4 estilos</a:t>
            </a:r>
          </a:p>
        </p:txBody>
      </p:sp>
      <p:sp>
        <p:nvSpPr>
          <p:cNvPr id="5" name="Rectangle 4"/>
          <p:cNvSpPr/>
          <p:nvPr/>
        </p:nvSpPr>
        <p:spPr>
          <a:xfrm>
            <a:off x="905256" y="2788920"/>
            <a:ext cx="4023360" cy="192024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2971800"/>
            <a:ext cx="3566160" cy="777240"/>
          </a:xfrm>
          <a:prstGeom prst="rect">
            <a:avLst/>
          </a:prstGeom>
          <a:noFill/>
        </p:spPr>
        <p:txBody>
          <a:bodyPr wrap="square" anchor="t" lIns="0" rIns="0" tIns="0" bIns="0">
            <a:spAutoFit/>
          </a:bodyPr>
          <a:lstStyle/>
          <a:p>
            <a:pPr algn="l">
              <a:spcAft>
                <a:spcPts val="600"/>
              </a:spcAft>
            </a:pPr>
            <a:r>
              <a:rPr sz="3600" b="1">
                <a:solidFill>
                  <a:srgbClr val="FFFFFF"/>
                </a:solidFill>
              </a:rPr>
              <a:t>95</a:t>
            </a:r>
          </a:p>
        </p:txBody>
      </p:sp>
      <p:sp>
        <p:nvSpPr>
          <p:cNvPr id="7" name="TextBox 6"/>
          <p:cNvSpPr txBox="1"/>
          <p:nvPr/>
        </p:nvSpPr>
        <p:spPr>
          <a:xfrm>
            <a:off x="1179576" y="3794760"/>
            <a:ext cx="3566160" cy="822960"/>
          </a:xfrm>
          <a:prstGeom prst="rect">
            <a:avLst/>
          </a:prstGeom>
          <a:noFill/>
        </p:spPr>
        <p:txBody>
          <a:bodyPr wrap="square" anchor="t" lIns="0" rIns="0" tIns="0" bIns="0">
            <a:spAutoFit/>
          </a:bodyPr>
          <a:lstStyle/>
          <a:p>
            <a:pPr algn="l">
              <a:spcAft>
                <a:spcPts val="600"/>
              </a:spcAft>
            </a:pPr>
            <a:r>
              <a:rPr sz="1300" b="0">
                <a:solidFill>
                  <a:srgbClr val="FFFFFF"/>
                </a:solidFill>
              </a:rPr>
              <a:t>ciclos válidos de 6,6 min grabados (2,2 min analizables)</a:t>
            </a:r>
          </a:p>
        </p:txBody>
      </p:sp>
      <p:sp>
        <p:nvSpPr>
          <p:cNvPr id="8" name="Rectangle 7"/>
          <p:cNvSpPr/>
          <p:nvPr/>
        </p:nvSpPr>
        <p:spPr>
          <a:xfrm>
            <a:off x="520293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7725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6,5-8,2 %</a:t>
            </a:r>
          </a:p>
        </p:txBody>
      </p:sp>
      <p:sp>
        <p:nvSpPr>
          <p:cNvPr id="10" name="TextBox 9"/>
          <p:cNvSpPr txBox="1"/>
          <p:nvPr/>
        </p:nvSpPr>
        <p:spPr>
          <a:xfrm>
            <a:off x="547725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la frecuencia frente al conteo manual</a:t>
            </a:r>
          </a:p>
        </p:txBody>
      </p:sp>
      <p:sp>
        <p:nvSpPr>
          <p:cNvPr id="11" name="Rectangle 10"/>
          <p:cNvSpPr/>
          <p:nvPr/>
        </p:nvSpPr>
        <p:spPr>
          <a:xfrm>
            <a:off x="950061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7493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17/17</a:t>
            </a:r>
          </a:p>
        </p:txBody>
      </p:sp>
      <p:sp>
        <p:nvSpPr>
          <p:cNvPr id="13" name="TextBox 12"/>
          <p:cNvSpPr txBox="1"/>
          <p:nvPr/>
        </p:nvSpPr>
        <p:spPr>
          <a:xfrm>
            <a:off x="977493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reales con la vista de cámara bien clasificada (umbral fijado con ellas)</a:t>
            </a:r>
          </a:p>
        </p:txBody>
      </p:sp>
      <p:sp>
        <p:nvSpPr>
          <p:cNvPr id="14" name="Rectangle 13"/>
          <p:cNvSpPr/>
          <p:nvPr/>
        </p:nvSpPr>
        <p:spPr>
          <a:xfrm>
            <a:off x="90525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957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12/13</a:t>
            </a:r>
          </a:p>
        </p:txBody>
      </p:sp>
      <p:sp>
        <p:nvSpPr>
          <p:cNvPr id="16" name="TextBox 15"/>
          <p:cNvSpPr txBox="1"/>
          <p:nvPr/>
        </p:nvSpPr>
        <p:spPr>
          <a:xfrm>
            <a:off x="117957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con la familia del estilo correcta (reglas biomecánicas)</a:t>
            </a:r>
          </a:p>
        </p:txBody>
      </p:sp>
      <p:sp>
        <p:nvSpPr>
          <p:cNvPr id="17" name="Rectangle 16"/>
          <p:cNvSpPr/>
          <p:nvPr/>
        </p:nvSpPr>
        <p:spPr>
          <a:xfrm>
            <a:off x="520293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725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0</a:t>
            </a:r>
          </a:p>
        </p:txBody>
      </p:sp>
      <p:sp>
        <p:nvSpPr>
          <p:cNvPr id="19" name="TextBox 18"/>
          <p:cNvSpPr txBox="1"/>
          <p:nvPr/>
        </p:nvSpPr>
        <p:spPr>
          <a:xfrm>
            <a:off x="547725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de fatiga en 3 sesiones de pasadas cortas</a:t>
            </a:r>
          </a:p>
        </p:txBody>
      </p:sp>
      <p:sp>
        <p:nvSpPr>
          <p:cNvPr id="20" name="Rectangle 19"/>
          <p:cNvSpPr/>
          <p:nvPr/>
        </p:nvSpPr>
        <p:spPr>
          <a:xfrm>
            <a:off x="950061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7493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34 %</a:t>
            </a:r>
          </a:p>
        </p:txBody>
      </p:sp>
      <p:sp>
        <p:nvSpPr>
          <p:cNvPr id="22" name="TextBox 21"/>
          <p:cNvSpPr txBox="1"/>
          <p:nvPr/>
        </p:nvSpPr>
        <p:spPr>
          <a:xfrm>
            <a:off x="977493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del tiempo grabado con el nadador analizable: la detección es el cuello de botella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Validación con referencia conocida</a:t>
            </a:r>
          </a:p>
        </p:txBody>
      </p:sp>
      <p:sp>
        <p:nvSpPr>
          <p:cNvPr id="4" name="Text Placeholder 3"/>
          <p:cNvSpPr>
            <a:spLocks noGrp="1"/>
          </p:cNvSpPr>
          <p:nvPr>
            <p:ph type="body" idx="18" sz="quarter"/>
          </p:nvPr>
        </p:nvSpPr>
        <p:spPr>
          <a:xfrm>
            <a:ext cx="12344400" cy="0"/>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Del análisis al entrenador</a:t>
            </a:r>
          </a:p>
        </p:txBody>
      </p:sp>
      <p:sp>
        <p:nvSpPr>
          <p:cNvPr id="4" name="Text Placeholder 3"/>
          <p:cNvSpPr>
            <a:spLocks noGrp="1"/>
          </p:cNvSpPr>
          <p:nvPr>
            <p:ph type="body" idx="18" sz="quarter"/>
          </p:nvPr>
        </p:nvSpPr>
        <p:spPr>
          <a:xfrm>
            <a:ext cx="12344400" cy="0"/>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Demostración: 100 m libre</a:t>
            </a:r>
          </a:p>
        </p:txBody>
      </p:sp>
      <p:sp>
        <p:nvSpPr>
          <p:cNvPr id="4" name="Text Placeholder 3"/>
          <p:cNvSpPr>
            <a:spLocks noGrp="1"/>
          </p:cNvSpPr>
          <p:nvPr>
            <p:ph type="body" idx="18" sz="quarter"/>
          </p:nvPr>
        </p:nvSpPr>
        <p:spPr>
          <a:xfrm>
            <a:ext cx="12344400" cy="0"/>
          </a:xfrm>
        </p:spPr>
        <p:txBody>
          <a:bodyPr/>
          <a:lstStyle/>
          <a:p>
            <a:r>
              <a:t>Dos grabaciones nuevas analizadas con StrokeLab</a:t>
            </a:r>
          </a:p>
        </p:txBody>
      </p:sp>
      <p:sp>
        <p:nvSpPr>
          <p:cNvPr id="5" name="Rectangle 4"/>
          <p:cNvSpPr/>
          <p:nvPr/>
        </p:nvSpPr>
        <p:spPr>
          <a:xfrm>
            <a:off x="905256" y="2743200"/>
            <a:ext cx="6309360" cy="356616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3566160"/>
          </a:xfrm>
          <a:prstGeom prst="rect">
            <a:avLst/>
          </a:prstGeom>
          <a:noFill/>
        </p:spPr>
        <p:txBody>
          <a:bodyPr wrap="square" anchor="ctr" lIns="0" rIns="0" tIns="0" bIns="0">
            <a:spAutoFit/>
          </a:bodyPr>
          <a:lstStyle/>
          <a:p>
            <a:pPr algn="ctr">
              <a:spcAft>
                <a:spcPts val="600"/>
              </a:spcAft>
            </a:pPr>
            <a:r>
              <a:rPr sz="2000" b="1">
                <a:solidFill>
                  <a:srgbClr val="FF3228"/>
                </a:solidFill>
              </a:rPr>
              <a:t>Vídeo 1</a:t>
            </a:r>
          </a:p>
          <a:p>
            <a:pPr algn="ctr">
              <a:spcAft>
                <a:spcPts val="600"/>
              </a:spcAft>
            </a:pPr>
            <a:r>
              <a:rPr sz="1300" b="0">
                <a:solidFill>
                  <a:srgbClr val="504B4B"/>
                </a:solidFill>
              </a:rPr>
              <a:t>Insertar aquí el vídeo anotado (Insertar → Vídeo → Este dispositivo)</a:t>
            </a:r>
          </a:p>
        </p:txBody>
      </p:sp>
      <p:sp>
        <p:nvSpPr>
          <p:cNvPr id="7" name="Rectangle 6"/>
          <p:cNvSpPr/>
          <p:nvPr/>
        </p:nvSpPr>
        <p:spPr>
          <a:xfrm>
            <a:off x="7406640" y="2743200"/>
            <a:ext cx="6309360" cy="356616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2743200"/>
            <a:ext cx="6309360" cy="3566160"/>
          </a:xfrm>
          <a:prstGeom prst="rect">
            <a:avLst/>
          </a:prstGeom>
          <a:noFill/>
        </p:spPr>
        <p:txBody>
          <a:bodyPr wrap="square" anchor="ctr" lIns="0" rIns="0" tIns="0" bIns="0">
            <a:spAutoFit/>
          </a:bodyPr>
          <a:lstStyle/>
          <a:p>
            <a:pPr algn="ctr">
              <a:spcAft>
                <a:spcPts val="600"/>
              </a:spcAft>
            </a:pPr>
            <a:r>
              <a:rPr sz="2000" b="1">
                <a:solidFill>
                  <a:srgbClr val="FF3228"/>
                </a:solidFill>
              </a:rPr>
              <a:t>Vídeo 2</a:t>
            </a:r>
          </a:p>
          <a:p>
            <a:pPr algn="ctr">
              <a:spcAft>
                <a:spcPts val="600"/>
              </a:spcAft>
            </a:pPr>
            <a:r>
              <a:rPr sz="1300" b="0">
                <a:solidFill>
                  <a:srgbClr val="504B4B"/>
                </a:solidFill>
              </a:rPr>
              <a:t>Insertar aquí el vídeo anotado (Insertar → Vídeo → Este dispositivo)</a:t>
            </a:r>
          </a:p>
        </p:txBody>
      </p:sp>
      <p:sp>
        <p:nvSpPr>
          <p:cNvPr id="9" name="TextBox 8"/>
          <p:cNvSpPr txBox="1"/>
          <p:nvPr/>
        </p:nvSpPr>
        <p:spPr>
          <a:xfrm>
            <a:off x="905256" y="66751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realizadas para la demostración, posteriores a la entrega: no forman parte de los resultados de la memoria.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Limitaciones y trabajo futuro</a:t>
            </a:r>
          </a:p>
        </p:txBody>
      </p:sp>
      <p:sp>
        <p:nvSpPr>
          <p:cNvPr id="4" name="Text Placeholder 3"/>
          <p:cNvSpPr>
            <a:spLocks noGrp="1"/>
          </p:cNvSpPr>
          <p:nvPr>
            <p:ph type="body" idx="18" sz="quarter"/>
          </p:nvPr>
        </p:nvSpPr>
        <p:spPr>
          <a:xfrm>
            <a:ext cx="12344400" cy="0"/>
          </a:xfrm>
        </p:spPr>
        <p:txBody>
          <a:bodyPr/>
          <a:lstStyle/>
          <a:p>
            <a:r>
              <a:t>La debilidad está en los datos, no en la arquitectura</a:t>
            </a:r>
          </a:p>
        </p:txBody>
      </p:sp>
      <p:sp>
        <p:nvSpPr>
          <p:cNvPr id="5" name="Rectangle 4"/>
          <p:cNvSpPr/>
          <p:nvPr/>
        </p:nvSpPr>
        <p:spPr>
          <a:xfrm>
            <a:off x="905256" y="2788920"/>
            <a:ext cx="6400800" cy="41148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5" y="3017520"/>
            <a:ext cx="5760720" cy="457200"/>
          </a:xfrm>
          <a:prstGeom prst="rect">
            <a:avLst/>
          </a:prstGeom>
          <a:noFill/>
        </p:spPr>
        <p:txBody>
          <a:bodyPr wrap="square" anchor="t" lIns="0" rIns="0" tIns="0" bIns="0">
            <a:spAutoFit/>
          </a:bodyPr>
          <a:lstStyle/>
          <a:p>
            <a:pPr algn="l">
              <a:spcAft>
                <a:spcPts val="600"/>
              </a:spcAft>
            </a:pPr>
            <a:r>
              <a:rPr sz="2000" b="1">
                <a:solidFill>
                  <a:srgbClr val="FF3228"/>
                </a:solidFill>
              </a:rPr>
              <a:t>Limitaciones</a:t>
            </a:r>
          </a:p>
        </p:txBody>
      </p:sp>
      <p:sp>
        <p:nvSpPr>
          <p:cNvPr id="7" name="TextBox 6"/>
          <p:cNvSpPr txBox="1"/>
          <p:nvPr/>
        </p:nvSpPr>
        <p:spPr>
          <a:xfrm>
            <a:off x="1225295" y="3611880"/>
            <a:ext cx="5760720" cy="3200400"/>
          </a:xfrm>
          <a:prstGeom prst="rect">
            <a:avLst/>
          </a:prstGeom>
          <a:noFill/>
        </p:spPr>
        <p:txBody>
          <a:bodyPr wrap="square" anchor="t" lIns="0" rIns="0" tIns="0" bIns="0">
            <a:spAutoFit/>
          </a:bodyPr>
          <a:lstStyle/>
          <a:p>
            <a:pPr algn="l">
              <a:spcAft>
                <a:spcPts val="1000"/>
              </a:spcAft>
            </a:pPr>
            <a:r>
              <a:rPr sz="1400" b="0">
                <a:solidFill>
                  <a:srgbClr val="1E1E1E"/>
                </a:solidFill>
              </a:rPr>
              <a:t>•  Pocos datos reales y sin referencia fisiológica de la fatiga</a:t>
            </a:r>
          </a:p>
          <a:p>
            <a:pPr algn="l">
              <a:spcAft>
                <a:spcPts val="1000"/>
              </a:spcAft>
            </a:pPr>
            <a:r>
              <a:rPr sz="1400" b="0">
                <a:solidFill>
                  <a:srgbClr val="1E1E1E"/>
                </a:solidFill>
              </a:rPr>
              <a:t>•  Detección parcial: nadador analizable el 34 % del tiempo</a:t>
            </a:r>
          </a:p>
          <a:p>
            <a:pPr algn="l">
              <a:spcAft>
                <a:spcPts val="1000"/>
              </a:spcAft>
            </a:pPr>
            <a:r>
              <a:rPr sz="1400" b="0">
                <a:solidFill>
                  <a:srgbClr val="1E1E1E"/>
                </a:solidFill>
              </a:rPr>
              <a:t>•  Vista lateral: brazos y piernas de cada lado poco distinguibles</a:t>
            </a:r>
          </a:p>
          <a:p>
            <a:pPr algn="l">
              <a:spcAft>
                <a:spcPts val="1000"/>
              </a:spcAft>
            </a:pPr>
            <a:r>
              <a:rPr sz="1400" b="0">
                <a:solidFill>
                  <a:srgbClr val="1E1E1E"/>
                </a:solidFill>
              </a:rPr>
              <a:t>•  Una sola cámara: ángulos 2D proyectados; 3D poco fiable en piernas</a:t>
            </a:r>
          </a:p>
          <a:p>
            <a:pPr algn="l">
              <a:spcAft>
                <a:spcPts val="1000"/>
              </a:spcAft>
            </a:pPr>
            <a:r>
              <a:rPr sz="1400" b="0">
                <a:solidFill>
                  <a:srgbClr val="1E1E1E"/>
                </a:solidFill>
              </a:rPr>
              <a:t>•  Umbrales de vista y estilo fijados con los mismos vídeos</a:t>
            </a:r>
          </a:p>
        </p:txBody>
      </p:sp>
      <p:sp>
        <p:nvSpPr>
          <p:cNvPr id="8" name="Rectangle 7"/>
          <p:cNvSpPr/>
          <p:nvPr/>
        </p:nvSpPr>
        <p:spPr>
          <a:xfrm>
            <a:off x="7315200" y="2788920"/>
            <a:ext cx="6400800" cy="41148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3017520"/>
            <a:ext cx="5760720" cy="457200"/>
          </a:xfrm>
          <a:prstGeom prst="rect">
            <a:avLst/>
          </a:prstGeom>
          <a:noFill/>
        </p:spPr>
        <p:txBody>
          <a:bodyPr wrap="square" anchor="t" lIns="0" rIns="0" tIns="0" bIns="0">
            <a:spAutoFit/>
          </a:bodyPr>
          <a:lstStyle/>
          <a:p>
            <a:pPr algn="l">
              <a:spcAft>
                <a:spcPts val="600"/>
              </a:spcAft>
            </a:pPr>
            <a:r>
              <a:rPr sz="2000" b="1">
                <a:solidFill>
                  <a:srgbClr val="FFFFFF"/>
                </a:solidFill>
              </a:rPr>
              <a:t>Trabajo futuro</a:t>
            </a:r>
          </a:p>
        </p:txBody>
      </p:sp>
      <p:sp>
        <p:nvSpPr>
          <p:cNvPr id="10" name="TextBox 9"/>
          <p:cNvSpPr txBox="1"/>
          <p:nvPr/>
        </p:nvSpPr>
        <p:spPr>
          <a:xfrm>
            <a:off x="7635240" y="3611880"/>
            <a:ext cx="5760720" cy="3200400"/>
          </a:xfrm>
          <a:prstGeom prst="rect">
            <a:avLst/>
          </a:prstGeom>
          <a:noFill/>
        </p:spPr>
        <p:txBody>
          <a:bodyPr wrap="square" anchor="t" lIns="0" rIns="0" tIns="0" bIns="0">
            <a:spAutoFit/>
          </a:bodyPr>
          <a:lstStyle/>
          <a:p>
            <a:pPr algn="l">
              <a:spcAft>
                <a:spcPts val="1000"/>
              </a:spcAft>
            </a:pPr>
            <a:r>
              <a:rPr sz="1400" b="0">
                <a:solidFill>
                  <a:srgbClr val="FFFFFF"/>
                </a:solidFill>
              </a:rPr>
              <a:t>•  Series largas de nado continuo con lactato, esfuerzo percibido y valoración experta</a:t>
            </a:r>
          </a:p>
          <a:p>
            <a:pPr algn="l">
              <a:spcAft>
                <a:spcPts val="1000"/>
              </a:spcAft>
            </a:pPr>
            <a:r>
              <a:rPr sz="1400" b="0">
                <a:solidFill>
                  <a:srgbClr val="FFFFFF"/>
                </a:solidFill>
              </a:rPr>
              <a:t>•  Anotar fotogramas propios: OKS, PCK y mAP con datos propios</a:t>
            </a:r>
          </a:p>
          <a:p>
            <a:pPr algn="l">
              <a:spcAft>
                <a:spcPts val="1000"/>
              </a:spcAft>
            </a:pPr>
            <a:r>
              <a:rPr sz="1400" b="0">
                <a:solidFill>
                  <a:srgbClr val="FFFFFF"/>
                </a:solidFill>
              </a:rPr>
              <a:t>•  Ajuste fino de la pose con SwimXYZ y fotogramas propios; ViTPose con GPU</a:t>
            </a:r>
          </a:p>
          <a:p>
            <a:pPr algn="l">
              <a:spcAft>
                <a:spcPts val="1000"/>
              </a:spcAft>
            </a:pPr>
            <a:r>
              <a:rPr sz="1400" b="0">
                <a:solidFill>
                  <a:srgbClr val="FFFFFF"/>
                </a:solidFill>
              </a:rPr>
              <a:t>•  Modo audio, sensores inerciales e interfaz para el entrenador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Conclusiones</a:t>
            </a:r>
          </a:p>
        </p:txBody>
      </p:sp>
      <p:sp>
        <p:nvSpPr>
          <p:cNvPr id="4" name="Text Placeholder 3"/>
          <p:cNvSpPr>
            <a:spLocks noGrp="1"/>
          </p:cNvSpPr>
          <p:nvPr>
            <p:ph type="body" idx="18" sz="quarter"/>
          </p:nvPr>
        </p:nvSpPr>
        <p:spPr>
          <a:xfrm>
            <a:ext cx="12344400" cy="0"/>
          </a:xfrm>
        </p:spPr>
        <p:txBody>
          <a:bodyPr/>
          <a:lstStyle/>
          <a:p>
            <a:r>
              <a:t>7 objetivos cumplidos y 2 parciales</a:t>
            </a:r>
          </a:p>
        </p:txBody>
      </p:sp>
      <p:sp>
        <p:nvSpPr>
          <p:cNvPr id="5" name="Rectangle 4"/>
          <p:cNvSpPr/>
          <p:nvPr/>
        </p:nvSpPr>
        <p:spPr>
          <a:xfrm>
            <a:off x="90525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813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OE1 · Cumplido</a:t>
            </a:r>
          </a:p>
        </p:txBody>
      </p:sp>
      <p:sp>
        <p:nvSpPr>
          <p:cNvPr id="7" name="TextBox 6"/>
          <p:cNvSpPr txBox="1"/>
          <p:nvPr/>
        </p:nvSpPr>
        <p:spPr>
          <a:xfrm>
            <a:off x="108813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Selección del modelo de pose</a:t>
            </a:r>
          </a:p>
        </p:txBody>
      </p:sp>
      <p:sp>
        <p:nvSpPr>
          <p:cNvPr id="8" name="Rectangle 7"/>
          <p:cNvSpPr/>
          <p:nvPr/>
        </p:nvSpPr>
        <p:spPr>
          <a:xfrm>
            <a:off x="3785615"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6849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OE2 · Cumplido*</a:t>
            </a:r>
          </a:p>
        </p:txBody>
      </p:sp>
      <p:sp>
        <p:nvSpPr>
          <p:cNvPr id="10" name="TextBox 9"/>
          <p:cNvSpPr txBox="1"/>
          <p:nvPr/>
        </p:nvSpPr>
        <p:spPr>
          <a:xfrm>
            <a:off x="396849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Elevación a 3D</a:t>
            </a:r>
          </a:p>
        </p:txBody>
      </p:sp>
      <p:sp>
        <p:nvSpPr>
          <p:cNvPr id="11" name="Rectangle 10"/>
          <p:cNvSpPr/>
          <p:nvPr/>
        </p:nvSpPr>
        <p:spPr>
          <a:xfrm>
            <a:off x="666597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885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OE3 · Cumplido</a:t>
            </a:r>
          </a:p>
        </p:txBody>
      </p:sp>
      <p:sp>
        <p:nvSpPr>
          <p:cNvPr id="13" name="TextBox 12"/>
          <p:cNvSpPr txBox="1"/>
          <p:nvPr/>
        </p:nvSpPr>
        <p:spPr>
          <a:xfrm>
            <a:off x="684885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Ciclos de brazada</a:t>
            </a:r>
          </a:p>
        </p:txBody>
      </p:sp>
      <p:sp>
        <p:nvSpPr>
          <p:cNvPr id="14" name="Rectangle 13"/>
          <p:cNvSpPr/>
          <p:nvPr/>
        </p:nvSpPr>
        <p:spPr>
          <a:xfrm>
            <a:off x="90525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813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OE4 · Cumplido</a:t>
            </a:r>
          </a:p>
        </p:txBody>
      </p:sp>
      <p:sp>
        <p:nvSpPr>
          <p:cNvPr id="16" name="TextBox 15"/>
          <p:cNvSpPr txBox="1"/>
          <p:nvPr/>
        </p:nvSpPr>
        <p:spPr>
          <a:xfrm>
            <a:off x="108813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Variables por ciclo</a:t>
            </a:r>
          </a:p>
        </p:txBody>
      </p:sp>
      <p:sp>
        <p:nvSpPr>
          <p:cNvPr id="17" name="Rectangle 16"/>
          <p:cNvSpPr/>
          <p:nvPr/>
        </p:nvSpPr>
        <p:spPr>
          <a:xfrm>
            <a:off x="3785615" y="4114800"/>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849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OE5 · Parcial</a:t>
            </a:r>
          </a:p>
        </p:txBody>
      </p:sp>
      <p:sp>
        <p:nvSpPr>
          <p:cNvPr id="19" name="TextBox 18"/>
          <p:cNvSpPr txBox="1"/>
          <p:nvPr/>
        </p:nvSpPr>
        <p:spPr>
          <a:xfrm>
            <a:off x="396849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Inicio de la fatiga</a:t>
            </a:r>
          </a:p>
        </p:txBody>
      </p:sp>
      <p:sp>
        <p:nvSpPr>
          <p:cNvPr id="20" name="Rectangle 19"/>
          <p:cNvSpPr/>
          <p:nvPr/>
        </p:nvSpPr>
        <p:spPr>
          <a:xfrm>
            <a:off x="666597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OE6 · Cumplido</a:t>
            </a:r>
          </a:p>
        </p:txBody>
      </p:sp>
      <p:sp>
        <p:nvSpPr>
          <p:cNvPr id="22" name="TextBox 21"/>
          <p:cNvSpPr txBox="1"/>
          <p:nvPr/>
        </p:nvSpPr>
        <p:spPr>
          <a:xfrm>
            <a:off x="684885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Atribución con SHAP</a:t>
            </a:r>
          </a:p>
        </p:txBody>
      </p:sp>
      <p:sp>
        <p:nvSpPr>
          <p:cNvPr id="23" name="Rectangle 22"/>
          <p:cNvSpPr/>
          <p:nvPr/>
        </p:nvSpPr>
        <p:spPr>
          <a:xfrm>
            <a:off x="905256" y="5440679"/>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813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OE7 · Parcial</a:t>
            </a:r>
          </a:p>
        </p:txBody>
      </p:sp>
      <p:sp>
        <p:nvSpPr>
          <p:cNvPr id="25" name="TextBox 24"/>
          <p:cNvSpPr txBox="1"/>
          <p:nvPr/>
        </p:nvSpPr>
        <p:spPr>
          <a:xfrm>
            <a:off x="108813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Clasificación del estilo</a:t>
            </a:r>
          </a:p>
        </p:txBody>
      </p:sp>
      <p:sp>
        <p:nvSpPr>
          <p:cNvPr id="26" name="Rectangle 25"/>
          <p:cNvSpPr/>
          <p:nvPr/>
        </p:nvSpPr>
        <p:spPr>
          <a:xfrm>
            <a:off x="3785615"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849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OE8 · Cumplido</a:t>
            </a:r>
          </a:p>
        </p:txBody>
      </p:sp>
      <p:sp>
        <p:nvSpPr>
          <p:cNvPr id="28" name="TextBox 27"/>
          <p:cNvSpPr txBox="1"/>
          <p:nvPr/>
        </p:nvSpPr>
        <p:spPr>
          <a:xfrm>
            <a:off x="396849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Vídeo anotado y tiempo real</a:t>
            </a:r>
          </a:p>
        </p:txBody>
      </p:sp>
      <p:sp>
        <p:nvSpPr>
          <p:cNvPr id="29" name="Rectangle 28"/>
          <p:cNvSpPr/>
          <p:nvPr/>
        </p:nvSpPr>
        <p:spPr>
          <a:xfrm>
            <a:off x="6665976"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4885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OE9 · Cumplido</a:t>
            </a:r>
          </a:p>
        </p:txBody>
      </p:sp>
      <p:sp>
        <p:nvSpPr>
          <p:cNvPr id="31" name="TextBox 30"/>
          <p:cNvSpPr txBox="1"/>
          <p:nvPr/>
        </p:nvSpPr>
        <p:spPr>
          <a:xfrm>
            <a:off x="684885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Evaluación con datos sintéticos</a:t>
            </a:r>
          </a:p>
        </p:txBody>
      </p:sp>
      <p:sp>
        <p:nvSpPr>
          <p:cNvPr id="32" name="TextBox 31"/>
          <p:cNvSpPr txBox="1"/>
          <p:nvPr/>
        </p:nvSpPr>
        <p:spPr>
          <a:xfrm>
            <a:off x="9784080" y="2788920"/>
            <a:ext cx="3931920" cy="3840480"/>
          </a:xfrm>
          <a:prstGeom prst="rect">
            <a:avLst/>
          </a:prstGeom>
          <a:noFill/>
        </p:spPr>
        <p:txBody>
          <a:bodyPr wrap="square" anchor="t" lIns="0" rIns="0" tIns="0" bIns="0">
            <a:spAutoFit/>
          </a:bodyPr>
          <a:lstStyle/>
          <a:p>
            <a:pPr algn="l">
              <a:spcAft>
                <a:spcPts val="1400"/>
              </a:spcAft>
            </a:pPr>
            <a:r>
              <a:rPr sz="2000" b="1">
                <a:solidFill>
                  <a:srgbClr val="FF3228"/>
                </a:solidFill>
              </a:rPr>
              <a:t>La calidad de los datos pesa más que el modelo.</a:t>
            </a:r>
          </a:p>
          <a:p>
            <a:pPr algn="l">
              <a:spcAft>
                <a:spcPts val="600"/>
              </a:spcAft>
            </a:pPr>
            <a:r>
              <a:rPr sz="1400" b="0">
                <a:solidFill>
                  <a:srgbClr val="1E1E1E"/>
                </a:solidFill>
              </a:rPr>
              <a:t>Cada resultado se contrastó con una referencia: conteo manual o datos sintéticos con la verdad conocida.</a:t>
            </a:r>
          </a:p>
        </p:txBody>
      </p:sp>
      <p:sp>
        <p:nvSpPr>
          <p:cNvPr id="33" name="TextBox 32"/>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Cumplido con limitaciones (3D válido en codo y cadera, no en rodilla).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A1 · Modelos de pose en CPU</a:t>
            </a:r>
          </a:p>
        </p:txBody>
      </p:sp>
      <p:sp>
        <p:nvSpPr>
          <p:cNvPr id="4" name="Text Placeholder 3"/>
          <p:cNvSpPr>
            <a:spLocks noGrp="1"/>
          </p:cNvSpPr>
          <p:nvPr>
            <p:ph type="body" idx="18" sz="quarter"/>
          </p:nvPr>
        </p:nvSpPr>
        <p:spPr>
          <a:xfrm>
            <a:ext cx="12344400" cy="0"/>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A2 · Fatiga en las sesiones reales</a:t>
            </a:r>
          </a:p>
        </p:txBody>
      </p:sp>
      <p:sp>
        <p:nvSpPr>
          <p:cNvPr id="4" name="Text Placeholder 3"/>
          <p:cNvSpPr>
            <a:spLocks noGrp="1"/>
          </p:cNvSpPr>
          <p:nvPr>
            <p:ph type="body" idx="18" sz="quarter"/>
          </p:nvPr>
        </p:nvSpPr>
        <p:spPr>
          <a:xfrm>
            <a:ext cx="12344400" cy="0"/>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A3 · Caso sintético completo (Tabla 7)</a:t>
            </a:r>
          </a:p>
        </p:txBody>
      </p:sp>
      <p:sp>
        <p:nvSpPr>
          <p:cNvPr id="4" name="Text Placeholder 3"/>
          <p:cNvSpPr>
            <a:spLocks noGrp="1"/>
          </p:cNvSpPr>
          <p:nvPr>
            <p:ph type="body" idx="18" sz="quarter"/>
          </p:nvPr>
        </p:nvSpPr>
        <p:spPr>
          <a:xfrm>
            <a:ext cx="12344400" cy="0"/>
          </a:xfrm>
        </p:spPr>
        <p:txBody>
          <a:bodyPr/>
          <a:lstStyle/>
          <a:p>
            <a:r>
              <a:t>Secuencia de 120 s con fatiga programada entre t = 59 s y t = 81 s</a:t>
            </a:r>
          </a:p>
        </p:txBody>
      </p:sp>
      <p:graphicFrame>
        <p:nvGraphicFramePr>
          <p:cNvPr id="5" name="Table 4"/>
          <p:cNvGraphicFramePr>
            <a:graphicFrameLocks noGrp="1"/>
          </p:cNvGraphicFramePr>
          <p:nvPr/>
        </p:nvGraphicFramePr>
        <p:xfrm>
          <a:off x="905256" y="2834640"/>
          <a:ext cx="12801600" cy="3712464"/>
        </p:xfrm>
        <a:graphic>
          <a:graphicData uri="http://schemas.openxmlformats.org/drawingml/2006/table">
            <a:tbl>
              <a:tblPr firstRow="1" bandRow="1">
                <a:tableStyleId>{5C22544A-7EE6-4342-B048-85BDC9FD1C3A}</a:tableStyleId>
              </a:tblPr>
              <a:tblGrid>
                <a:gridCol w="4206240"/>
                <a:gridCol w="4297680"/>
                <a:gridCol w="4297680"/>
              </a:tblGrid>
              <a:tr h="530352">
                <a:tc>
                  <a:txBody>
                    <a:bodyPr/>
                    <a:lstStyle/>
                    <a:p>
                      <a:r>
                        <a:rPr sz="1300" b="1">
                          <a:solidFill>
                            <a:srgbClr val="FFFFFF"/>
                          </a:solidFill>
                        </a:rPr>
                        <a:t>Medida</a:t>
                      </a:r>
                    </a:p>
                  </a:txBody>
                  <a:tcPr marL="91440" marR="91440" marT="27432" marB="27432" anchor="ctr">
                    <a:solidFill>
                      <a:srgbClr val="FF3228"/>
                    </a:solidFill>
                  </a:tcPr>
                </a:tc>
                <a:tc>
                  <a:txBody>
                    <a:bodyPr/>
                    <a:lstStyle/>
                    <a:p>
                      <a:r>
                        <a:rPr sz="1300" b="1">
                          <a:solidFill>
                            <a:srgbClr val="FFFFFF"/>
                          </a:solidFill>
                        </a:rPr>
                        <a:t>Vista lateral</a:t>
                      </a:r>
                    </a:p>
                  </a:txBody>
                  <a:tcPr marL="91440" marR="91440" marT="27432" marB="27432" anchor="ctr">
                    <a:solidFill>
                      <a:srgbClr val="FF3228"/>
                    </a:solidFill>
                  </a:tcPr>
                </a:tc>
                <a:tc>
                  <a:txBody>
                    <a:bodyPr/>
                    <a:lstStyle/>
                    <a:p>
                      <a:r>
                        <a:rPr sz="1300" b="1">
                          <a:solidFill>
                            <a:srgbClr val="FFFFFF"/>
                          </a:solidFill>
                        </a:rPr>
                        <a:t>Vista frontal</a:t>
                      </a:r>
                    </a:p>
                  </a:txBody>
                  <a:tcPr marL="91440" marR="91440" marT="27432" marB="27432" anchor="ctr">
                    <a:solidFill>
                      <a:srgbClr val="FF3228"/>
                    </a:solidFill>
                  </a:tcPr>
                </a:tc>
              </a:tr>
              <a:tr h="530352">
                <a:tc>
                  <a:txBody>
                    <a:bodyPr/>
                    <a:lstStyle/>
                    <a:p>
                      <a:r>
                        <a:rPr sz="1300" b="0">
                          <a:solidFill>
                            <a:srgbClr val="1E1E1E"/>
                          </a:solidFill>
                        </a:rPr>
                        <a:t>Ciclos analizados</a:t>
                      </a:r>
                    </a:p>
                  </a:txBody>
                  <a:tcPr marL="91440" marR="91440" marT="27432" marB="27432" anchor="ctr">
                    <a:solidFill>
                      <a:srgbClr val="FFFFFF"/>
                    </a:solidFill>
                  </a:tcPr>
                </a:tc>
                <a:tc>
                  <a:txBody>
                    <a:bodyPr/>
                    <a:lstStyle/>
                    <a:p>
                      <a:r>
                        <a:rPr sz="1300" b="0">
                          <a:solidFill>
                            <a:srgbClr val="1E1E1E"/>
                          </a:solidFill>
                        </a:rPr>
                        <a:t>91</a:t>
                      </a:r>
                    </a:p>
                  </a:txBody>
                  <a:tcPr marL="91440" marR="91440" marT="27432" marB="27432" anchor="ctr">
                    <a:solidFill>
                      <a:srgbClr val="FFFFFF"/>
                    </a:solidFill>
                  </a:tcPr>
                </a:tc>
                <a:tc>
                  <a:txBody>
                    <a:bodyPr/>
                    <a:lstStyle/>
                    <a:p>
                      <a:r>
                        <a:rPr sz="1300" b="0">
                          <a:solidFill>
                            <a:srgbClr val="1E1E1E"/>
                          </a:solidFill>
                        </a:rPr>
                        <a:t>98</a:t>
                      </a:r>
                    </a:p>
                  </a:txBody>
                  <a:tcPr marL="91440" marR="91440" marT="27432" marB="27432" anchor="ctr">
                    <a:solidFill>
                      <a:srgbClr val="FFFFFF"/>
                    </a:solidFill>
                  </a:tcPr>
                </a:tc>
              </a:tr>
              <a:tr h="530352">
                <a:tc>
                  <a:txBody>
                    <a:bodyPr/>
                    <a:lstStyle/>
                    <a:p>
                      <a:r>
                        <a:rPr sz="1300" b="0">
                          <a:solidFill>
                            <a:srgbClr val="1E1E1E"/>
                          </a:solidFill>
                        </a:rPr>
                        <a:t>Error mediano de la frecuencia de ciclo</a:t>
                      </a:r>
                    </a:p>
                  </a:txBody>
                  <a:tcPr marL="91440" marR="91440" marT="27432" marB="27432" anchor="ctr">
                    <a:solidFill>
                      <a:srgbClr val="EEEDED"/>
                    </a:solidFill>
                  </a:tcPr>
                </a:tc>
                <a:tc>
                  <a:txBody>
                    <a:bodyPr/>
                    <a:lstStyle/>
                    <a:p>
                      <a:r>
                        <a:rPr sz="1300" b="0">
                          <a:solidFill>
                            <a:srgbClr val="1E1E1E"/>
                          </a:solidFill>
                        </a:rPr>
                        <a:t>4,7 %</a:t>
                      </a:r>
                    </a:p>
                  </a:txBody>
                  <a:tcPr marL="91440" marR="91440" marT="27432" marB="27432" anchor="ctr">
                    <a:solidFill>
                      <a:srgbClr val="EEEDED"/>
                    </a:solidFill>
                  </a:tcPr>
                </a:tc>
                <a:tc>
                  <a:txBody>
                    <a:bodyPr/>
                    <a:lstStyle/>
                    <a:p>
                      <a:r>
                        <a:rPr sz="1300" b="0">
                          <a:solidFill>
                            <a:srgbClr val="1E1E1E"/>
                          </a:solidFill>
                        </a:rPr>
                        <a:t>0,3 %</a:t>
                      </a:r>
                    </a:p>
                  </a:txBody>
                  <a:tcPr marL="91440" marR="91440" marT="27432" marB="27432" anchor="ctr">
                    <a:solidFill>
                      <a:srgbClr val="EEEDED"/>
                    </a:solidFill>
                  </a:tcPr>
                </a:tc>
              </a:tr>
              <a:tr h="530352">
                <a:tc>
                  <a:txBody>
                    <a:bodyPr/>
                    <a:lstStyle/>
                    <a:p>
                      <a:r>
                        <a:rPr sz="1300" b="0">
                          <a:solidFill>
                            <a:srgbClr val="1E1E1E"/>
                          </a:solidFill>
                        </a:rPr>
                        <a:t>Error mediano de la velocidad</a:t>
                      </a:r>
                    </a:p>
                  </a:txBody>
                  <a:tcPr marL="91440" marR="91440" marT="27432" marB="27432" anchor="ctr">
                    <a:solidFill>
                      <a:srgbClr val="FFFFFF"/>
                    </a:solidFill>
                  </a:tcPr>
                </a:tc>
                <a:tc>
                  <a:txBody>
                    <a:bodyPr/>
                    <a:lstStyle/>
                    <a:p>
                      <a:r>
                        <a:rPr sz="1300" b="0">
                          <a:solidFill>
                            <a:srgbClr val="1E1E1E"/>
                          </a:solidFill>
                        </a:rPr>
                        <a:t>1,3 %</a:t>
                      </a:r>
                    </a:p>
                  </a:txBody>
                  <a:tcPr marL="91440" marR="91440" marT="27432" marB="27432" anchor="ctr">
                    <a:solidFill>
                      <a:srgbClr val="FFFFFF"/>
                    </a:solidFill>
                  </a:tcPr>
                </a:tc>
                <a:tc>
                  <a:txBody>
                    <a:bodyPr/>
                    <a:lstStyle/>
                    <a:p>
                      <a:r>
                        <a:rPr sz="1300" b="0">
                          <a:solidFill>
                            <a:srgbClr val="1E1E1E"/>
                          </a:solidFill>
                        </a:rPr>
                        <a:t>No observable de frente</a:t>
                      </a:r>
                    </a:p>
                  </a:txBody>
                  <a:tcPr marL="91440" marR="91440" marT="27432" marB="27432" anchor="ctr">
                    <a:solidFill>
                      <a:srgbClr val="FFFFFF"/>
                    </a:solidFill>
                  </a:tcPr>
                </a:tc>
              </a:tr>
              <a:tr h="530352">
                <a:tc>
                  <a:txBody>
                    <a:bodyPr/>
                    <a:lstStyle/>
                    <a:p>
                      <a:r>
                        <a:rPr sz="1300" b="0">
                          <a:solidFill>
                            <a:srgbClr val="1E1E1E"/>
                          </a:solidFill>
                        </a:rPr>
                        <a:t>Error mediano de la distancia por ciclo</a:t>
                      </a:r>
                    </a:p>
                  </a:txBody>
                  <a:tcPr marL="91440" marR="91440" marT="27432" marB="27432" anchor="ctr">
                    <a:solidFill>
                      <a:srgbClr val="EEEDED"/>
                    </a:solidFill>
                  </a:tcPr>
                </a:tc>
                <a:tc>
                  <a:txBody>
                    <a:bodyPr/>
                    <a:lstStyle/>
                    <a:p>
                      <a:r>
                        <a:rPr sz="1300" b="0">
                          <a:solidFill>
                            <a:srgbClr val="1E1E1E"/>
                          </a:solidFill>
                        </a:rPr>
                        <a:t>4,3 %</a:t>
                      </a:r>
                    </a:p>
                  </a:txBody>
                  <a:tcPr marL="91440" marR="91440" marT="27432" marB="27432" anchor="ctr">
                    <a:solidFill>
                      <a:srgbClr val="EEEDED"/>
                    </a:solidFill>
                  </a:tcPr>
                </a:tc>
                <a:tc>
                  <a:txBody>
                    <a:bodyPr/>
                    <a:lstStyle/>
                    <a:p>
                      <a:r>
                        <a:rPr sz="1300" b="0">
                          <a:solidFill>
                            <a:srgbClr val="1E1E1E"/>
                          </a:solidFill>
                        </a:rPr>
                        <a:t>No observable de frente</a:t>
                      </a:r>
                    </a:p>
                  </a:txBody>
                  <a:tcPr marL="91440" marR="91440" marT="27432" marB="27432" anchor="ctr">
                    <a:solidFill>
                      <a:srgbClr val="EEEDED"/>
                    </a:solidFill>
                  </a:tcPr>
                </a:tc>
              </a:tr>
              <a:tr h="530352">
                <a:tc>
                  <a:txBody>
                    <a:bodyPr/>
                    <a:lstStyle/>
                    <a:p>
                      <a:r>
                        <a:rPr sz="1300" b="0">
                          <a:solidFill>
                            <a:srgbClr val="1E1E1E"/>
                          </a:solidFill>
                        </a:rPr>
                        <a:t>Inicio de la fatiga detectado</a:t>
                      </a:r>
                    </a:p>
                  </a:txBody>
                  <a:tcPr marL="91440" marR="91440" marT="27432" marB="27432" anchor="ctr">
                    <a:solidFill>
                      <a:srgbClr val="FFFFFF"/>
                    </a:solidFill>
                  </a:tcPr>
                </a:tc>
                <a:tc>
                  <a:txBody>
                    <a:bodyPr/>
                    <a:lstStyle/>
                    <a:p>
                      <a:r>
                        <a:rPr sz="1300" b="0">
                          <a:solidFill>
                            <a:srgbClr val="1E1E1E"/>
                          </a:solidFill>
                        </a:rPr>
                        <a:t>t = 57,3 s (ciclo 42)</a:t>
                      </a:r>
                    </a:p>
                  </a:txBody>
                  <a:tcPr marL="91440" marR="91440" marT="27432" marB="27432" anchor="ctr">
                    <a:solidFill>
                      <a:srgbClr val="FFFFFF"/>
                    </a:solidFill>
                  </a:tcPr>
                </a:tc>
                <a:tc>
                  <a:txBody>
                    <a:bodyPr/>
                    <a:lstStyle/>
                    <a:p>
                      <a:r>
                        <a:rPr sz="1300" b="0">
                          <a:solidFill>
                            <a:srgbClr val="1E1E1E"/>
                          </a:solidFill>
                        </a:rPr>
                        <a:t>t = 57,8 s (ciclo 45)</a:t>
                      </a:r>
                    </a:p>
                  </a:txBody>
                  <a:tcPr marL="91440" marR="91440" marT="27432" marB="27432" anchor="ctr">
                    <a:solidFill>
                      <a:srgbClr val="FFFFFF"/>
                    </a:solidFill>
                  </a:tcPr>
                </a:tc>
              </a:tr>
              <a:tr h="530352">
                <a:tc>
                  <a:txBody>
                    <a:bodyPr/>
                    <a:lstStyle/>
                    <a:p>
                      <a:r>
                        <a:rPr sz="1300" b="0">
                          <a:solidFill>
                            <a:srgbClr val="1E1E1E"/>
                          </a:solidFill>
                        </a:rPr>
                        <a:t>Variables con mayor atribución SHAP</a:t>
                      </a:r>
                    </a:p>
                  </a:txBody>
                  <a:tcPr marL="91440" marR="91440" marT="27432" marB="27432" anchor="ctr">
                    <a:solidFill>
                      <a:srgbClr val="EEEDED"/>
                    </a:solidFill>
                  </a:tcPr>
                </a:tc>
                <a:tc>
                  <a:txBody>
                    <a:bodyPr/>
                    <a:lstStyle/>
                    <a:p>
                      <a:r>
                        <a:rPr sz="1300" b="0">
                          <a:solidFill>
                            <a:srgbClr val="1E1E1E"/>
                          </a:solidFill>
                        </a:rPr>
                        <a:t>Apertura del hombro, asimetría de brazos, inclinación del tronco</a:t>
                      </a:r>
                    </a:p>
                  </a:txBody>
                  <a:tcPr marL="91440" marR="91440" marT="27432" marB="27432" anchor="ctr">
                    <a:solidFill>
                      <a:srgbClr val="EEEDED"/>
                    </a:solidFill>
                  </a:tcPr>
                </a:tc>
                <a:tc>
                  <a:txBody>
                    <a:bodyPr/>
                    <a:lstStyle/>
                    <a:p>
                      <a:r>
                        <a:rPr sz="1300" b="0">
                          <a:solidFill>
                            <a:srgbClr val="1E1E1E"/>
                          </a:solidFill>
                        </a:rPr>
                        <a:t>Frecuencia de ciclo, asimetría de brazos, alcance del brazo</a:t>
                      </a:r>
                    </a:p>
                  </a:txBody>
                  <a:tcPr marL="91440" marR="91440" marT="27432" marB="27432" anchor="ctr">
                    <a:solidFill>
                      <a:srgbClr val="EEEDED"/>
                    </a:solidFill>
                  </a:tcPr>
                </a:tc>
              </a:tr>
            </a:tbl>
          </a:graphicData>
        </a:graphic>
      </p:graphicFrame>
      <p:sp>
        <p:nvSpPr>
          <p:cNvPr id="6" name="TextBox 5"/>
          <p:cNvSpPr txBox="1"/>
          <p:nvPr/>
        </p:nvSpPr>
        <p:spPr>
          <a:xfrm>
            <a:off x="905256" y="67665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Fuente: memoria, Tabla 7.</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