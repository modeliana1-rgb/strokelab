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19" r:id="rId11"/>
    <p:sldId id="320" r:id="rId12"/>
    <p:sldId id="321" r:id="rId13"/>
    <p:sldId id="322" r:id="rId14"/>
    <p:sldId id="323" r:id="rId15"/>
    <p:sldId id="324" r:id="rId16"/>
    <p:sldId id="325" r:id="rId17"/>
    <p:sldId id="326" r:id="rId18"/>
    <p:sldId id="327" r:id="rId19"/>
    <p:sldId id="328" r:id="rId20"/>
    <p:sldId id="329" r:id="rId21"/>
    <p:sldId id="330" r:id="rId22"/>
    <p:sldId id="331" r:id="rId23"/>
    <p:sldId id="332" r:id="rId24"/>
    <p:sldId id="333" r:id="rId25"/>
    <p:sldId id="334" r:id="rId26"/>
    <p:sldId id="335" r:id="rId27"/>
    <p:sldId id="336" r:id="rId28"/>
    <p:sldId id="337" r:id="rId29"/>
    <p:sldId id="338" r:id="rId30"/>
    <p:sldId id="339" r:id="rId31"/>
    <p:sldId id="341" r:id="rId33"/>
    <p:sldId id="342" r:id="rId34"/>
    <p:sldId id="343" r:id="rId35"/>
    <p:sldId id="344" r:id="rId36"/>
    <p:sldId id="345" r:id="rId37"/>
    <p:sldId id="349" r:id="rId41"/>
    <p:sldId id="350" r:id="rId42"/>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41" Type="http://schemas.openxmlformats.org/officeDocument/2006/relationships/slide" Target="slides/slide32.xml"/><Relationship Id="rId42" Type="http://schemas.openxmlformats.org/officeDocument/2006/relationships/slide" Target="slides/slide33.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estructura: el problema, el sistema, cómo lo validé, una demostración con dos grabaciones de 100 m libre y las conclusiones. [≈ 15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un nadador se cansa, su técnica cambia antes de que caiga el tiempo: acorta la brazada, sube la frecuencia, baja el codo. Hoy esto se detecta a ojo, de forma subjetiva, o con sistemas instrumentados —sensores inerciales, varias cámaras— que son caros y complejos. StrokeLab propone una tercera vía: una sola cámara convencional y un portátil, y un sistema que no solo detecta la fatiga sino que explica qué variable la provoca. [≈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general es un sistema de IA explicable que, desde vídeo monocular y en la CPU de un portátil, cuantifique la técnica, detecte el inicio de la fatiga y explique sus causas. El director marcó cuatro indicaciones: la explicabilidad es lo más importante, dos verticales de IA —visión y datos tabulares—, modos diferenciados y optimizar YOLO. La tabla resume cómo responde el sistema a cada una. [≈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arquitectura. La vertical de visión estima la pose: 17 puntos del cuerpo por fotograma con YOLOv8n en 2D y MotionBERT en 3D, y los limpia con filtros anatómicos. La vertical tabular divide el nado en ciclos de brazada, calcula por ciclo la frecuencia, la distancia por ciclo y los ángulos de codo, hombro, cadera, rodilla y tronco, aprende el patrón fresco del propio nadador con Isolation Forest y explica cada desviación con SHAP. El resultado llega al entrenador como vídeo anotado, tablas y un texto.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entrar en detalle, este es el mapa. En cada etapa elegí un algoritmo y lo comparé con alternativas. La regla fue siempre la misma: que funcione en la CPU de un portátil, con vídeo bajo el agua y sin etiquetas de fatiga, y que se pueda explicar. En las siguientes diapositivas explico el qué, el cómo y el porqué de cada uno. [≈ 40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tres familias. Los descendentes, como HRNet o ViTPose, detectan primero a la persona y después sus puntos: son los más precisos en COCO, pero caros en CPU. Los ascendentes, como OpenPose, detectan todos los puntos y luego los agrupan. Y los de una etapa, como YOLO-Pose, sacan la caja y los 17 puntos en una sola pasada. La precisión en COCO está medida con personas en tierra, así que no decide sola: medí los candidatos en mi vídeo subacuático. YOLOv8n detecta igual que YOLOv8s con 3,5 veces menos parámetros y el doble de velocidad; YOLO11n da resultados equivalentes sin ser más rápido; y frente a MoveNet, que fue mi primera elección por fluidez, YOLO detecta con el doble de confianza y da 15 ciclos válidos frente a 3. Como el vídeo anotado se genera después del análisis, la fluidez de MoveNet dejó de importar.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YOLO se entrenó con personas de pie, no con nadadores horizontales bajo el agua. Tres decisiones lo adaptan. Primero, el giro: pruebo el fotograma sin girar y girado 90 grados y me quedo con la orientación que mejor detecta. Segundo, filtros anatómicos: descarto cuerpos imposibles, como un tronco vertical en vista lateral o la cadera encima del hombro. Tercero, limpio la señal: quito los puntos poco fiables, relleno huecos cortos y suavizo con Savitzky-Golay, que, a diferencia de una media móvil, no aplasta los picos que luego uso para contar brazadas. [≈ 50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cámara, infinitas posturas 3D dan la misma imagen, así que la profundidad se predice con un modelo que ha aprendido cómo se mueve el cuerpo: MotionBERT, un transformer preentrenado con Human3.6M, actores de pie en un laboratorio. Para acercar el nadador a lo que conoce, centro cada fotograma en la pelvis, giro el tronco a vertical y normalizo la escala; los ángulos no cambian con ese giro. Lo validé comparando con el 2D en vista lateral: codo, hombro y cadera son coherentes, pero la rodilla sale a 107 grados, como sentado, cuando la imagen la muestra casi extendida. Decisión: en lateral uso el 2D y guardo el 3D aparte; de frente o en diagonal, donde el 2D se deforma por la perspectiva, uso el 3D. [≈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Parte de mis vídeos son laterales y parte frontales, y la señal que sirve en uno no sirve en el otro. Primero, la vista se decide sola: divido el vídeo en tramos de 60 segundos y miro la orientación del tronco; de lado es casi horizontal y de frente casi vertical. Un fotograma suelto no basta porque YOLO a veces pone un esqueleto de pie. En lateral cuento brazadas con la profundidad de la mano más profunda: cada máximo es una brazada. Uso la más profunda porque YOLO copia el brazo visible en el oculto. De frente esa profundidad no se ve, así que uso el recorrido de cada muñeca en la dirección en que más se mueve, que saco con PCA, medido en anchos de hombros. El ritmo es la mediana de los intervalos dentro del rango fisiológico de cada estilo, lo que lo hace robusto a los huecos.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Bajo el agua YOLO copia el brazo visible en el oculto: las dos muñecas salen casi idénticas. Por eso no sigo cada brazo por separado, sino la mano más profunda respecto al eje del cuerpo. Cada pico es una brazada y en crol dos brazadas forman un ciclo. Lo validé contra mi conteo manual: el error en la frecuencia está entre el 6,5 y el 8,2 %, en vista lateral y frontal. [≈ 1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para entrenarla hacen falta ciclos etiquetados como fatigados, y no los hay. Isolation Forest no los necesita: se entrena solo con la fase fresca del propio nadador. Su idea es sencilla: lo raro se aísla con pocos cortes aleatorios. Si un ciclo queda aislado enseguida, su puntuación se acerca a 1. Además no supone ninguna distribución, tiene coste lineal y, al ser de árboles, admite valores SHAP exactos. Antes de entrenar estandarizo cada variable con la media y la desviación de la fase fresca, y quito las variables redundantes, como la velocidad, que es frecuencia por distancia. [≈ 1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hay etiquetas de fatiga, así que planteo el problema como detección de anomalías respecto al propio nadador. El primer 30 % de sus ciclos es su patrón fresco. Isolation Forest puntúa cada ciclo por lo distinto que es de ese patrón. El inicio de la fatiga es el primer momento con tres ciclos seguidos por encima del percentil 95 de la fase fresca, y lo contrasto con el detector de cambios PELT. En la gráfica, con datos sintéticos y fatiga programada, el sistema la detecta al comienzo de la transición.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parámetros del detector los fijé a priori y después comprobé su efecto con datos sintéticos, donde sé cuándo empieza la fatiga. El percentil del umbral es lo que más pesa. Con el 90 lo detecta todo, pero con un 30 % de falsas alarmas y antes de tiempo. Con el 99 no hay falsas alarmas, pero pierde un 40 % de las fatigas y llega tarde. El 95 detecta todas, con un 10 % de falsas alarmas, y sitúa el inicio en el centro de la transición. Como contraste uso PELT, un detector de cambios que no tiene nada que ver con Isolation Forest: si los dos coinciden, la detección es más creíble. En la secuencia de 90 s: ciclo 35 frente a ciclo 33. [≈ 1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viene de la teoría de juegos: reparte de forma justa la puntuación de un ciclo entre sus variables, y la suma de las partes da la puntuación. Eso permite explicar un ciclo concreto y también todo el nado. Para modelos de árboles existe TreeSHAP, que calcula los valores exactos, no aproximados, en tiempo polinómico; por eso fue un criterio al elegir Isolation Forest y el bosque aleatorio. Invierto el signo para que positivo signifique «acerca a la fatiga», y en cada ejecución compruebo que la suma de SHAP se mueve con la puntuación: 0,999 en la secuencia de 90 s. [≈ 50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PELT situó el cambio en el ciclo 33. [≈ 1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estilo empecé con XGBoost y lo cambié por un bosque aleatorio, más sencillo y con SHAP exacto. Lo validé por vídeo, con GroupKFold, para no mezclar ventanas del mismo vídeo en entrenamiento y prueba. Con datos sintéticos acertaba el 100 %. Con vídeos reales, dejando un vídeo fuera, el 45,5 %, apenas por encima del 36,4 % de decir siempre la clase mayoritaria; y dejando fuera a un participante, el 9,1 %: había aprendido a reconocer al nadador, no el estilo. Por eso pasé a reglas que salen de la definición de cada estilo: si las manos se mueven a la vez o alternas, y la altura de la cabeza. Aciertan la familia en 12 de 13 vídeos, que es lo que necesito para contar ciclos. Los umbrales los fijé con esos vídeos, así que el dato es optimista. [≈ 1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las decisiones. Ninguna se tomó por preferencia: cada cambio responde a algo que medí. La más importante para mí es la de la validación: una versión anterior daba un 99,99 % de exactitud por fotograma y era fuga de datos; desde entonces todo se valida por vídeo o por participante. [≈ 45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vídeo real analicé 17 secuencias de 4 participantes en 4 estilos: 6,6 minutos grabados, de los que 2,2 minutos fueron analizables, con 95 ciclos válidos. La frecuencia se aproxima al conteo manual con un error del 6,5 al 8,2 %. La vista automática clasificó bien las 17 secuencias, aunque el umbral se fijó con ellas, y la familia del estilo en 12 de 13. Las sesiones de pasadas cortas no dieron fatiga, y tampoco falsas alarmas: es lo esperable, porque son pasadas a ritmo técnico con descansos. El nadador fue analizable en el 34 % del tiempo: la detección bajo el agua es la principal limitación. [≈ 1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1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no es un número suelto. El vídeo anotado muestra en cada momento si el nadador está fresco o fatigado, el ciclo y la frecuencia, y una barra con la anomalía de cada ciclo y el umbral. El modo en tiempo real hace lo mismo mientras se reproduce el vídeo o la cámara, y muestra las causas de SHAP en directo. Además, el sistema decide solo la vista y la familia del estilo, y procesa listas de vídeos por lotes. [≈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una demostración con dos grabaciones de 100 m libre, una suave y otra rápida, hechas después de entregar la memoria; no forman parte de sus resultados. [Reproducir el vídeo anotado del 100 suave.] En el suave el sistema decidió solo que la vista era lateral y el estilo crol, y obtuvo 20 ciclos válidos a 56 ciclos por minuto. En el rápido la cámara ve al nadador de frente u oblicuo gran parte del tiempo: en lateral solo salían 2 ciclos válidos y, indicando la vista frontal, 39 ciclos a 54 ciclos por minuto. En ninguno hay fatiga sostenida declarada. En el rápido, sin embargo, la puntuación de anomalía sube al final: los dos últimos ciclos son los más anómalos de todo el vídeo, pero la regla exige tres ciclos seguidos y el vídeo termina antes. La frecuencia de los dos es parecida; sin un conteo manual no afirmo cuál es más precisa. Es justo lo que dice la memoria: la vista y la detección condicionan el análisis. [≈ 1 min 30 s] NO mostrar los ángulos de cadera y rodilla del suave: las piernas se detectan mal en este vídeo.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limitaciones son claras y las identifiqué con datos. Faltan grabaciones de nado continuo y una referencia fisiológica, así que la fatiga real no está validada todavía. El nadador solo es analizable el 34 % del tiempo y en vista lateral el modelo copia el brazo oculto. Con una cámara, los ángulos son proyecciones y el 3D falla en las piernas. El trabajo futuro sale directamente de ellas: series largas con lactato, esfuerzo percibido y valoración del entrenador; anotar fotogramas propios para medir OKS, PCK y mAP; ajustar la pose con SwimXYZ y datos propios; y ampliar con audio, sensores inerciales y una interfaz. [≈ 1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resumen: siete objetivos cumplidos y dos parciales. Los parciales son honestos: la fatiga está validada con datos sintéticos y en tiempo real, pero falta la validación fisiológica con nadadores reales; y el clasificador de estilo supervisado no generalizaba, por eso lo sustituí por reglas biomecánicas. La lección principal del trabajo es que la calidad de los datos pesa más que el modelo: detecté una exactitud del 99,99 % que era fuga de datos y, desde entonces, contrasté cada resultado con una referencia. Gracias. [≈ 1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qué YOLOv8n: es el más ligero sin perder detección, y en el vídeo real dio muchos más ciclos válidos que MoveNet. ViTPose se descartó por coste en CPU.</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sesión mostró fatiga ni falsas alarmas. Son pasadas cortas a ritmo técnico con descansos, no un esfuerzo continuo. No demuestra la capacidad de detectar fatiga real, pero sí que el sistema no inventa fatiga.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preguntan por la validación con referencia conocida: en vista lateral se estiman frecuencia, velocidad y distancia por ciclo con errores medianos del 4,7, 1,3 y 4,3 %; de frente, la frecuencia con un 0,3 %. El inicio se detecta a los 57,3 s, al comienzo de la transición, y SHAP señala variables alteradas en la simulación.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5.xml"/><Relationship Id="rId3" Type="http://schemas.openxmlformats.org/officeDocument/2006/relationships/image" Target="../media/image5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 Id="rId3" Type="http://schemas.openxmlformats.org/officeDocument/2006/relationships/image" Target="../media/image5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3.xml"/><Relationship Id="rId3"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 Id="rId3" Type="http://schemas.openxmlformats.org/officeDocument/2006/relationships/image" Target="../media/image5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0.xml"/><Relationship Id="rId3"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1.xml"/><Relationship Id="rId3"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600200" y="1005840"/>
            <a:ext cx="5486400" cy="1097280"/>
          </a:xfrm>
        </p:spPr>
        <p:txBody>
          <a:bodyPr/>
          <a:lstStyle/>
          <a:p>
            <a:r>
              <a:rPr sz="4400"/>
              <a:t>Índice</a:t>
            </a:r>
          </a:p>
        </p:txBody>
      </p:sp>
      <p:sp>
        <p:nvSpPr>
          <p:cNvPr id="3" name="Text Placeholder 2"/>
          <p:cNvSpPr>
            <a:spLocks noGrp="1"/>
          </p:cNvSpPr>
          <p:nvPr>
            <p:ph type="body" idx="15" sz="quarter"/>
          </p:nvPr>
        </p:nvSpPr>
        <p:spPr>
          <a:xfrm>
            <a:off x="1600200" y="2377440"/>
          </a:xfrm>
        </p:spPr>
        <p:txBody>
          <a:bodyPr/>
          <a:lstStyle/>
          <a:p>
            <a:pPr>
              <a:spcAft>
                <a:spcPts val="1400"/>
              </a:spcAft>
            </a:pPr>
            <a:r>
              <a:rPr b="1" sz="2400">
                <a:solidFill>
                  <a:srgbClr val="FF3228"/>
                </a:solidFill>
              </a:rPr>
              <a:t>01   </a:t>
            </a:r>
            <a:r>
              <a:rPr sz="2400"/>
              <a:t>El problema y el objetivo</a:t>
            </a:r>
          </a:p>
          <a:p>
            <a:pPr>
              <a:spcAft>
                <a:spcPts val="1400"/>
              </a:spcAft>
            </a:pPr>
            <a:r>
              <a:rPr b="1" sz="2400">
                <a:solidFill>
                  <a:srgbClr val="FF3228"/>
                </a:solidFill>
              </a:rPr>
              <a:t>02   </a:t>
            </a:r>
            <a:r>
              <a:rPr sz="2400"/>
              <a:t>StrokeLab: visión + datos tabulares</a:t>
            </a:r>
          </a:p>
          <a:p>
            <a:pPr>
              <a:spcAft>
                <a:spcPts val="1400"/>
              </a:spcAft>
            </a:pPr>
            <a:r>
              <a:rPr b="1" sz="2400">
                <a:solidFill>
                  <a:srgbClr val="FF3228"/>
                </a:solidFill>
              </a:rPr>
              <a:t>03   </a:t>
            </a:r>
            <a:r>
              <a:rPr sz="2400"/>
              <a:t>Validación y resultados</a:t>
            </a:r>
          </a:p>
          <a:p>
            <a:pPr>
              <a:spcAft>
                <a:spcPts val="1400"/>
              </a:spcAft>
            </a:pPr>
            <a:r>
              <a:rPr b="1" sz="2400">
                <a:solidFill>
                  <a:srgbClr val="FF3228"/>
                </a:solidFill>
              </a:rPr>
              <a:t>04   </a:t>
            </a:r>
            <a:r>
              <a:rPr sz="2400"/>
              <a:t>Demostración: 100 m libre</a:t>
            </a:r>
          </a:p>
          <a:p>
            <a:pPr>
              <a:spcAft>
                <a:spcPts val="1400"/>
              </a:spcAft>
            </a:pPr>
            <a:r>
              <a:rPr b="1" sz="2400">
                <a:solidFill>
                  <a:srgbClr val="FF3228"/>
                </a:solidFill>
              </a:rPr>
              <a:t>05   </a:t>
            </a:r>
            <a:r>
              <a:rPr sz="2400"/>
              <a:t>Conclusiones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¿Cuándo aparece la fatiga y por qué?</a:t>
            </a:r>
          </a:p>
        </p:txBody>
      </p:sp>
      <p:sp>
        <p:nvSpPr>
          <p:cNvPr id="4" name="Text Placeholder 3"/>
          <p:cNvSpPr>
            <a:spLocks noGrp="1"/>
          </p:cNvSpPr>
          <p:nvPr>
            <p:ph type="body" idx="18" sz="quarter"/>
          </p:nvPr>
        </p:nvSpPr>
        <p:spPr>
          <a:xfrm>
            <a:ext cx="12344400" cy="0"/>
          </a:xfrm>
        </p:spPr>
        <p:txBody>
          <a:bodyPr/>
          <a:lstStyle/>
          <a:p>
            <a:r>
              <a:t>Hoy el entrenador elige entre el ojo experto y los sensores caros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Observación</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Depende de la experiencia del entrenador. No cuantifica ni deja registro comparable entre sesiones.</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Sistemas instrumentados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Sensores inerciales o varias cámaras: coste elevado y montaje complejo en la piscina.</a:t>
            </a:r>
          </a:p>
        </p:txBody>
      </p:sp>
      <p:sp>
        <p:nvSpPr>
          <p:cNvPr id="13" name="Rectangle 12"/>
          <p:cNvSpPr/>
          <p:nvPr/>
        </p:nvSpPr>
        <p:spPr>
          <a:xfrm>
            <a:off x="9336024" y="2926080"/>
            <a:ext cx="3931920" cy="3017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StrokeLab</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FFFFFF"/>
                </a:solidFill>
              </a:rPr>
              <a:t>Una cámara convencional y un portátil sin GPU. Mide, detecta el inicio de la fatiga y explica su causa.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Objetivo: IA explicable desde un vídeo</a:t>
            </a:r>
          </a:p>
        </p:txBody>
      </p:sp>
      <p:sp>
        <p:nvSpPr>
          <p:cNvPr id="4" name="Text Placeholder 3"/>
          <p:cNvSpPr>
            <a:spLocks noGrp="1"/>
          </p:cNvSpPr>
          <p:nvPr>
            <p:ph type="body" idx="18" sz="quarter"/>
          </p:nvPr>
        </p:nvSpPr>
        <p:spPr>
          <a:xfrm>
            <a:ext cx="12344400" cy="0"/>
          </a:xfrm>
        </p:spPr>
        <p:txBody>
          <a:bodyPr/>
          <a:lstStyle/>
          <a:p>
            <a:r>
              <a:t>Indicaciones del director y cómo se cumplen</a:t>
            </a:r>
          </a:p>
        </p:txBody>
      </p:sp>
      <p:graphicFrame>
        <p:nvGraphicFramePr>
          <p:cNvPr id="5" name="Table 4"/>
          <p:cNvGraphicFramePr>
            <a:graphicFrameLocks noGrp="1"/>
          </p:cNvGraphicFramePr>
          <p:nvPr/>
        </p:nvGraphicFramePr>
        <p:xfrm>
          <a:off x="905256" y="2880360"/>
          <a:ext cx="12801600" cy="2834640"/>
        </p:xfrm>
        <a:graphic>
          <a:graphicData uri="http://schemas.openxmlformats.org/drawingml/2006/table">
            <a:tbl>
              <a:tblPr firstRow="1" bandRow="1">
                <a:tableStyleId>{5C22544A-7EE6-4342-B048-85BDC9FD1C3A}</a:tableStyleId>
              </a:tblPr>
              <a:tblGrid>
                <a:gridCol w="4754880"/>
                <a:gridCol w="8046720"/>
              </a:tblGrid>
              <a:tr h="566928">
                <a:tc>
                  <a:txBody>
                    <a:bodyPr/>
                    <a:lstStyle/>
                    <a:p>
                      <a:r>
                        <a:rPr sz="1400" b="1">
                          <a:solidFill>
                            <a:srgbClr val="FFFFFF"/>
                          </a:solidFill>
                        </a:rPr>
                        <a:t>Indicación</a:t>
                      </a:r>
                    </a:p>
                  </a:txBody>
                  <a:tcPr marL="91440" marR="91440" marT="27432" marB="27432" anchor="ctr">
                    <a:solidFill>
                      <a:srgbClr val="FF3228"/>
                    </a:solidFill>
                  </a:tcPr>
                </a:tc>
                <a:tc>
                  <a:txBody>
                    <a:bodyPr/>
                    <a:lstStyle/>
                    <a:p>
                      <a:r>
                        <a:rPr sz="1400" b="1">
                          <a:solidFill>
                            <a:srgbClr val="FFFFFF"/>
                          </a:solidFill>
                        </a:rPr>
                        <a:t>Implementación en StrokeLab</a:t>
                      </a:r>
                    </a:p>
                  </a:txBody>
                  <a:tcPr marL="91440" marR="91440" marT="27432" marB="27432" anchor="ctr">
                    <a:solidFill>
                      <a:srgbClr val="FF3228"/>
                    </a:solidFill>
                  </a:tcPr>
                </a:tc>
              </a:tr>
              <a:tr h="566928">
                <a:tc>
                  <a:txBody>
                    <a:bodyPr/>
                    <a:lstStyle/>
                    <a:p>
                      <a:r>
                        <a:rPr sz="1400" b="0">
                          <a:solidFill>
                            <a:srgbClr val="1E1E1E"/>
                          </a:solidFill>
                        </a:rPr>
                        <a:t>La explicabilidad (SHAP) es lo más importante</a:t>
                      </a:r>
                    </a:p>
                  </a:txBody>
                  <a:tcPr marL="91440" marR="91440" marT="27432" marB="27432" anchor="ctr">
                    <a:solidFill>
                      <a:srgbClr val="FFFFFF"/>
                    </a:solidFill>
                  </a:tcPr>
                </a:tc>
                <a:tc>
                  <a:txBody>
                    <a:bodyPr/>
                    <a:lstStyle/>
                    <a:p>
                      <a:r>
                        <a:rPr sz="1400" b="0">
                          <a:solidFill>
                            <a:srgbClr val="1E1E1E"/>
                          </a:solidFill>
                        </a:rPr>
                        <a:t>Isolation Forest sobre el estado fresco del propio nadador + TreeSHAP + explicación en texto</a:t>
                      </a:r>
                    </a:p>
                  </a:txBody>
                  <a:tcPr marL="91440" marR="91440" marT="27432" marB="27432" anchor="ctr">
                    <a:solidFill>
                      <a:srgbClr val="FFFFFF"/>
                    </a:solidFill>
                  </a:tcPr>
                </a:tc>
              </a:tr>
              <a:tr h="566928">
                <a:tc>
                  <a:txBody>
                    <a:bodyPr/>
                    <a:lstStyle/>
                    <a:p>
                      <a:r>
                        <a:rPr sz="1400" b="0">
                          <a:solidFill>
                            <a:srgbClr val="1E1E1E"/>
                          </a:solidFill>
                        </a:rPr>
                        <a:t>Dos verticales de IA: visión y tabular</a:t>
                      </a:r>
                    </a:p>
                  </a:txBody>
                  <a:tcPr marL="91440" marR="91440" marT="27432" marB="27432" anchor="ctr">
                    <a:solidFill>
                      <a:srgbClr val="EEEDED"/>
                    </a:solidFill>
                  </a:tcPr>
                </a:tc>
                <a:tc>
                  <a:txBody>
                    <a:bodyPr/>
                    <a:lstStyle/>
                    <a:p>
                      <a:r>
                        <a:rPr sz="1400" b="0">
                          <a:solidFill>
                            <a:srgbClr val="1E1E1E"/>
                          </a:solidFill>
                        </a:rPr>
                        <a:t>Visión: pose 2D (YOLOv8n) y 3D (MotionBERT) · Tabular: variables por ciclo y modelo de fatiga</a:t>
                      </a:r>
                    </a:p>
                  </a:txBody>
                  <a:tcPr marL="91440" marR="91440" marT="27432" marB="27432" anchor="ctr">
                    <a:solidFill>
                      <a:srgbClr val="EEEDED"/>
                    </a:solidFill>
                  </a:tcPr>
                </a:tc>
              </a:tr>
              <a:tr h="566928">
                <a:tc>
                  <a:txBody>
                    <a:bodyPr/>
                    <a:lstStyle/>
                    <a:p>
                      <a:r>
                        <a:rPr sz="1400" b="0">
                          <a:solidFill>
                            <a:srgbClr val="1E1E1E"/>
                          </a:solidFill>
                        </a:rPr>
                        <a:t>Modos diferenciados (vídeo, tabular, audio)</a:t>
                      </a:r>
                    </a:p>
                  </a:txBody>
                  <a:tcPr marL="91440" marR="91440" marT="27432" marB="27432" anchor="ctr">
                    <a:solidFill>
                      <a:srgbClr val="FFFFFF"/>
                    </a:solidFill>
                  </a:tcPr>
                </a:tc>
                <a:tc>
                  <a:txBody>
                    <a:bodyPr/>
                    <a:lstStyle/>
                    <a:p>
                      <a:r>
                        <a:rPr sz="1400" b="0">
                          <a:solidFill>
                            <a:srgbClr val="1E1E1E"/>
                          </a:solidFill>
                        </a:rPr>
                        <a:t>Vídeo y tabular implementados; el audio queda como trabajo futuro</a:t>
                      </a:r>
                    </a:p>
                  </a:txBody>
                  <a:tcPr marL="91440" marR="91440" marT="27432" marB="27432" anchor="ctr">
                    <a:solidFill>
                      <a:srgbClr val="FFFFFF"/>
                    </a:solidFill>
                  </a:tcPr>
                </a:tc>
              </a:tr>
              <a:tr h="566928">
                <a:tc>
                  <a:txBody>
                    <a:bodyPr/>
                    <a:lstStyle/>
                    <a:p>
                      <a:r>
                        <a:rPr sz="1400" b="0">
                          <a:solidFill>
                            <a:srgbClr val="1E1E1E"/>
                          </a:solidFill>
                        </a:rPr>
                        <a:t>Optimizar YOLO (MoveNet, ViTPose)</a:t>
                      </a:r>
                    </a:p>
                  </a:txBody>
                  <a:tcPr marL="91440" marR="91440" marT="27432" marB="27432" anchor="ctr">
                    <a:solidFill>
                      <a:srgbClr val="EEEDED"/>
                    </a:solidFill>
                  </a:tcPr>
                </a:tc>
                <a:tc>
                  <a:txBody>
                    <a:bodyPr/>
                    <a:lstStyle/>
                    <a:p>
                      <a:r>
                        <a:rPr sz="1400" b="0">
                          <a:solidFill>
                            <a:srgbClr val="1E1E1E"/>
                          </a:solidFill>
                        </a:rPr>
                        <a:t>Comparativa en CPU; YOLOv8n elegido; ViTPose como trabajo futuro</a:t>
                      </a:r>
                    </a:p>
                  </a:txBody>
                  <a:tcPr marL="91440" marR="91440" marT="27432" marB="27432" anchor="ctr">
                    <a:solidFill>
                      <a:srgbClr val="EEEDED"/>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verticales de IA</a:t>
            </a:r>
          </a:p>
        </p:txBody>
      </p:sp>
      <p:pic>
        <p:nvPicPr>
          <p:cNvPr id="5" name="Picture 4" descr="arquitectura.png"/>
          <p:cNvPicPr>
            <a:picLocks noChangeAspect="1"/>
          </p:cNvPicPr>
          <p:nvPr/>
        </p:nvPicPr>
        <p:blipFill>
          <a:blip r:embed="rId3"/>
          <a:stretch>
            <a:fillRect/>
          </a:stretch>
        </p:blipFill>
        <p:spPr>
          <a:xfrm>
            <a:off x="2819028" y="2057400"/>
            <a:ext cx="8992343" cy="5486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Los algoritmos, etapa a etapa</a:t>
            </a:r>
          </a:p>
        </p:txBody>
      </p:sp>
      <p:sp>
        <p:nvSpPr>
          <p:cNvPr id="4" name="Text Placeholder 3"/>
          <p:cNvSpPr>
            <a:spLocks noGrp="1"/>
          </p:cNvSpPr>
          <p:nvPr>
            <p:ph type="body" idx="18" sz="quarter"/>
          </p:nvPr>
        </p:nvSpPr>
        <p:spPr>
          <a:xfrm>
            <a:ext cx="12344400" cy="0"/>
          </a:xfrm>
        </p:spPr>
        <p:txBody>
          <a:bodyPr/>
          <a:lstStyle/>
          <a:p>
            <a:r>
              <a:t>Qué se usa en cada paso y con qué se comparó</a:t>
            </a:r>
          </a:p>
        </p:txBody>
      </p:sp>
      <p:graphicFrame>
        <p:nvGraphicFramePr>
          <p:cNvPr id="5" name="Table 4"/>
          <p:cNvGraphicFramePr>
            <a:graphicFrameLocks noGrp="1"/>
          </p:cNvGraphicFramePr>
          <p:nvPr/>
        </p:nvGraphicFramePr>
        <p:xfrm>
          <a:off x="905256" y="2743200"/>
          <a:ext cx="12801600" cy="4114800"/>
        </p:xfrm>
        <a:graphic>
          <a:graphicData uri="http://schemas.openxmlformats.org/drawingml/2006/table">
            <a:tbl>
              <a:tblPr firstRow="1" bandRow="1">
                <a:tableStyleId>{5C22544A-7EE6-4342-B048-85BDC9FD1C3A}</a:tableStyleId>
              </a:tblPr>
              <a:tblGrid>
                <a:gridCol w="1645920"/>
                <a:gridCol w="4114800"/>
                <a:gridCol w="3017520"/>
                <a:gridCol w="4023360"/>
              </a:tblGrid>
              <a:tr h="457200">
                <a:tc>
                  <a:txBody>
                    <a:bodyPr/>
                    <a:lstStyle/>
                    <a:p>
                      <a:r>
                        <a:rPr sz="1200" b="1">
                          <a:solidFill>
                            <a:srgbClr val="FFFFFF"/>
                          </a:solidFill>
                        </a:rPr>
                        <a:t>Etapa</a:t>
                      </a:r>
                    </a:p>
                  </a:txBody>
                  <a:tcPr marL="91440" marR="91440" marT="27432" marB="27432" anchor="ctr">
                    <a:solidFill>
                      <a:srgbClr val="FF3228"/>
                    </a:solidFill>
                  </a:tcPr>
                </a:tc>
                <a:tc>
                  <a:txBody>
                    <a:bodyPr/>
                    <a:lstStyle/>
                    <a:p>
                      <a:r>
                        <a:rPr sz="1200" b="1">
                          <a:solidFill>
                            <a:srgbClr val="FFFFFF"/>
                          </a:solidFill>
                        </a:rPr>
                        <a:t>Algoritmo elegido</a:t>
                      </a:r>
                    </a:p>
                  </a:txBody>
                  <a:tcPr marL="91440" marR="91440" marT="27432" marB="27432" anchor="ctr">
                    <a:solidFill>
                      <a:srgbClr val="FF3228"/>
                    </a:solidFill>
                  </a:tcPr>
                </a:tc>
                <a:tc>
                  <a:txBody>
                    <a:bodyPr/>
                    <a:lstStyle/>
                    <a:p>
                      <a:r>
                        <a:rPr sz="1200" b="1">
                          <a:solidFill>
                            <a:srgbClr val="FFFFFF"/>
                          </a:solidFill>
                        </a:rPr>
                        <a:t>Tipo</a:t>
                      </a:r>
                    </a:p>
                  </a:txBody>
                  <a:tcPr marL="91440" marR="91440" marT="27432" marB="27432" anchor="ctr">
                    <a:solidFill>
                      <a:srgbClr val="FF3228"/>
                    </a:solidFill>
                  </a:tcPr>
                </a:tc>
                <a:tc>
                  <a:txBody>
                    <a:bodyPr/>
                    <a:lstStyle/>
                    <a:p>
                      <a:r>
                        <a:rPr sz="1200" b="1">
                          <a:solidFill>
                            <a:srgbClr val="FFFFFF"/>
                          </a:solidFill>
                        </a:rPr>
                        <a:t>Comparado con / descartado</a:t>
                      </a:r>
                    </a:p>
                  </a:txBody>
                  <a:tcPr marL="91440" marR="91440" marT="27432" marB="27432" anchor="ctr">
                    <a:solidFill>
                      <a:srgbClr val="FF3228"/>
                    </a:solidFill>
                  </a:tcPr>
                </a:tc>
              </a:tr>
              <a:tr h="457200">
                <a:tc>
                  <a:txBody>
                    <a:bodyPr/>
                    <a:lstStyle/>
                    <a:p>
                      <a:r>
                        <a:rPr sz="1200" b="0">
                          <a:solidFill>
                            <a:srgbClr val="1E1E1E"/>
                          </a:solidFill>
                        </a:rPr>
                        <a:t>Pose 2D</a:t>
                      </a:r>
                    </a:p>
                  </a:txBody>
                  <a:tcPr marL="91440" marR="91440" marT="27432" marB="27432" anchor="ctr">
                    <a:solidFill>
                      <a:srgbClr val="FFFFFF"/>
                    </a:solidFill>
                  </a:tcPr>
                </a:tc>
                <a:tc>
                  <a:txBody>
                    <a:bodyPr/>
                    <a:lstStyle/>
                    <a:p>
                      <a:r>
                        <a:rPr sz="1200" b="0">
                          <a:solidFill>
                            <a:srgbClr val="1E1E1E"/>
                          </a:solidFill>
                        </a:rPr>
                        <a:t>YOLOv8n-Pose (CNN de una etapa)</a:t>
                      </a:r>
                    </a:p>
                  </a:txBody>
                  <a:tcPr marL="91440" marR="91440" marT="27432" marB="27432" anchor="ctr">
                    <a:solidFill>
                      <a:srgbClr val="FFFFFF"/>
                    </a:solidFill>
                  </a:tcPr>
                </a:tc>
                <a:tc>
                  <a:txBody>
                    <a:bodyPr/>
                    <a:lstStyle/>
                    <a:p>
                      <a:r>
                        <a:rPr sz="1200" b="0">
                          <a:solidFill>
                            <a:srgbClr val="1E1E1E"/>
                          </a:solidFill>
                        </a:rPr>
                        <a:t>Supervisado, preentrenado en COCO</a:t>
                      </a:r>
                    </a:p>
                  </a:txBody>
                  <a:tcPr marL="91440" marR="91440" marT="27432" marB="27432" anchor="ctr">
                    <a:solidFill>
                      <a:srgbClr val="FFFFFF"/>
                    </a:solidFill>
                  </a:tcPr>
                </a:tc>
                <a:tc>
                  <a:txBody>
                    <a:bodyPr/>
                    <a:lstStyle/>
                    <a:p>
                      <a:r>
                        <a:rPr sz="1200" b="0">
                          <a:solidFill>
                            <a:srgbClr val="1E1E1E"/>
                          </a:solidFill>
                        </a:rPr>
                        <a:t>YOLO11n, YOLOv8s, MoveNet; HRNet y ViTPose (coste en CPU)</a:t>
                      </a:r>
                    </a:p>
                  </a:txBody>
                  <a:tcPr marL="91440" marR="91440" marT="27432" marB="27432" anchor="ctr">
                    <a:solidFill>
                      <a:srgbClr val="FFFFFF"/>
                    </a:solidFill>
                  </a:tcPr>
                </a:tc>
              </a:tr>
              <a:tr h="457200">
                <a:tc>
                  <a:txBody>
                    <a:bodyPr/>
                    <a:lstStyle/>
                    <a:p>
                      <a:r>
                        <a:rPr sz="1200" b="0">
                          <a:solidFill>
                            <a:srgbClr val="1E1E1E"/>
                          </a:solidFill>
                        </a:rPr>
                        <a:t>Pose 3D</a:t>
                      </a:r>
                    </a:p>
                  </a:txBody>
                  <a:tcPr marL="91440" marR="91440" marT="27432" marB="27432" anchor="ctr">
                    <a:solidFill>
                      <a:srgbClr val="EEEDED"/>
                    </a:solidFill>
                  </a:tcPr>
                </a:tc>
                <a:tc>
                  <a:txBody>
                    <a:bodyPr/>
                    <a:lstStyle/>
                    <a:p>
                      <a:r>
                        <a:rPr sz="1200" b="0">
                          <a:solidFill>
                            <a:srgbClr val="1E1E1E"/>
                          </a:solidFill>
                        </a:rPr>
                        <a:t>MotionBERT-Lite (transformer)</a:t>
                      </a:r>
                    </a:p>
                  </a:txBody>
                  <a:tcPr marL="91440" marR="91440" marT="27432" marB="27432" anchor="ctr">
                    <a:solidFill>
                      <a:srgbClr val="EEEDED"/>
                    </a:solidFill>
                  </a:tcPr>
                </a:tc>
                <a:tc>
                  <a:txBody>
                    <a:bodyPr/>
                    <a:lstStyle/>
                    <a:p>
                      <a:r>
                        <a:rPr sz="1200" b="0">
                          <a:solidFill>
                            <a:srgbClr val="1E1E1E"/>
                          </a:solidFill>
                        </a:rPr>
                        <a:t>Preentrenado en Human3.6M</a:t>
                      </a:r>
                    </a:p>
                  </a:txBody>
                  <a:tcPr marL="91440" marR="91440" marT="27432" marB="27432" anchor="ctr">
                    <a:solidFill>
                      <a:srgbClr val="EEEDED"/>
                    </a:solidFill>
                  </a:tcPr>
                </a:tc>
                <a:tc>
                  <a:txBody>
                    <a:bodyPr/>
                    <a:lstStyle/>
                    <a:p>
                      <a:r>
                        <a:rPr sz="1200" b="0">
                          <a:solidFill>
                            <a:srgbClr val="1E1E1E"/>
                          </a:solidFill>
                        </a:rPr>
                        <a:t>Ángulos 2D: se usan en vista lateral</a:t>
                      </a:r>
                    </a:p>
                  </a:txBody>
                  <a:tcPr marL="91440" marR="91440" marT="27432" marB="27432" anchor="ctr">
                    <a:solidFill>
                      <a:srgbClr val="EEEDED"/>
                    </a:solidFill>
                  </a:tcPr>
                </a:tc>
              </a:tr>
              <a:tr h="457200">
                <a:tc>
                  <a:txBody>
                    <a:bodyPr/>
                    <a:lstStyle/>
                    <a:p>
                      <a:r>
                        <a:rPr sz="1200" b="0">
                          <a:solidFill>
                            <a:srgbClr val="1E1E1E"/>
                          </a:solidFill>
                        </a:rPr>
                        <a:t>Limpieza</a:t>
                      </a:r>
                    </a:p>
                  </a:txBody>
                  <a:tcPr marL="91440" marR="91440" marT="27432" marB="27432" anchor="ctr">
                    <a:solidFill>
                      <a:srgbClr val="FFFFFF"/>
                    </a:solidFill>
                  </a:tcPr>
                </a:tc>
                <a:tc>
                  <a:txBody>
                    <a:bodyPr/>
                    <a:lstStyle/>
                    <a:p>
                      <a:r>
                        <a:rPr sz="1200" b="0">
                          <a:solidFill>
                            <a:srgbClr val="1E1E1E"/>
                          </a:solidFill>
                        </a:rPr>
                        <a:t>Savitzky-Golay + filtros anatómicos</a:t>
                      </a:r>
                    </a:p>
                  </a:txBody>
                  <a:tcPr marL="91440" marR="91440" marT="27432" marB="27432" anchor="ctr">
                    <a:solidFill>
                      <a:srgbClr val="FFFFFF"/>
                    </a:solidFill>
                  </a:tcPr>
                </a:tc>
                <a:tc>
                  <a:txBody>
                    <a:bodyPr/>
                    <a:lstStyle/>
                    <a:p>
                      <a:r>
                        <a:rPr sz="1200" b="0">
                          <a:solidFill>
                            <a:srgbClr val="1E1E1E"/>
                          </a:solidFill>
                        </a:rPr>
                        <a:t>Procesado de señal</a:t>
                      </a:r>
                    </a:p>
                  </a:txBody>
                  <a:tcPr marL="91440" marR="91440" marT="27432" marB="27432" anchor="ctr">
                    <a:solidFill>
                      <a:srgbClr val="FFFFFF"/>
                    </a:solidFill>
                  </a:tcPr>
                </a:tc>
                <a:tc>
                  <a:txBody>
                    <a:bodyPr/>
                    <a:lstStyle/>
                    <a:p>
                      <a:r>
                        <a:rPr sz="1200" b="0">
                          <a:solidFill>
                            <a:srgbClr val="1E1E1E"/>
                          </a:solidFill>
                        </a:rPr>
                        <a:t>Media móvil (conserva peor los picos)</a:t>
                      </a:r>
                    </a:p>
                  </a:txBody>
                  <a:tcPr marL="91440" marR="91440" marT="27432" marB="27432" anchor="ctr">
                    <a:solidFill>
                      <a:srgbClr val="FFFFFF"/>
                    </a:solidFill>
                  </a:tcPr>
                </a:tc>
              </a:tr>
              <a:tr h="457200">
                <a:tc>
                  <a:txBody>
                    <a:bodyPr/>
                    <a:lstStyle/>
                    <a:p>
                      <a:r>
                        <a:rPr sz="1200" b="0">
                          <a:solidFill>
                            <a:srgbClr val="1E1E1E"/>
                          </a:solidFill>
                        </a:rPr>
                        <a:t>Vista</a:t>
                      </a:r>
                    </a:p>
                  </a:txBody>
                  <a:tcPr marL="91440" marR="91440" marT="27432" marB="27432" anchor="ctr">
                    <a:solidFill>
                      <a:srgbClr val="EEEDED"/>
                    </a:solidFill>
                  </a:tcPr>
                </a:tc>
                <a:tc>
                  <a:txBody>
                    <a:bodyPr/>
                    <a:lstStyle/>
                    <a:p>
                      <a:r>
                        <a:rPr sz="1200" b="0">
                          <a:solidFill>
                            <a:srgbClr val="1E1E1E"/>
                          </a:solidFill>
                        </a:rPr>
                        <a:t>Orientación del tronco por tramos de 60 s</a:t>
                      </a:r>
                    </a:p>
                  </a:txBody>
                  <a:tcPr marL="91440" marR="91440" marT="27432" marB="27432" anchor="ctr">
                    <a:solidFill>
                      <a:srgbClr val="EEEDED"/>
                    </a:solidFill>
                  </a:tcPr>
                </a:tc>
                <a:tc>
                  <a:txBody>
                    <a:bodyPr/>
                    <a:lstStyle/>
                    <a:p>
                      <a:r>
                        <a:rPr sz="1200" b="0">
                          <a:solidFill>
                            <a:srgbClr val="1E1E1E"/>
                          </a:solidFill>
                        </a:rPr>
                        <a:t>Regla</a:t>
                      </a:r>
                    </a:p>
                  </a:txBody>
                  <a:tcPr marL="91440" marR="91440" marT="27432" marB="27432" anchor="ctr">
                    <a:solidFill>
                      <a:srgbClr val="EEEDED"/>
                    </a:solidFill>
                  </a:tcPr>
                </a:tc>
                <a:tc>
                  <a:txBody>
                    <a:bodyPr/>
                    <a:lstStyle/>
                    <a:p>
                      <a:r>
                        <a:rPr sz="1200" b="0">
                          <a:solidFill>
                            <a:srgbClr val="1E1E1E"/>
                          </a:solidFill>
                        </a:rPr>
                        <a:t>Vista indicada a mano por el usuario</a:t>
                      </a:r>
                    </a:p>
                  </a:txBody>
                  <a:tcPr marL="91440" marR="91440" marT="27432" marB="27432" anchor="ctr">
                    <a:solidFill>
                      <a:srgbClr val="EEEDED"/>
                    </a:solidFill>
                  </a:tcPr>
                </a:tc>
              </a:tr>
              <a:tr h="457200">
                <a:tc>
                  <a:txBody>
                    <a:bodyPr/>
                    <a:lstStyle/>
                    <a:p>
                      <a:r>
                        <a:rPr sz="1200" b="0">
                          <a:solidFill>
                            <a:srgbClr val="1E1E1E"/>
                          </a:solidFill>
                        </a:rPr>
                        <a:t>Ciclos</a:t>
                      </a:r>
                    </a:p>
                  </a:txBody>
                  <a:tcPr marL="91440" marR="91440" marT="27432" marB="27432" anchor="ctr">
                    <a:solidFill>
                      <a:srgbClr val="FFFFFF"/>
                    </a:solidFill>
                  </a:tcPr>
                </a:tc>
                <a:tc>
                  <a:txBody>
                    <a:bodyPr/>
                    <a:lstStyle/>
                    <a:p>
                      <a:r>
                        <a:rPr sz="1200" b="0">
                          <a:solidFill>
                            <a:srgbClr val="1E1E1E"/>
                          </a:solidFill>
                        </a:rPr>
                        <a:t>Picos de la mano (lateral) · PCA de la muñeca (frontal)</a:t>
                      </a:r>
                    </a:p>
                  </a:txBody>
                  <a:tcPr marL="91440" marR="91440" marT="27432" marB="27432" anchor="ctr">
                    <a:solidFill>
                      <a:srgbClr val="FFFFFF"/>
                    </a:solidFill>
                  </a:tcPr>
                </a:tc>
                <a:tc>
                  <a:txBody>
                    <a:bodyPr/>
                    <a:lstStyle/>
                    <a:p>
                      <a:r>
                        <a:rPr sz="1200" b="0">
                          <a:solidFill>
                            <a:srgbClr val="1E1E1E"/>
                          </a:solidFill>
                        </a:rPr>
                        <a:t>Señal + PCA (no supervisado)</a:t>
                      </a:r>
                    </a:p>
                  </a:txBody>
                  <a:tcPr marL="91440" marR="91440" marT="27432" marB="27432" anchor="ctr">
                    <a:solidFill>
                      <a:srgbClr val="FFFFFF"/>
                    </a:solidFill>
                  </a:tcPr>
                </a:tc>
                <a:tc>
                  <a:txBody>
                    <a:bodyPr/>
                    <a:lstStyle/>
                    <a:p>
                      <a:r>
                        <a:rPr sz="1200" b="0">
                          <a:solidFill>
                            <a:srgbClr val="1E1E1E"/>
                          </a:solidFill>
                        </a:rPr>
                        <a:t>Cada muñeca por separado (YOLO copia el brazo)</a:t>
                      </a:r>
                    </a:p>
                  </a:txBody>
                  <a:tcPr marL="91440" marR="91440" marT="27432" marB="27432" anchor="ctr">
                    <a:solidFill>
                      <a:srgbClr val="FFFFFF"/>
                    </a:solidFill>
                  </a:tcPr>
                </a:tc>
              </a:tr>
              <a:tr h="457200">
                <a:tc>
                  <a:txBody>
                    <a:bodyPr/>
                    <a:lstStyle/>
                    <a:p>
                      <a:r>
                        <a:rPr sz="1200" b="0">
                          <a:solidFill>
                            <a:srgbClr val="1E1E1E"/>
                          </a:solidFill>
                        </a:rPr>
                        <a:t>Fatiga</a:t>
                      </a:r>
                    </a:p>
                  </a:txBody>
                  <a:tcPr marL="91440" marR="91440" marT="27432" marB="27432" anchor="ctr">
                    <a:solidFill>
                      <a:srgbClr val="EEEDED"/>
                    </a:solidFill>
                  </a:tcPr>
                </a:tc>
                <a:tc>
                  <a:txBody>
                    <a:bodyPr/>
                    <a:lstStyle/>
                    <a:p>
                      <a:r>
                        <a:rPr sz="1200" b="0">
                          <a:solidFill>
                            <a:srgbClr val="1E1E1E"/>
                          </a:solidFill>
                        </a:rPr>
                        <a:t>Isolation Forest + PELT de contraste</a:t>
                      </a:r>
                    </a:p>
                  </a:txBody>
                  <a:tcPr marL="91440" marR="91440" marT="27432" marB="27432" anchor="ctr">
                    <a:solidFill>
                      <a:srgbClr val="EEEDED"/>
                    </a:solidFill>
                  </a:tcPr>
                </a:tc>
                <a:tc>
                  <a:txBody>
                    <a:bodyPr/>
                    <a:lstStyle/>
                    <a:p>
                      <a:r>
                        <a:rPr sz="1200" b="0">
                          <a:solidFill>
                            <a:srgbClr val="1E1E1E"/>
                          </a:solidFill>
                        </a:rPr>
                        <a:t>No supervisado</a:t>
                      </a:r>
                    </a:p>
                  </a:txBody>
                  <a:tcPr marL="91440" marR="91440" marT="27432" marB="27432" anchor="ctr">
                    <a:solidFill>
                      <a:srgbClr val="EEEDED"/>
                    </a:solidFill>
                  </a:tcPr>
                </a:tc>
                <a:tc>
                  <a:txBody>
                    <a:bodyPr/>
                    <a:lstStyle/>
                    <a:p>
                      <a:r>
                        <a:rPr sz="1200" b="0">
                          <a:solidFill>
                            <a:srgbClr val="1E1E1E"/>
                          </a:solidFill>
                        </a:rPr>
                        <a:t>Red recurrente supervisada</a:t>
                      </a:r>
                    </a:p>
                  </a:txBody>
                  <a:tcPr marL="91440" marR="91440" marT="27432" marB="27432" anchor="ctr">
                    <a:solidFill>
                      <a:srgbClr val="EEEDED"/>
                    </a:solidFill>
                  </a:tcPr>
                </a:tc>
              </a:tr>
              <a:tr h="457200">
                <a:tc>
                  <a:txBody>
                    <a:bodyPr/>
                    <a:lstStyle/>
                    <a:p>
                      <a:r>
                        <a:rPr sz="1200" b="0">
                          <a:solidFill>
                            <a:srgbClr val="1E1E1E"/>
                          </a:solidFill>
                        </a:rPr>
                        <a:t>Explicación</a:t>
                      </a:r>
                    </a:p>
                  </a:txBody>
                  <a:tcPr marL="91440" marR="91440" marT="27432" marB="27432" anchor="ctr">
                    <a:solidFill>
                      <a:srgbClr val="FFFFFF"/>
                    </a:solidFill>
                  </a:tcPr>
                </a:tc>
                <a:tc>
                  <a:txBody>
                    <a:bodyPr/>
                    <a:lstStyle/>
                    <a:p>
                      <a:r>
                        <a:rPr sz="1200" b="0">
                          <a:solidFill>
                            <a:srgbClr val="1E1E1E"/>
                          </a:solidFill>
                        </a:rPr>
                        <a:t>TreeSHAP (valores de Shapley exactos)</a:t>
                      </a:r>
                    </a:p>
                  </a:txBody>
                  <a:tcPr marL="91440" marR="91440" marT="27432" marB="27432" anchor="ctr">
                    <a:solidFill>
                      <a:srgbClr val="FFFFFF"/>
                    </a:solidFill>
                  </a:tcPr>
                </a:tc>
                <a:tc>
                  <a:txBody>
                    <a:bodyPr/>
                    <a:lstStyle/>
                    <a:p>
                      <a:r>
                        <a:rPr sz="1200" b="0">
                          <a:solidFill>
                            <a:srgbClr val="1E1E1E"/>
                          </a:solidFill>
                        </a:rPr>
                        <a:t>IA explicable</a:t>
                      </a:r>
                    </a:p>
                  </a:txBody>
                  <a:tcPr marL="91440" marR="91440" marT="27432" marB="27432" anchor="ctr">
                    <a:solidFill>
                      <a:srgbClr val="FFFFFF"/>
                    </a:solidFill>
                  </a:tcPr>
                </a:tc>
                <a:tc>
                  <a:txBody>
                    <a:bodyPr/>
                    <a:lstStyle/>
                    <a:p>
                      <a:r>
                        <a:rPr sz="1200" b="0">
                          <a:solidFill>
                            <a:srgbClr val="1E1E1E"/>
                          </a:solidFill>
                        </a:rPr>
                        <a:t>—</a:t>
                      </a:r>
                    </a:p>
                  </a:txBody>
                  <a:tcPr marL="91440" marR="91440" marT="27432" marB="27432" anchor="ctr">
                    <a:solidFill>
                      <a:srgbClr val="FFFFFF"/>
                    </a:solidFill>
                  </a:tcPr>
                </a:tc>
              </a:tr>
              <a:tr h="457200">
                <a:tc>
                  <a:txBody>
                    <a:bodyPr/>
                    <a:lstStyle/>
                    <a:p>
                      <a:r>
                        <a:rPr sz="1200" b="0">
                          <a:solidFill>
                            <a:srgbClr val="1E1E1E"/>
                          </a:solidFill>
                        </a:rPr>
                        <a:t>Estilo</a:t>
                      </a:r>
                    </a:p>
                  </a:txBody>
                  <a:tcPr marL="91440" marR="91440" marT="27432" marB="27432" anchor="ctr">
                    <a:solidFill>
                      <a:srgbClr val="EEEDED"/>
                    </a:solidFill>
                  </a:tcPr>
                </a:tc>
                <a:tc>
                  <a:txBody>
                    <a:bodyPr/>
                    <a:lstStyle/>
                    <a:p>
                      <a:r>
                        <a:rPr sz="1200" b="0">
                          <a:solidFill>
                            <a:srgbClr val="1E1E1E"/>
                          </a:solidFill>
                        </a:rPr>
                        <a:t>Reglas biomecánicas</a:t>
                      </a:r>
                    </a:p>
                  </a:txBody>
                  <a:tcPr marL="91440" marR="91440" marT="27432" marB="27432" anchor="ctr">
                    <a:solidFill>
                      <a:srgbClr val="EEEDED"/>
                    </a:solidFill>
                  </a:tcPr>
                </a:tc>
                <a:tc>
                  <a:txBody>
                    <a:bodyPr/>
                    <a:lstStyle/>
                    <a:p>
                      <a:r>
                        <a:rPr sz="1200" b="0">
                          <a:solidFill>
                            <a:srgbClr val="1E1E1E"/>
                          </a:solidFill>
                        </a:rPr>
                        <a:t>Reglas, sin entrenamiento</a:t>
                      </a:r>
                    </a:p>
                  </a:txBody>
                  <a:tcPr marL="91440" marR="91440" marT="27432" marB="27432" anchor="ctr">
                    <a:solidFill>
                      <a:srgbClr val="EEEDED"/>
                    </a:solidFill>
                  </a:tcPr>
                </a:tc>
                <a:tc>
                  <a:txBody>
                    <a:bodyPr/>
                    <a:lstStyle/>
                    <a:p>
                      <a:r>
                        <a:rPr sz="1200" b="0">
                          <a:solidFill>
                            <a:srgbClr val="1E1E1E"/>
                          </a:solidFill>
                        </a:rPr>
                        <a:t>XGBoost y bosque aleatorio</a:t>
                      </a:r>
                    </a:p>
                  </a:txBody>
                  <a:tcPr marL="91440" marR="91440" marT="27432" marB="27432" anchor="ctr">
                    <a:solidFill>
                      <a:srgbClr val="EEEDED"/>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Pose 2D: por qué YOLOv8n</a:t>
            </a:r>
          </a:p>
        </p:txBody>
      </p:sp>
      <p:sp>
        <p:nvSpPr>
          <p:cNvPr id="4" name="Text Placeholder 3"/>
          <p:cNvSpPr>
            <a:spLocks noGrp="1"/>
          </p:cNvSpPr>
          <p:nvPr>
            <p:ph type="body" idx="18" sz="quarter"/>
          </p:nvPr>
        </p:nvSpPr>
        <p:spPr>
          <a:xfrm>
            <a:ext cx="12344400" cy="0"/>
          </a:xfrm>
        </p:spPr>
        <p:txBody>
          <a:bodyPr/>
          <a:lstStyle/>
          <a:p>
            <a:r>
              <a:t>Ocho modelos considerados; cuatro medidos en el vídeo real</a:t>
            </a:r>
          </a:p>
        </p:txBody>
      </p:sp>
      <p:graphicFrame>
        <p:nvGraphicFramePr>
          <p:cNvPr id="5" name="Table 4"/>
          <p:cNvGraphicFramePr>
            <a:graphicFrameLocks noGrp="1"/>
          </p:cNvGraphicFramePr>
          <p:nvPr/>
        </p:nvGraphicFramePr>
        <p:xfrm>
          <a:off x="905256" y="2743200"/>
          <a:ext cx="6949440" cy="3657600"/>
        </p:xfrm>
        <a:graphic>
          <a:graphicData uri="http://schemas.openxmlformats.org/drawingml/2006/table">
            <a:tbl>
              <a:tblPr firstRow="1" bandRow="1">
                <a:tableStyleId>{5C22544A-7EE6-4342-B048-85BDC9FD1C3A}</a:tableStyleId>
              </a:tblPr>
              <a:tblGrid>
                <a:gridCol w="2148840"/>
                <a:gridCol w="1600200"/>
                <a:gridCol w="1097280"/>
                <a:gridCol w="2103120"/>
              </a:tblGrid>
              <a:tr h="457200">
                <a:tc>
                  <a:txBody>
                    <a:bodyPr/>
                    <a:lstStyle/>
                    <a:p>
                      <a:r>
                        <a:rPr sz="1200" b="1">
                          <a:solidFill>
                            <a:srgbClr val="FFFFFF"/>
                          </a:solidFill>
                        </a:rPr>
                        <a:t>Modelo</a:t>
                      </a:r>
                    </a:p>
                  </a:txBody>
                  <a:tcPr marL="91440" marR="91440" marT="27432" marB="27432" anchor="ctr">
                    <a:solidFill>
                      <a:srgbClr val="FF3228"/>
                    </a:solidFill>
                  </a:tcPr>
                </a:tc>
                <a:tc>
                  <a:txBody>
                    <a:bodyPr/>
                    <a:lstStyle/>
                    <a:p>
                      <a:r>
                        <a:rPr sz="1200" b="1">
                          <a:solidFill>
                            <a:srgbClr val="FFFFFF"/>
                          </a:solidFill>
                        </a:rPr>
                        <a:t>Tipo</a:t>
                      </a:r>
                    </a:p>
                  </a:txBody>
                  <a:tcPr marL="91440" marR="91440" marT="27432" marB="27432" anchor="ctr">
                    <a:solidFill>
                      <a:srgbClr val="FF3228"/>
                    </a:solidFill>
                  </a:tcPr>
                </a:tc>
                <a:tc>
                  <a:txBody>
                    <a:bodyPr/>
                    <a:lstStyle/>
                    <a:p>
                      <a:r>
                        <a:rPr sz="1200" b="1">
                          <a:solidFill>
                            <a:srgbClr val="FFFFFF"/>
                          </a:solidFill>
                        </a:rPr>
                        <a:t>AP COCO</a:t>
                      </a:r>
                    </a:p>
                  </a:txBody>
                  <a:tcPr marL="91440" marR="91440" marT="27432" marB="27432" anchor="ctr">
                    <a:solidFill>
                      <a:srgbClr val="FF3228"/>
                    </a:solidFill>
                  </a:tcPr>
                </a:tc>
                <a:tc>
                  <a:txBody>
                    <a:bodyPr/>
                    <a:lstStyle/>
                    <a:p>
                      <a:r>
                        <a:rPr sz="1200" b="1">
                          <a:solidFill>
                            <a:srgbClr val="FFFFFF"/>
                          </a:solidFill>
                        </a:rPr>
                        <a:t>Papel</a:t>
                      </a:r>
                    </a:p>
                  </a:txBody>
                  <a:tcPr marL="91440" marR="91440" marT="27432" marB="27432" anchor="ctr">
                    <a:solidFill>
                      <a:srgbClr val="FF3228"/>
                    </a:solidFill>
                  </a:tcPr>
                </a:tc>
              </a:tr>
              <a:tr h="457200">
                <a:tc>
                  <a:txBody>
                    <a:bodyPr/>
                    <a:lstStyle/>
                    <a:p>
                      <a:r>
                        <a:rPr sz="1200" b="0">
                          <a:solidFill>
                            <a:srgbClr val="1E1E1E"/>
                          </a:solidFill>
                        </a:rPr>
                        <a:t>ViTPose-G</a:t>
                      </a:r>
                    </a:p>
                  </a:txBody>
                  <a:tcPr marL="91440" marR="91440" marT="27432" marB="27432" anchor="ctr">
                    <a:solidFill>
                      <a:srgbClr val="FFFFFF"/>
                    </a:solidFill>
                  </a:tcPr>
                </a:tc>
                <a:tc>
                  <a:txBody>
                    <a:bodyPr/>
                    <a:lstStyle/>
                    <a:p>
                      <a:r>
                        <a:rPr sz="1200" b="0">
                          <a:solidFill>
                            <a:srgbClr val="1E1E1E"/>
                          </a:solidFill>
                        </a:rPr>
                        <a:t>Transformer</a:t>
                      </a:r>
                    </a:p>
                  </a:txBody>
                  <a:tcPr marL="91440" marR="91440" marT="27432" marB="27432" anchor="ctr">
                    <a:solidFill>
                      <a:srgbClr val="FFFFFF"/>
                    </a:solidFill>
                  </a:tcPr>
                </a:tc>
                <a:tc>
                  <a:txBody>
                    <a:bodyPr/>
                    <a:lstStyle/>
                    <a:p>
                      <a:r>
                        <a:rPr sz="1200" b="0">
                          <a:solidFill>
                            <a:srgbClr val="1E1E1E"/>
                          </a:solidFill>
                        </a:rPr>
                        <a:t>80,9</a:t>
                      </a:r>
                    </a:p>
                  </a:txBody>
                  <a:tcPr marL="91440" marR="91440" marT="27432" marB="27432" anchor="ctr">
                    <a:solidFill>
                      <a:srgbClr val="FFFFFF"/>
                    </a:solidFill>
                  </a:tcPr>
                </a:tc>
                <a:tc>
                  <a:txBody>
                    <a:bodyPr/>
                    <a:lstStyle/>
                    <a:p>
                      <a:r>
                        <a:rPr sz="1200" b="0">
                          <a:solidFill>
                            <a:srgbClr val="1E1E1E"/>
                          </a:solidFill>
                        </a:rPr>
                        <a:t>Trabajo futuro</a:t>
                      </a:r>
                    </a:p>
                  </a:txBody>
                  <a:tcPr marL="91440" marR="91440" marT="27432" marB="27432" anchor="ctr">
                    <a:solidFill>
                      <a:srgbClr val="FFFFFF"/>
                    </a:solidFill>
                  </a:tcPr>
                </a:tc>
              </a:tr>
              <a:tr h="457200">
                <a:tc>
                  <a:txBody>
                    <a:bodyPr/>
                    <a:lstStyle/>
                    <a:p>
                      <a:r>
                        <a:rPr sz="1200" b="0">
                          <a:solidFill>
                            <a:srgbClr val="1E1E1E"/>
                          </a:solidFill>
                        </a:rPr>
                        <a:t>HRNet-W48</a:t>
                      </a:r>
                    </a:p>
                  </a:txBody>
                  <a:tcPr marL="91440" marR="91440" marT="27432" marB="27432" anchor="ctr">
                    <a:solidFill>
                      <a:srgbClr val="EEEDED"/>
                    </a:solidFill>
                  </a:tcPr>
                </a:tc>
                <a:tc>
                  <a:txBody>
                    <a:bodyPr/>
                    <a:lstStyle/>
                    <a:p>
                      <a:r>
                        <a:rPr sz="1200" b="0">
                          <a:solidFill>
                            <a:srgbClr val="1E1E1E"/>
                          </a:solidFill>
                        </a:rPr>
                        <a:t>Descendente</a:t>
                      </a:r>
                    </a:p>
                  </a:txBody>
                  <a:tcPr marL="91440" marR="91440" marT="27432" marB="27432" anchor="ctr">
                    <a:solidFill>
                      <a:srgbClr val="EEEDED"/>
                    </a:solidFill>
                  </a:tcPr>
                </a:tc>
                <a:tc>
                  <a:txBody>
                    <a:bodyPr/>
                    <a:lstStyle/>
                    <a:p>
                      <a:r>
                        <a:rPr sz="1200" b="0">
                          <a:solidFill>
                            <a:srgbClr val="1E1E1E"/>
                          </a:solidFill>
                        </a:rPr>
                        <a:t>75,5</a:t>
                      </a:r>
                    </a:p>
                  </a:txBody>
                  <a:tcPr marL="91440" marR="91440" marT="27432" marB="27432" anchor="ctr">
                    <a:solidFill>
                      <a:srgbClr val="EEEDED"/>
                    </a:solidFill>
                  </a:tcPr>
                </a:tc>
                <a:tc>
                  <a:txBody>
                    <a:bodyPr/>
                    <a:lstStyle/>
                    <a:p>
                      <a:r>
                        <a:rPr sz="1200" b="0">
                          <a:solidFill>
                            <a:srgbClr val="1E1E1E"/>
                          </a:solidFill>
                        </a:rPr>
                        <a:t>No usado (coste CPU)</a:t>
                      </a:r>
                    </a:p>
                  </a:txBody>
                  <a:tcPr marL="91440" marR="91440" marT="27432" marB="27432" anchor="ctr">
                    <a:solidFill>
                      <a:srgbClr val="EEEDED"/>
                    </a:solidFill>
                  </a:tcPr>
                </a:tc>
              </a:tr>
              <a:tr h="457200">
                <a:tc>
                  <a:txBody>
                    <a:bodyPr/>
                    <a:lstStyle/>
                    <a:p>
                      <a:r>
                        <a:rPr sz="1200" b="0">
                          <a:solidFill>
                            <a:srgbClr val="1E1E1E"/>
                          </a:solidFill>
                        </a:rPr>
                        <a:t>OpenPose</a:t>
                      </a:r>
                    </a:p>
                  </a:txBody>
                  <a:tcPr marL="91440" marR="91440" marT="27432" marB="27432" anchor="ctr">
                    <a:solidFill>
                      <a:srgbClr val="FFFFFF"/>
                    </a:solidFill>
                  </a:tcPr>
                </a:tc>
                <a:tc>
                  <a:txBody>
                    <a:bodyPr/>
                    <a:lstStyle/>
                    <a:p>
                      <a:r>
                        <a:rPr sz="1200" b="0">
                          <a:solidFill>
                            <a:srgbClr val="1E1E1E"/>
                          </a:solidFill>
                        </a:rPr>
                        <a:t>Ascendente</a:t>
                      </a:r>
                    </a:p>
                  </a:txBody>
                  <a:tcPr marL="91440" marR="91440" marT="27432" marB="27432" anchor="ctr">
                    <a:solidFill>
                      <a:srgbClr val="FFFFFF"/>
                    </a:solidFill>
                  </a:tcPr>
                </a:tc>
                <a:tc>
                  <a:txBody>
                    <a:bodyPr/>
                    <a:lstStyle/>
                    <a:p>
                      <a:r>
                        <a:rPr sz="1200" b="0">
                          <a:solidFill>
                            <a:srgbClr val="1E1E1E"/>
                          </a:solidFill>
                        </a:rPr>
                        <a:t>61,8</a:t>
                      </a:r>
                    </a:p>
                  </a:txBody>
                  <a:tcPr marL="91440" marR="91440" marT="27432" marB="27432" anchor="ctr">
                    <a:solidFill>
                      <a:srgbClr val="FFFFFF"/>
                    </a:solidFill>
                  </a:tcPr>
                </a:tc>
                <a:tc>
                  <a:txBody>
                    <a:bodyPr/>
                    <a:lstStyle/>
                    <a:p>
                      <a:r>
                        <a:rPr sz="1200" b="0">
                          <a:solidFill>
                            <a:srgbClr val="1E1E1E"/>
                          </a:solidFill>
                        </a:rPr>
                        <a:t>Referencia</a:t>
                      </a:r>
                    </a:p>
                  </a:txBody>
                  <a:tcPr marL="91440" marR="91440" marT="27432" marB="27432" anchor="ctr">
                    <a:solidFill>
                      <a:srgbClr val="FFFFFF"/>
                    </a:solidFill>
                  </a:tcPr>
                </a:tc>
              </a:tr>
              <a:tr h="457200">
                <a:tc>
                  <a:txBody>
                    <a:bodyPr/>
                    <a:lstStyle/>
                    <a:p>
                      <a:r>
                        <a:rPr sz="1200" b="0">
                          <a:solidFill>
                            <a:srgbClr val="1E1E1E"/>
                          </a:solidFill>
                        </a:rPr>
                        <a:t>YOLOv8s-Pose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60,0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1">
                          <a:solidFill>
                            <a:srgbClr val="1E1E1E"/>
                          </a:solidFill>
                        </a:rPr>
                        <a:t>YOLOv8n-Pose</a:t>
                      </a:r>
                    </a:p>
                  </a:txBody>
                  <a:tcPr marL="91440" marR="91440" marT="27432" marB="27432" anchor="ctr">
                    <a:solidFill>
                      <a:srgbClr val="FFAFAA"/>
                    </a:solidFill>
                  </a:tcPr>
                </a:tc>
                <a:tc>
                  <a:txBody>
                    <a:bodyPr/>
                    <a:lstStyle/>
                    <a:p>
                      <a:r>
                        <a:rPr sz="1200" b="1">
                          <a:solidFill>
                            <a:srgbClr val="1E1E1E"/>
                          </a:solidFill>
                        </a:rPr>
                        <a:t>Una etapa</a:t>
                      </a:r>
                    </a:p>
                  </a:txBody>
                  <a:tcPr marL="91440" marR="91440" marT="27432" marB="27432" anchor="ctr">
                    <a:solidFill>
                      <a:srgbClr val="FFAFAA"/>
                    </a:solidFill>
                  </a:tcPr>
                </a:tc>
                <a:tc>
                  <a:txBody>
                    <a:bodyPr/>
                    <a:lstStyle/>
                    <a:p>
                      <a:r>
                        <a:rPr sz="1200" b="1">
                          <a:solidFill>
                            <a:srgbClr val="1E1E1E"/>
                          </a:solidFill>
                        </a:rPr>
                        <a:t>50,4</a:t>
                      </a:r>
                    </a:p>
                  </a:txBody>
                  <a:tcPr marL="91440" marR="91440" marT="27432" marB="27432" anchor="ctr">
                    <a:solidFill>
                      <a:srgbClr val="FFAFAA"/>
                    </a:solidFill>
                  </a:tcPr>
                </a:tc>
                <a:tc>
                  <a:txBody>
                    <a:bodyPr/>
                    <a:lstStyle/>
                    <a:p>
                      <a:r>
                        <a:rPr sz="1200" b="1">
                          <a:solidFill>
                            <a:srgbClr val="1E1E1E"/>
                          </a:solidFill>
                        </a:rPr>
                        <a:t>Elegido</a:t>
                      </a:r>
                    </a:p>
                  </a:txBody>
                  <a:tcPr marL="91440" marR="91440" marT="27432" marB="27432" anchor="ctr">
                    <a:solidFill>
                      <a:srgbClr val="FFAFAA"/>
                    </a:solidFill>
                  </a:tcPr>
                </a:tc>
              </a:tr>
              <a:tr h="457200">
                <a:tc>
                  <a:txBody>
                    <a:bodyPr/>
                    <a:lstStyle/>
                    <a:p>
                      <a:r>
                        <a:rPr sz="1200" b="0">
                          <a:solidFill>
                            <a:srgbClr val="1E1E1E"/>
                          </a:solidFill>
                        </a:rPr>
                        <a:t>YOLO11n-Pose</a:t>
                      </a:r>
                    </a:p>
                  </a:txBody>
                  <a:tcPr marL="91440" marR="91440" marT="27432" marB="27432" anchor="ctr">
                    <a:solidFill>
                      <a:srgbClr val="EEEDED"/>
                    </a:solidFill>
                  </a:tcPr>
                </a:tc>
                <a:tc>
                  <a:txBody>
                    <a:bodyPr/>
                    <a:lstStyle/>
                    <a:p>
                      <a:r>
                        <a:rPr sz="1200" b="0">
                          <a:solidFill>
                            <a:srgbClr val="1E1E1E"/>
                          </a:solidFill>
                        </a:rPr>
                        <a:t>Una etapa</a:t>
                      </a:r>
                    </a:p>
                  </a:txBody>
                  <a:tcPr marL="91440" marR="91440" marT="27432" marB="27432" anchor="ctr">
                    <a:solidFill>
                      <a:srgbClr val="EEEDED"/>
                    </a:solidFill>
                  </a:tcPr>
                </a:tc>
                <a:tc>
                  <a:txBody>
                    <a:bodyPr/>
                    <a:lstStyle/>
                    <a:p>
                      <a:r>
                        <a:rPr sz="1200" b="0">
                          <a:solidFill>
                            <a:srgbClr val="1E1E1E"/>
                          </a:solidFill>
                        </a:rPr>
                        <a:t>50,0</a:t>
                      </a:r>
                    </a:p>
                  </a:txBody>
                  <a:tcPr marL="91440" marR="91440" marT="27432" marB="27432" anchor="ctr">
                    <a:solidFill>
                      <a:srgbClr val="EEEDED"/>
                    </a:solidFill>
                  </a:tcPr>
                </a:tc>
                <a:tc>
                  <a:txBody>
                    <a:bodyPr/>
                    <a:lstStyle/>
                    <a:p>
                      <a:r>
                        <a:rPr sz="1200" b="0">
                          <a:solidFill>
                            <a:srgbClr val="1E1E1E"/>
                          </a:solidFill>
                        </a:rPr>
                        <a:t>Comparado</a:t>
                      </a:r>
                    </a:p>
                  </a:txBody>
                  <a:tcPr marL="91440" marR="91440" marT="27432" marB="27432" anchor="ctr">
                    <a:solidFill>
                      <a:srgbClr val="EEEDED"/>
                    </a:solidFill>
                  </a:tcPr>
                </a:tc>
              </a:tr>
              <a:tr h="457200">
                <a:tc>
                  <a:txBody>
                    <a:bodyPr/>
                    <a:lstStyle/>
                    <a:p>
                      <a:r>
                        <a:rPr sz="1200" b="0">
                          <a:solidFill>
                            <a:srgbClr val="1E1E1E"/>
                          </a:solidFill>
                        </a:rPr>
                        <a:t>MoveNet Lightning</a:t>
                      </a:r>
                    </a:p>
                  </a:txBody>
                  <a:tcPr marL="91440" marR="91440" marT="27432" marB="27432" anchor="ctr">
                    <a:solidFill>
                      <a:srgbClr val="FFFFFF"/>
                    </a:solidFill>
                  </a:tcPr>
                </a:tc>
                <a:tc>
                  <a:txBody>
                    <a:bodyPr/>
                    <a:lstStyle/>
                    <a:p>
                      <a:r>
                        <a:rPr sz="1200" b="0">
                          <a:solidFill>
                            <a:srgbClr val="1E1E1E"/>
                          </a:solidFill>
                        </a:rPr>
                        <a:t>Una persona</a:t>
                      </a:r>
                    </a:p>
                  </a:txBody>
                  <a:tcPr marL="91440" marR="91440" marT="27432" marB="27432" anchor="ctr">
                    <a:solidFill>
                      <a:srgbClr val="FFFFFF"/>
                    </a:solidFill>
                  </a:tcPr>
                </a:tc>
                <a:tc>
                  <a:txBody>
                    <a:bodyPr/>
                    <a:lstStyle/>
                    <a:p>
                      <a:r>
                        <a:rPr sz="1200" b="0">
                          <a:solidFill>
                            <a:srgbClr val="1E1E1E"/>
                          </a:solidFill>
                        </a:rPr>
                        <a:t>—</a:t>
                      </a:r>
                    </a:p>
                  </a:txBody>
                  <a:tcPr marL="91440" marR="91440" marT="27432" marB="27432" anchor="ctr">
                    <a:solidFill>
                      <a:srgbClr val="FFFFFF"/>
                    </a:solidFill>
                  </a:tcPr>
                </a:tc>
                <a:tc>
                  <a:txBody>
                    <a:bodyPr/>
                    <a:lstStyle/>
                    <a:p>
                      <a:r>
                        <a:rPr sz="1200" b="0">
                          <a:solidFill>
                            <a:srgbClr val="1E1E1E"/>
                          </a:solidFill>
                        </a:rPr>
                        <a:t>Comparado; opción</a:t>
                      </a:r>
                    </a:p>
                  </a:txBody>
                  <a:tcPr marL="91440" marR="91440" marT="27432" marB="27432" anchor="ctr">
                    <a:solidFill>
                      <a:srgbClr val="FFFFFF"/>
                    </a:solidFill>
                  </a:tcPr>
                </a:tc>
              </a:tr>
            </a:tbl>
          </a:graphicData>
        </a:graphic>
      </p:graphicFrame>
      <p:sp>
        <p:nvSpPr>
          <p:cNvPr id="6" name="Rectangle 5"/>
          <p:cNvSpPr/>
          <p:nvPr/>
        </p:nvSpPr>
        <p:spPr>
          <a:xfrm>
            <a:off x="8138160" y="2743200"/>
            <a:ext cx="5577840" cy="36576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0" y="2926080"/>
            <a:ext cx="5029200" cy="457200"/>
          </a:xfrm>
          <a:prstGeom prst="rect">
            <a:avLst/>
          </a:prstGeom>
          <a:noFill/>
        </p:spPr>
        <p:txBody>
          <a:bodyPr wrap="square" anchor="t" lIns="0" rIns="0" tIns="0" bIns="0">
            <a:spAutoFit/>
          </a:bodyPr>
          <a:lstStyle/>
          <a:p>
            <a:pPr algn="l">
              <a:spcAft>
                <a:spcPts val="600"/>
              </a:spcAft>
            </a:pPr>
            <a:r>
              <a:rPr sz="1700" b="1">
                <a:solidFill>
                  <a:srgbClr val="FF3228"/>
                </a:solidFill>
              </a:rPr>
              <a:t>¿Por qué YOLOv8n? (vídeo real, CPU)</a:t>
            </a:r>
          </a:p>
        </p:txBody>
      </p:sp>
      <p:sp>
        <p:nvSpPr>
          <p:cNvPr id="8" name="TextBox 7"/>
          <p:cNvSpPr txBox="1"/>
          <p:nvPr/>
        </p:nvSpPr>
        <p:spPr>
          <a:xfrm>
            <a:off x="8412480" y="3474720"/>
            <a:ext cx="5029200" cy="2834640"/>
          </a:xfrm>
          <a:prstGeom prst="rect">
            <a:avLst/>
          </a:prstGeom>
          <a:noFill/>
        </p:spPr>
        <p:txBody>
          <a:bodyPr wrap="square" anchor="t" lIns="0" rIns="0" tIns="0" bIns="0">
            <a:spAutoFit/>
          </a:bodyPr>
          <a:lstStyle/>
          <a:p>
            <a:pPr algn="l">
              <a:spcAft>
                <a:spcPts val="800"/>
              </a:spcAft>
            </a:pPr>
            <a:r>
              <a:rPr sz="1300" b="0">
                <a:solidFill>
                  <a:srgbClr val="1E1E1E"/>
                </a:solidFill>
              </a:rPr>
              <a:t>•  Una sola pasada: caja y 17 puntos a la vez</a:t>
            </a:r>
          </a:p>
          <a:p>
            <a:pPr algn="l">
              <a:spcAft>
                <a:spcPts val="800"/>
              </a:spcAft>
            </a:pPr>
            <a:r>
              <a:rPr sz="1300" b="0">
                <a:solidFill>
                  <a:srgbClr val="1E1E1E"/>
                </a:solidFill>
              </a:rPr>
              <a:t>•  Frente a YOLOv8s: misma detección (35,6 %) con 3,5× menos parámetros y el doble de FPS (6,6 frente a 3,3)</a:t>
            </a:r>
          </a:p>
          <a:p>
            <a:pPr algn="l">
              <a:spcAft>
                <a:spcPts val="800"/>
              </a:spcAft>
            </a:pPr>
            <a:r>
              <a:rPr sz="1300" b="0">
                <a:solidFill>
                  <a:srgbClr val="1E1E1E"/>
                </a:solidFill>
              </a:rPr>
              <a:t>•  Frente a YOLO11n: resultados equivalentes (37,6 %, confianza 0,78) sin ser más rápido (6,2 FPS)</a:t>
            </a:r>
          </a:p>
          <a:p>
            <a:pPr algn="l">
              <a:spcAft>
                <a:spcPts val="800"/>
              </a:spcAft>
            </a:pPr>
            <a:r>
              <a:rPr sz="1300" b="0">
                <a:solidFill>
                  <a:srgbClr val="1E1E1E"/>
                </a:solidFill>
              </a:rPr>
              <a:t>•  Frente a MoveNet: el doble de confianza (0,73-0,77 frente a 0,34-0,37) y 15 ciclos válidos frente a 3</a:t>
            </a:r>
          </a:p>
          <a:p>
            <a:pPr algn="l">
              <a:spcAft>
                <a:spcPts val="800"/>
              </a:spcAft>
            </a:pPr>
            <a:r>
              <a:rPr sz="1300" b="0">
                <a:solidFill>
                  <a:srgbClr val="1E1E1E"/>
                </a:solidFill>
              </a:rPr>
              <a:t>•  HRNet y ViTPose: mejor AP, pero coste elevado en CPU</a:t>
            </a:r>
          </a:p>
        </p:txBody>
      </p:sp>
      <p:sp>
        <p:nvSpPr>
          <p:cNvPr id="9" name="TextBox 8"/>
          <p:cNvSpPr txBox="1"/>
          <p:nvPr/>
        </p:nvSpPr>
        <p:spPr>
          <a:xfrm>
            <a:off x="905256" y="66751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AP: precisión media en COCO según las publicaciones originales (personas en tierra). Sin anotaciones propias, la pose bajo el agua se validó con la tarea: frecuencia frente al conteo manual.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Adaptar la pose humana al agua</a:t>
            </a:r>
          </a:p>
        </p:txBody>
      </p:sp>
      <p:sp>
        <p:nvSpPr>
          <p:cNvPr id="4" name="Text Placeholder 3"/>
          <p:cNvSpPr>
            <a:spLocks noGrp="1"/>
          </p:cNvSpPr>
          <p:nvPr>
            <p:ph type="body" idx="18" sz="quarter"/>
          </p:nvPr>
        </p:nvSpPr>
        <p:spPr>
          <a:xfrm>
            <a:ext cx="12344400" cy="0"/>
          </a:xfrm>
        </p:spPr>
        <p:txBody>
          <a:bodyPr/>
          <a:lstStyle/>
          <a:p>
            <a:r>
              <a:t>La pose bajo el agua necesita tres ajustes</a:t>
            </a:r>
          </a:p>
        </p:txBody>
      </p:sp>
      <p:sp>
        <p:nvSpPr>
          <p:cNvPr id="5" name="Rectangle 4"/>
          <p:cNvSpPr/>
          <p:nvPr/>
        </p:nvSpPr>
        <p:spPr>
          <a:xfrm>
            <a:off x="905256"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Giro ±90°</a:t>
            </a:r>
          </a:p>
        </p:txBody>
      </p:sp>
      <p:sp>
        <p:nvSpPr>
          <p:cNvPr id="8" name="TextBox 7"/>
          <p:cNvSpPr txBox="1"/>
          <p:nvPr/>
        </p:nvSpPr>
        <p:spPr>
          <a:xfrm>
            <a:off x="1179576"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prueba el fotograma girado y se conserva la orientación que mejor detecta; las coordenadas vuelven al original.</a:t>
            </a:r>
          </a:p>
        </p:txBody>
      </p:sp>
      <p:sp>
        <p:nvSpPr>
          <p:cNvPr id="9" name="Rectangle 8"/>
          <p:cNvSpPr/>
          <p:nvPr/>
        </p:nvSpPr>
        <p:spPr>
          <a:xfrm>
            <a:off x="5120640"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Filtros anatómicos</a:t>
            </a:r>
          </a:p>
        </p:txBody>
      </p:sp>
      <p:sp>
        <p:nvSpPr>
          <p:cNvPr id="12" name="TextBox 11"/>
          <p:cNvSpPr txBox="1"/>
          <p:nvPr/>
        </p:nvSpPr>
        <p:spPr>
          <a:xfrm>
            <a:off x="5394959"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Se descartan troncos girados (&gt; 45°) o verticales en lateral (&gt; 55°), troncos fuera de 0,5-2 × la mediana, segmentos imposibles y codos &lt; 25°.</a:t>
            </a:r>
          </a:p>
        </p:txBody>
      </p:sp>
      <p:sp>
        <p:nvSpPr>
          <p:cNvPr id="13" name="Rectangle 12"/>
          <p:cNvSpPr/>
          <p:nvPr/>
        </p:nvSpPr>
        <p:spPr>
          <a:xfrm>
            <a:off x="9336024" y="2926080"/>
            <a:ext cx="3931920" cy="30175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20040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794760"/>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Limpieza de la señal</a:t>
            </a:r>
          </a:p>
        </p:txBody>
      </p:sp>
      <p:sp>
        <p:nvSpPr>
          <p:cNvPr id="16" name="TextBox 15"/>
          <p:cNvSpPr txBox="1"/>
          <p:nvPr/>
        </p:nvSpPr>
        <p:spPr>
          <a:xfrm>
            <a:off x="9610344" y="4480560"/>
            <a:ext cx="3383279" cy="1280159"/>
          </a:xfrm>
          <a:prstGeom prst="rect">
            <a:avLst/>
          </a:prstGeom>
          <a:noFill/>
        </p:spPr>
        <p:txBody>
          <a:bodyPr wrap="square" anchor="t" lIns="0" rIns="0" tIns="0" bIns="0">
            <a:spAutoFit/>
          </a:bodyPr>
          <a:lstStyle/>
          <a:p>
            <a:pPr algn="l">
              <a:spcAft>
                <a:spcPts val="600"/>
              </a:spcAft>
            </a:pPr>
            <a:r>
              <a:rPr sz="1400" b="0">
                <a:solidFill>
                  <a:srgbClr val="1E1E1E"/>
                </a:solidFill>
              </a:rPr>
              <a:t>Fuera los puntos con confianza &lt; 0,30; huecos ≤ 0,4 s interpolados; Savitzky-Golay (≈ 0,2 s, grado 2), que conserva los picos mejor que una media móvil.</a:t>
            </a:r>
          </a:p>
        </p:txBody>
      </p:sp>
      <p:sp>
        <p:nvSpPr>
          <p:cNvPr id="17" name="TextBox 16"/>
          <p:cNvSpPr txBox="1"/>
          <p:nvPr/>
        </p:nvSpPr>
        <p:spPr>
          <a:xfrm>
            <a:off x="905256" y="62179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En GX011614 el filtro de tronco girado quitó el 11,5 % de los fotogramas y la inclinación media del tronco pasó de 42° a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3D con MotionBERT: cuándo sí y cuándo no</a:t>
            </a:r>
          </a:p>
        </p:txBody>
      </p:sp>
      <p:sp>
        <p:nvSpPr>
          <p:cNvPr id="4" name="Text Placeholder 3"/>
          <p:cNvSpPr>
            <a:spLocks noGrp="1"/>
          </p:cNvSpPr>
          <p:nvPr>
            <p:ph type="body" idx="18" sz="quarter"/>
          </p:nvPr>
        </p:nvSpPr>
        <p:spPr>
          <a:xfrm>
            <a:ext cx="12344400" cy="0"/>
          </a:xfrm>
        </p:spPr>
        <p:txBody>
          <a:bodyPr/>
          <a:lstStyle/>
          <a:p>
            <a:r>
              <a:t>Elevación de la pose 2D a 3D con una sola cámara</a:t>
            </a:r>
          </a:p>
        </p:txBody>
      </p:sp>
      <p:sp>
        <p:nvSpPr>
          <p:cNvPr id="5" name="Rectangle 4"/>
          <p:cNvSpPr/>
          <p:nvPr/>
        </p:nvSpPr>
        <p:spPr>
          <a:xfrm>
            <a:off x="905256" y="27432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43200"/>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Elevación (lifting)</a:t>
            </a:r>
          </a:p>
        </p:txBody>
      </p:sp>
      <p:sp>
        <p:nvSpPr>
          <p:cNvPr id="8" name="TextBox 7"/>
          <p:cNvSpPr txBox="1"/>
          <p:nvPr/>
        </p:nvSpPr>
        <p:spPr>
          <a:xfrm>
            <a:off x="1828800" y="3108960"/>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La secuencia de puntos 2D entra en MotionBERT-Lite (transformer DSTformer), que predice la profundidad. ≈ 25 s por vídeo en CPU.</a:t>
            </a:r>
          </a:p>
        </p:txBody>
      </p:sp>
      <p:sp>
        <p:nvSpPr>
          <p:cNvPr id="9" name="Rectangle 8"/>
          <p:cNvSpPr/>
          <p:nvPr/>
        </p:nvSpPr>
        <p:spPr>
          <a:xfrm>
            <a:off x="905256" y="3767328"/>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767328"/>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767328"/>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El problema</a:t>
            </a:r>
          </a:p>
        </p:txBody>
      </p:sp>
      <p:sp>
        <p:nvSpPr>
          <p:cNvPr id="12" name="TextBox 11"/>
          <p:cNvSpPr txBox="1"/>
          <p:nvPr/>
        </p:nvSpPr>
        <p:spPr>
          <a:xfrm>
            <a:off x="1828800" y="4133088"/>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Preentrenado en Human3.6M: actores de pie en un laboratorio, no nadadores horizontales.</a:t>
            </a:r>
          </a:p>
        </p:txBody>
      </p:sp>
      <p:sp>
        <p:nvSpPr>
          <p:cNvPr id="13" name="Rectangle 12"/>
          <p:cNvSpPr/>
          <p:nvPr/>
        </p:nvSpPr>
        <p:spPr>
          <a:xfrm>
            <a:off x="905256" y="4791456"/>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791456"/>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791456"/>
            <a:ext cx="5120640" cy="365760"/>
          </a:xfrm>
          <a:prstGeom prst="rect">
            <a:avLst/>
          </a:prstGeom>
          <a:noFill/>
        </p:spPr>
        <p:txBody>
          <a:bodyPr wrap="square" anchor="t" lIns="0" rIns="0" tIns="0" bIns="0">
            <a:spAutoFit/>
          </a:bodyPr>
          <a:lstStyle/>
          <a:p>
            <a:pPr algn="l">
              <a:spcAft>
                <a:spcPts val="600"/>
              </a:spcAft>
            </a:pPr>
            <a:r>
              <a:rPr sz="1600" b="1">
                <a:solidFill>
                  <a:srgbClr val="1E1E1E"/>
                </a:solidFill>
              </a:rPr>
              <a:t>La adaptación</a:t>
            </a:r>
          </a:p>
        </p:txBody>
      </p:sp>
      <p:sp>
        <p:nvSpPr>
          <p:cNvPr id="16" name="TextBox 15"/>
          <p:cNvSpPr txBox="1"/>
          <p:nvPr/>
        </p:nvSpPr>
        <p:spPr>
          <a:xfrm>
            <a:off x="1828800" y="5157216"/>
            <a:ext cx="5120640" cy="640080"/>
          </a:xfrm>
          <a:prstGeom prst="rect">
            <a:avLst/>
          </a:prstGeom>
          <a:noFill/>
        </p:spPr>
        <p:txBody>
          <a:bodyPr wrap="square" anchor="t" lIns="0" rIns="0" tIns="0" bIns="0">
            <a:spAutoFit/>
          </a:bodyPr>
          <a:lstStyle/>
          <a:p>
            <a:pPr algn="l">
              <a:spcAft>
                <a:spcPts val="600"/>
              </a:spcAft>
            </a:pPr>
            <a:r>
              <a:rPr sz="1200" b="0">
                <a:solidFill>
                  <a:srgbClr val="504B4B"/>
                </a:solidFill>
              </a:rPr>
              <a:t>Centrar en la pelvis, girar el tronco a vertical y normalizar por el tamaño del cuerpo; los ángulos no cambian con el giro.</a:t>
            </a:r>
          </a:p>
        </p:txBody>
      </p:sp>
      <p:graphicFrame>
        <p:nvGraphicFramePr>
          <p:cNvPr id="17" name="Table 16"/>
          <p:cNvGraphicFramePr>
            <a:graphicFrameLocks noGrp="1"/>
          </p:cNvGraphicFramePr>
          <p:nvPr/>
        </p:nvGraphicFramePr>
        <p:xfrm>
          <a:off x="7498079" y="2743200"/>
          <a:ext cx="6217920" cy="2286000"/>
        </p:xfrm>
        <a:graphic>
          <a:graphicData uri="http://schemas.openxmlformats.org/drawingml/2006/table">
            <a:tbl>
              <a:tblPr firstRow="1" bandRow="1">
                <a:tableStyleId>{5C22544A-7EE6-4342-B048-85BDC9FD1C3A}</a:tableStyleId>
              </a:tblPr>
              <a:tblGrid>
                <a:gridCol w="1463040"/>
                <a:gridCol w="1554480"/>
                <a:gridCol w="1554480"/>
                <a:gridCol w="1645920"/>
              </a:tblGrid>
              <a:tr h="457200">
                <a:tc>
                  <a:txBody>
                    <a:bodyPr/>
                    <a:lstStyle/>
                    <a:p>
                      <a:r>
                        <a:rPr sz="1200" b="1">
                          <a:solidFill>
                            <a:srgbClr val="FFFFFF"/>
                          </a:solidFill>
                        </a:rPr>
                        <a:t>Ángulo (I / D)</a:t>
                      </a:r>
                    </a:p>
                  </a:txBody>
                  <a:tcPr marL="91440" marR="91440" marT="27432" marB="27432" anchor="ctr">
                    <a:solidFill>
                      <a:srgbClr val="FF3228"/>
                    </a:solidFill>
                  </a:tcPr>
                </a:tc>
                <a:tc>
                  <a:txBody>
                    <a:bodyPr/>
                    <a:lstStyle/>
                    <a:p>
                      <a:r>
                        <a:rPr sz="1200" b="1">
                          <a:solidFill>
                            <a:srgbClr val="FFFFFF"/>
                          </a:solidFill>
                        </a:rPr>
                        <a:t>Mediana 2D</a:t>
                      </a:r>
                    </a:p>
                  </a:txBody>
                  <a:tcPr marL="91440" marR="91440" marT="27432" marB="27432" anchor="ctr">
                    <a:solidFill>
                      <a:srgbClr val="FF3228"/>
                    </a:solidFill>
                  </a:tcPr>
                </a:tc>
                <a:tc>
                  <a:txBody>
                    <a:bodyPr/>
                    <a:lstStyle/>
                    <a:p>
                      <a:r>
                        <a:rPr sz="1200" b="1">
                          <a:solidFill>
                            <a:srgbClr val="FFFFFF"/>
                          </a:solidFill>
                        </a:rPr>
                        <a:t>Mediana 3D</a:t>
                      </a:r>
                    </a:p>
                  </a:txBody>
                  <a:tcPr marL="91440" marR="91440" marT="27432" marB="27432" anchor="ctr">
                    <a:solidFill>
                      <a:srgbClr val="FF3228"/>
                    </a:solidFill>
                  </a:tcPr>
                </a:tc>
                <a:tc>
                  <a:txBody>
                    <a:bodyPr/>
                    <a:lstStyle/>
                    <a:p>
                      <a:r>
                        <a:rPr sz="1200" b="1">
                          <a:solidFill>
                            <a:srgbClr val="FFFFFF"/>
                          </a:solidFill>
                        </a:rPr>
                        <a:t>Correlación</a:t>
                      </a:r>
                    </a:p>
                  </a:txBody>
                  <a:tcPr marL="91440" marR="91440" marT="27432" marB="27432" anchor="ctr">
                    <a:solidFill>
                      <a:srgbClr val="FF3228"/>
                    </a:solidFill>
                  </a:tcPr>
                </a:tc>
              </a:tr>
              <a:tr h="457200">
                <a:tc>
                  <a:txBody>
                    <a:bodyPr/>
                    <a:lstStyle/>
                    <a:p>
                      <a:r>
                        <a:rPr sz="1200" b="0">
                          <a:solidFill>
                            <a:srgbClr val="1E1E1E"/>
                          </a:solidFill>
                        </a:rPr>
                        <a:t>Codo</a:t>
                      </a:r>
                    </a:p>
                  </a:txBody>
                  <a:tcPr marL="91440" marR="91440" marT="27432" marB="27432" anchor="ctr">
                    <a:solidFill>
                      <a:srgbClr val="FFFFFF"/>
                    </a:solidFill>
                  </a:tcPr>
                </a:tc>
                <a:tc>
                  <a:txBody>
                    <a:bodyPr/>
                    <a:lstStyle/>
                    <a:p>
                      <a:r>
                        <a:rPr sz="1200" b="0">
                          <a:solidFill>
                            <a:srgbClr val="1E1E1E"/>
                          </a:solidFill>
                        </a:rPr>
                        <a:t>156° / 144°</a:t>
                      </a:r>
                    </a:p>
                  </a:txBody>
                  <a:tcPr marL="91440" marR="91440" marT="27432" marB="27432" anchor="ctr">
                    <a:solidFill>
                      <a:srgbClr val="FFFFFF"/>
                    </a:solidFill>
                  </a:tcPr>
                </a:tc>
                <a:tc>
                  <a:txBody>
                    <a:bodyPr/>
                    <a:lstStyle/>
                    <a:p>
                      <a:r>
                        <a:rPr sz="1200" b="0">
                          <a:solidFill>
                            <a:srgbClr val="1E1E1E"/>
                          </a:solidFill>
                        </a:rPr>
                        <a:t>158° / 143°</a:t>
                      </a:r>
                    </a:p>
                  </a:txBody>
                  <a:tcPr marL="91440" marR="91440" marT="27432" marB="27432" anchor="ctr">
                    <a:solidFill>
                      <a:srgbClr val="FFFFFF"/>
                    </a:solidFill>
                  </a:tcPr>
                </a:tc>
                <a:tc>
                  <a:txBody>
                    <a:bodyPr/>
                    <a:lstStyle/>
                    <a:p>
                      <a:r>
                        <a:rPr sz="1200" b="0">
                          <a:solidFill>
                            <a:srgbClr val="1E1E1E"/>
                          </a:solidFill>
                        </a:rPr>
                        <a:t>0,51 / −0,08</a:t>
                      </a:r>
                    </a:p>
                  </a:txBody>
                  <a:tcPr marL="91440" marR="91440" marT="27432" marB="27432" anchor="ctr">
                    <a:solidFill>
                      <a:srgbClr val="FFFFFF"/>
                    </a:solidFill>
                  </a:tcPr>
                </a:tc>
              </a:tr>
              <a:tr h="457200">
                <a:tc>
                  <a:txBody>
                    <a:bodyPr/>
                    <a:lstStyle/>
                    <a:p>
                      <a:r>
                        <a:rPr sz="1200" b="0">
                          <a:solidFill>
                            <a:srgbClr val="1E1E1E"/>
                          </a:solidFill>
                        </a:rPr>
                        <a:t>Hombro</a:t>
                      </a:r>
                    </a:p>
                  </a:txBody>
                  <a:tcPr marL="91440" marR="91440" marT="27432" marB="27432" anchor="ctr">
                    <a:solidFill>
                      <a:srgbClr val="EEEDED"/>
                    </a:solidFill>
                  </a:tcPr>
                </a:tc>
                <a:tc>
                  <a:txBody>
                    <a:bodyPr/>
                    <a:lstStyle/>
                    <a:p>
                      <a:r>
                        <a:rPr sz="1200" b="0">
                          <a:solidFill>
                            <a:srgbClr val="1E1E1E"/>
                          </a:solidFill>
                        </a:rPr>
                        <a:t>90° / 81°</a:t>
                      </a:r>
                    </a:p>
                  </a:txBody>
                  <a:tcPr marL="91440" marR="91440" marT="27432" marB="27432" anchor="ctr">
                    <a:solidFill>
                      <a:srgbClr val="EEEDED"/>
                    </a:solidFill>
                  </a:tcPr>
                </a:tc>
                <a:tc>
                  <a:txBody>
                    <a:bodyPr/>
                    <a:lstStyle/>
                    <a:p>
                      <a:r>
                        <a:rPr sz="1200" b="0">
                          <a:solidFill>
                            <a:srgbClr val="1E1E1E"/>
                          </a:solidFill>
                        </a:rPr>
                        <a:t>89° / 92°</a:t>
                      </a:r>
                    </a:p>
                  </a:txBody>
                  <a:tcPr marL="91440" marR="91440" marT="27432" marB="27432" anchor="ctr">
                    <a:solidFill>
                      <a:srgbClr val="EEEDED"/>
                    </a:solidFill>
                  </a:tcPr>
                </a:tc>
                <a:tc>
                  <a:txBody>
                    <a:bodyPr/>
                    <a:lstStyle/>
                    <a:p>
                      <a:r>
                        <a:rPr sz="1200" b="0">
                          <a:solidFill>
                            <a:srgbClr val="1E1E1E"/>
                          </a:solidFill>
                        </a:rPr>
                        <a:t>0,69 / 0,71</a:t>
                      </a:r>
                    </a:p>
                  </a:txBody>
                  <a:tcPr marL="91440" marR="91440" marT="27432" marB="27432" anchor="ctr">
                    <a:solidFill>
                      <a:srgbClr val="EEEDED"/>
                    </a:solidFill>
                  </a:tcPr>
                </a:tc>
              </a:tr>
              <a:tr h="457200">
                <a:tc>
                  <a:txBody>
                    <a:bodyPr/>
                    <a:lstStyle/>
                    <a:p>
                      <a:r>
                        <a:rPr sz="1200" b="0">
                          <a:solidFill>
                            <a:srgbClr val="1E1E1E"/>
                          </a:solidFill>
                        </a:rPr>
                        <a:t>Cadera</a:t>
                      </a:r>
                    </a:p>
                  </a:txBody>
                  <a:tcPr marL="91440" marR="91440" marT="27432" marB="27432" anchor="ctr">
                    <a:solidFill>
                      <a:srgbClr val="FFFFFF"/>
                    </a:solidFill>
                  </a:tcPr>
                </a:tc>
                <a:tc>
                  <a:txBody>
                    <a:bodyPr/>
                    <a:lstStyle/>
                    <a:p>
                      <a:r>
                        <a:rPr sz="1200" b="0">
                          <a:solidFill>
                            <a:srgbClr val="1E1E1E"/>
                          </a:solidFill>
                        </a:rPr>
                        <a:t>171° / 172°</a:t>
                      </a:r>
                    </a:p>
                  </a:txBody>
                  <a:tcPr marL="91440" marR="91440" marT="27432" marB="27432" anchor="ctr">
                    <a:solidFill>
                      <a:srgbClr val="FFFFFF"/>
                    </a:solidFill>
                  </a:tcPr>
                </a:tc>
                <a:tc>
                  <a:txBody>
                    <a:bodyPr/>
                    <a:lstStyle/>
                    <a:p>
                      <a:r>
                        <a:rPr sz="1200" b="0">
                          <a:solidFill>
                            <a:srgbClr val="1E1E1E"/>
                          </a:solidFill>
                        </a:rPr>
                        <a:t>160° / 164°</a:t>
                      </a:r>
                    </a:p>
                  </a:txBody>
                  <a:tcPr marL="91440" marR="91440" marT="27432" marB="27432" anchor="ctr">
                    <a:solidFill>
                      <a:srgbClr val="FFFFFF"/>
                    </a:solidFill>
                  </a:tcPr>
                </a:tc>
                <a:tc>
                  <a:txBody>
                    <a:bodyPr/>
                    <a:lstStyle/>
                    <a:p>
                      <a:r>
                        <a:rPr sz="1200" b="0">
                          <a:solidFill>
                            <a:srgbClr val="1E1E1E"/>
                          </a:solidFill>
                        </a:rPr>
                        <a:t>0,58 / 0,69</a:t>
                      </a:r>
                    </a:p>
                  </a:txBody>
                  <a:tcPr marL="91440" marR="91440" marT="27432" marB="27432" anchor="ctr">
                    <a:solidFill>
                      <a:srgbClr val="FFFFFF"/>
                    </a:solidFill>
                  </a:tcPr>
                </a:tc>
              </a:tr>
              <a:tr h="457200">
                <a:tc>
                  <a:txBody>
                    <a:bodyPr/>
                    <a:lstStyle/>
                    <a:p>
                      <a:r>
                        <a:rPr sz="1200" b="1">
                          <a:solidFill>
                            <a:srgbClr val="1E1E1E"/>
                          </a:solidFill>
                        </a:rPr>
                        <a:t>Rodilla</a:t>
                      </a:r>
                    </a:p>
                  </a:txBody>
                  <a:tcPr marL="91440" marR="91440" marT="27432" marB="27432" anchor="ctr">
                    <a:solidFill>
                      <a:srgbClr val="FFAFAA"/>
                    </a:solidFill>
                  </a:tcPr>
                </a:tc>
                <a:tc>
                  <a:txBody>
                    <a:bodyPr/>
                    <a:lstStyle/>
                    <a:p>
                      <a:r>
                        <a:rPr sz="1200" b="1">
                          <a:solidFill>
                            <a:srgbClr val="1E1E1E"/>
                          </a:solidFill>
                        </a:rPr>
                        <a:t>173° / 173°</a:t>
                      </a:r>
                    </a:p>
                  </a:txBody>
                  <a:tcPr marL="91440" marR="91440" marT="27432" marB="27432" anchor="ctr">
                    <a:solidFill>
                      <a:srgbClr val="FFAFAA"/>
                    </a:solidFill>
                  </a:tcPr>
                </a:tc>
                <a:tc>
                  <a:txBody>
                    <a:bodyPr/>
                    <a:lstStyle/>
                    <a:p>
                      <a:r>
                        <a:rPr sz="1200" b="1">
                          <a:solidFill>
                            <a:srgbClr val="1E1E1E"/>
                          </a:solidFill>
                        </a:rPr>
                        <a:t>107° / 106°</a:t>
                      </a:r>
                    </a:p>
                  </a:txBody>
                  <a:tcPr marL="91440" marR="91440" marT="27432" marB="27432" anchor="ctr">
                    <a:solidFill>
                      <a:srgbClr val="FFAFAA"/>
                    </a:solidFill>
                  </a:tcPr>
                </a:tc>
                <a:tc>
                  <a:txBody>
                    <a:bodyPr/>
                    <a:lstStyle/>
                    <a:p>
                      <a:r>
                        <a:rPr sz="1200" b="1">
                          <a:solidFill>
                            <a:srgbClr val="1E1E1E"/>
                          </a:solidFill>
                        </a:rPr>
                        <a:t>0,01 / −0,04</a:t>
                      </a:r>
                    </a:p>
                  </a:txBody>
                  <a:tcPr marL="91440" marR="91440" marT="27432" marB="27432" anchor="ctr">
                    <a:solidFill>
                      <a:srgbClr val="FFAFAA"/>
                    </a:solidFill>
                  </a:tcPr>
                </a:tc>
              </a:tr>
            </a:tbl>
          </a:graphicData>
        </a:graphic>
      </p:graphicFrame>
      <p:sp>
        <p:nvSpPr>
          <p:cNvPr id="18" name="TextBox 17"/>
          <p:cNvSpPr txBox="1"/>
          <p:nvPr/>
        </p:nvSpPr>
        <p:spPr>
          <a:xfrm>
            <a:off x="7498079" y="5120640"/>
            <a:ext cx="6217920" cy="365760"/>
          </a:xfrm>
          <a:prstGeom prst="rect">
            <a:avLst/>
          </a:prstGeom>
          <a:noFill/>
        </p:spPr>
        <p:txBody>
          <a:bodyPr wrap="square" anchor="t" lIns="0" rIns="0" tIns="0" bIns="0">
            <a:spAutoFit/>
          </a:bodyPr>
          <a:lstStyle/>
          <a:p>
            <a:pPr algn="l">
              <a:spcAft>
                <a:spcPts val="600"/>
              </a:spcAft>
            </a:pPr>
            <a:r>
              <a:rPr sz="1100" b="0">
                <a:solidFill>
                  <a:srgbClr val="504B4B"/>
                </a:solidFill>
              </a:rPr>
              <a:t>Vista lateral, secuencia GX011614, 85 fotogramas (Tabla 14 de la memoria)</a:t>
            </a:r>
          </a:p>
        </p:txBody>
      </p:sp>
      <p:sp>
        <p:nvSpPr>
          <p:cNvPr id="19" name="Rectangle 18"/>
          <p:cNvSpPr/>
          <p:nvPr/>
        </p:nvSpPr>
        <p:spPr>
          <a:xfrm>
            <a:off x="905256" y="5897880"/>
            <a:ext cx="1280160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897880"/>
            <a:ext cx="12252960" cy="914400"/>
          </a:xfrm>
          <a:prstGeom prst="rect">
            <a:avLst/>
          </a:prstGeom>
          <a:noFill/>
        </p:spPr>
        <p:txBody>
          <a:bodyPr wrap="square" anchor="ctr" lIns="0" rIns="0" tIns="0" bIns="0">
            <a:spAutoFit/>
          </a:bodyPr>
          <a:lstStyle/>
          <a:p>
            <a:pPr algn="l">
              <a:spcAft>
                <a:spcPts val="600"/>
              </a:spcAft>
            </a:pPr>
            <a:r>
              <a:rPr sz="1500" b="1">
                <a:solidFill>
                  <a:srgbClr val="FF3228"/>
                </a:solidFill>
              </a:rPr>
              <a:t>Decisión: </a:t>
            </a:r>
            <a:r>
              <a:rPr sz="1500" b="0">
                <a:solidFill>
                  <a:srgbClr val="FFFFFF"/>
                </a:solidFill>
              </a:rPr>
              <a:t>vista lateral → ángulos 2D (el 3D se guarda aparte) · vista frontal u oblicua → ángulos 3D (el 2D se deforma por la perspectiva)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Dos vistas, dos señales de brazada</a:t>
            </a:r>
          </a:p>
        </p:txBody>
      </p:sp>
      <p:sp>
        <p:nvSpPr>
          <p:cNvPr id="4" name="Text Placeholder 3"/>
          <p:cNvSpPr>
            <a:spLocks noGrp="1"/>
          </p:cNvSpPr>
          <p:nvPr>
            <p:ph type="body" idx="18" sz="quarter"/>
          </p:nvPr>
        </p:nvSpPr>
        <p:spPr>
          <a:xfrm>
            <a:ext cx="12344400" cy="0"/>
          </a:xfrm>
        </p:spPr>
        <p:txBody>
          <a:bodyPr/>
          <a:lstStyle/>
          <a:p>
            <a:r>
              <a:t>El sistema decide la vista y usa la señal que esa vista permite ver</a:t>
            </a:r>
          </a:p>
        </p:txBody>
      </p:sp>
      <p:sp>
        <p:nvSpPr>
          <p:cNvPr id="5" name="Rectangle 4"/>
          <p:cNvSpPr/>
          <p:nvPr/>
        </p:nvSpPr>
        <p:spPr>
          <a:xfrm>
            <a:off x="905256" y="2743200"/>
            <a:ext cx="128016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868680"/>
          </a:xfrm>
          <a:prstGeom prst="rect">
            <a:avLst/>
          </a:prstGeom>
          <a:noFill/>
        </p:spPr>
        <p:txBody>
          <a:bodyPr wrap="square" anchor="ctr" lIns="0" rIns="0" tIns="0" bIns="0">
            <a:spAutoFit/>
          </a:bodyPr>
          <a:lstStyle/>
          <a:p>
            <a:pPr algn="l">
              <a:spcAft>
                <a:spcPts val="600"/>
              </a:spcAft>
            </a:pPr>
            <a:r>
              <a:rPr sz="1400" b="1">
                <a:solidFill>
                  <a:srgbClr val="FF3228"/>
                </a:solidFill>
              </a:rPr>
              <a:t>Vista automática: </a:t>
            </a:r>
            <a:r>
              <a:rPr sz="1400" b="0">
                <a:solidFill>
                  <a:srgbClr val="FFFFFF"/>
                </a:solidFill>
              </a:rPr>
              <a:t>tramos de 60 s; un tramo es frontal si ≥ 65 % de sus fotogramas tienen el tronco a &gt; 55° de la horizontal (vídeos reales: laterales ≤ 46 %, frontales ≥ 87 %).</a:t>
            </a:r>
          </a:p>
        </p:txBody>
      </p:sp>
      <p:sp>
        <p:nvSpPr>
          <p:cNvPr id="7" name="Rectangle 6"/>
          <p:cNvSpPr/>
          <p:nvPr/>
        </p:nvSpPr>
        <p:spPr>
          <a:xfrm>
            <a:off x="90525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7957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Lateral · profundidad de la mano</a:t>
            </a:r>
          </a:p>
        </p:txBody>
      </p:sp>
      <p:sp>
        <p:nvSpPr>
          <p:cNvPr id="9" name="TextBox 8"/>
          <p:cNvSpPr txBox="1"/>
          <p:nvPr/>
        </p:nvSpPr>
        <p:spPr>
          <a:xfrm>
            <a:off x="117957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Mano más profunda respecto al eje del tronco, en longitudes de tronco; cada máximo es una brazada. Se toma la más profunda porque YOLO copia el brazo visible en el oculto.</a:t>
            </a:r>
          </a:p>
        </p:txBody>
      </p:sp>
      <p:sp>
        <p:nvSpPr>
          <p:cNvPr id="10" name="Rectangle 9"/>
          <p:cNvSpPr/>
          <p:nvPr/>
        </p:nvSpPr>
        <p:spPr>
          <a:xfrm>
            <a:off x="7443216" y="3794760"/>
            <a:ext cx="6263640" cy="23317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7536" y="4069080"/>
            <a:ext cx="5715000" cy="731520"/>
          </a:xfrm>
          <a:prstGeom prst="rect">
            <a:avLst/>
          </a:prstGeom>
          <a:noFill/>
        </p:spPr>
        <p:txBody>
          <a:bodyPr wrap="square" anchor="t" lIns="0" rIns="0" tIns="0" bIns="0">
            <a:spAutoFit/>
          </a:bodyPr>
          <a:lstStyle/>
          <a:p>
            <a:pPr algn="l">
              <a:spcAft>
                <a:spcPts val="600"/>
              </a:spcAft>
            </a:pPr>
            <a:r>
              <a:rPr sz="1800" b="1">
                <a:solidFill>
                  <a:srgbClr val="FF3228"/>
                </a:solidFill>
              </a:rPr>
              <a:t>Frontal · recorrido de la muñeca (PCA)</a:t>
            </a:r>
          </a:p>
        </p:txBody>
      </p:sp>
      <p:sp>
        <p:nvSpPr>
          <p:cNvPr id="12" name="TextBox 11"/>
          <p:cNvSpPr txBox="1"/>
          <p:nvPr/>
        </p:nvSpPr>
        <p:spPr>
          <a:xfrm>
            <a:off x="7717536" y="4754880"/>
            <a:ext cx="5715000" cy="1188720"/>
          </a:xfrm>
          <a:prstGeom prst="rect">
            <a:avLst/>
          </a:prstGeom>
          <a:noFill/>
        </p:spPr>
        <p:txBody>
          <a:bodyPr wrap="square" anchor="t" lIns="0" rIns="0" tIns="0" bIns="0">
            <a:spAutoFit/>
          </a:bodyPr>
          <a:lstStyle/>
          <a:p>
            <a:pPr algn="l">
              <a:spcAft>
                <a:spcPts val="600"/>
              </a:spcAft>
            </a:pPr>
            <a:r>
              <a:rPr sz="1400" b="0">
                <a:solidFill>
                  <a:srgbClr val="1E1E1E"/>
                </a:solidFill>
              </a:rPr>
              <a:t>Recorrido de cada muñeca respecto al centro de los hombros, proyectado en la 1.ª componente principal, en anchos de hombros. De frente la profundidad no es observable.</a:t>
            </a:r>
          </a:p>
        </p:txBody>
      </p:sp>
      <p:sp>
        <p:nvSpPr>
          <p:cNvPr id="13" name="TextBox 12"/>
          <p:cNvSpPr txBox="1"/>
          <p:nvPr/>
        </p:nvSpPr>
        <p:spPr>
          <a:xfrm>
            <a:off x="905256" y="6309360"/>
            <a:ext cx="12801600" cy="731520"/>
          </a:xfrm>
          <a:prstGeom prst="rect">
            <a:avLst/>
          </a:prstGeom>
          <a:noFill/>
        </p:spPr>
        <p:txBody>
          <a:bodyPr wrap="square" anchor="t" lIns="0" rIns="0" tIns="0" bIns="0">
            <a:spAutoFit/>
          </a:bodyPr>
          <a:lstStyle/>
          <a:p>
            <a:pPr algn="l">
              <a:spcAft>
                <a:spcPts val="600"/>
              </a:spcAft>
            </a:pPr>
            <a:r>
              <a:rPr sz="1300" b="1">
                <a:solidFill>
                  <a:srgbClr val="1E1E1E"/>
                </a:solidFill>
              </a:rPr>
              <a:t>Común: </a:t>
            </a:r>
            <a:r>
              <a:rPr sz="1300" b="0">
                <a:solidFill>
                  <a:srgbClr val="1E1E1E"/>
                </a:solidFill>
              </a:rPr>
              <a:t>ritmo = mediana de los intervalos dentro del rango del estilo (crol 0,35-1,0 s; mariposa 0,7-2,0 s; braza 0,7-2,4 s) · ciclo válido de 0,6-3,0 s con ≤ 30 % de datos ausentes · mínimos y máximos por ciclo con percentiles 10 y 90.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Contar brazadas con la mano</a:t>
            </a:r>
          </a:p>
        </p:txBody>
      </p:sp>
      <p:sp>
        <p:nvSpPr>
          <p:cNvPr id="4" name="Text Placeholder 3"/>
          <p:cNvSpPr>
            <a:spLocks noGrp="1"/>
          </p:cNvSpPr>
          <p:nvPr>
            <p:ph type="body" idx="18" sz="quarter"/>
          </p:nvPr>
        </p:nvSpPr>
        <p:spPr>
          <a:xfrm>
            <a:ext cx="12344400" cy="0"/>
          </a:xfrm>
        </p:spPr>
        <p:txBody>
          <a:bodyPr/>
          <a:lstStyle/>
          <a:p>
            <a:r>
              <a:t>La mano más profunda respecto al eje del cuerpo marca cada brazada</a:t>
            </a:r>
          </a:p>
        </p:txBody>
      </p:sp>
      <p:pic>
        <p:nvPicPr>
          <p:cNvPr id="5" name="Picture 4" descr="aaron_brazadas.png"/>
          <p:cNvPicPr>
            <a:picLocks noChangeAspect="1"/>
          </p:cNvPicPr>
          <p:nvPr/>
        </p:nvPicPr>
        <p:blipFill>
          <a:blip r:embed="rId3"/>
          <a:stretch>
            <a:fillRect/>
          </a:stretch>
        </p:blipFill>
        <p:spPr>
          <a:xfrm>
            <a:off x="905256" y="3114446"/>
            <a:ext cx="7680960" cy="2457907"/>
          </a:xfrm>
          <a:prstGeom prst="rect">
            <a:avLst/>
          </a:prstGeom>
        </p:spPr>
      </p:pic>
      <p:graphicFrame>
        <p:nvGraphicFramePr>
          <p:cNvPr id="6" name="Table 5"/>
          <p:cNvGraphicFramePr>
            <a:graphicFrameLocks noGrp="1"/>
          </p:cNvGraphicFramePr>
          <p:nvPr/>
        </p:nvGraphicFramePr>
        <p:xfrm>
          <a:off x="8961120" y="283464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7" name="TextBox 6"/>
          <p:cNvSpPr txBox="1"/>
          <p:nvPr/>
        </p:nvSpPr>
        <p:spPr>
          <a:xfrm>
            <a:off x="8961120" y="4846320"/>
            <a:ext cx="4754880" cy="548640"/>
          </a:xfrm>
          <a:prstGeom prst="rect">
            <a:avLst/>
          </a:prstGeom>
          <a:noFill/>
        </p:spPr>
        <p:txBody>
          <a:bodyPr wrap="square" anchor="t" lIns="0" rIns="0" tIns="0" bIns="0">
            <a:spAutoFit/>
          </a:bodyPr>
          <a:lstStyle/>
          <a:p>
            <a:pPr algn="l">
              <a:spcAft>
                <a:spcPts val="600"/>
              </a:spcAft>
            </a:pPr>
            <a:r>
              <a:rPr sz="1100" b="0">
                <a:solidFill>
                  <a:srgbClr val="504B4B"/>
                </a:solidFill>
              </a:rPr>
              <a:t>Frecuencia de ciclo (ciclos/min) frente al conteo manual</a:t>
            </a:r>
          </a:p>
        </p:txBody>
      </p:sp>
      <p:sp>
        <p:nvSpPr>
          <p:cNvPr id="8" name="TextBox 7"/>
          <p:cNvSpPr txBox="1"/>
          <p:nvPr/>
        </p:nvSpPr>
        <p:spPr>
          <a:xfrm>
            <a:off x="905256" y="6126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Gris: intervalo del conteo manual (segundos 30-40). Triángulos: brazadas detectadas.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¿Por qué Isolation Forest?</a:t>
            </a:r>
          </a:p>
        </p:txBody>
      </p:sp>
      <p:sp>
        <p:nvSpPr>
          <p:cNvPr id="4" name="Text Placeholder 3"/>
          <p:cNvSpPr>
            <a:spLocks noGrp="1"/>
          </p:cNvSpPr>
          <p:nvPr>
            <p:ph type="body" idx="18" sz="quarter"/>
          </p:nvPr>
        </p:nvSpPr>
        <p:spPr>
          <a:xfrm>
            <a:ext cx="12344400" cy="0"/>
          </a:xfrm>
        </p:spPr>
        <p:txBody>
          <a:bodyPr/>
          <a:lstStyle/>
          <a:p>
            <a:r>
              <a:t>Sin etiquetas de fatiga: se busca lo que se aparta del nadador fresco</a:t>
            </a:r>
          </a:p>
        </p:txBody>
      </p:sp>
      <p:sp>
        <p:nvSpPr>
          <p:cNvPr id="5" name="Rectangle 4"/>
          <p:cNvSpPr/>
          <p:nvPr/>
        </p:nvSpPr>
        <p:spPr>
          <a:xfrm>
            <a:off x="905256" y="2743200"/>
            <a:ext cx="6035040" cy="13258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926080"/>
            <a:ext cx="5486400" cy="365760"/>
          </a:xfrm>
          <a:prstGeom prst="rect">
            <a:avLst/>
          </a:prstGeom>
          <a:noFill/>
        </p:spPr>
        <p:txBody>
          <a:bodyPr wrap="square" anchor="t" lIns="0" rIns="0" tIns="0" bIns="0">
            <a:spAutoFit/>
          </a:bodyPr>
          <a:lstStyle/>
          <a:p>
            <a:pPr algn="l">
              <a:spcAft>
                <a:spcPts val="600"/>
              </a:spcAft>
            </a:pPr>
            <a:r>
              <a:rPr sz="1600" b="1">
                <a:solidFill>
                  <a:srgbClr val="504B4B"/>
                </a:solidFill>
              </a:rPr>
              <a:t>Plan inicial: red recurrente supervisada</a:t>
            </a:r>
          </a:p>
        </p:txBody>
      </p:sp>
      <p:sp>
        <p:nvSpPr>
          <p:cNvPr id="7" name="TextBox 6"/>
          <p:cNvSpPr txBox="1"/>
          <p:nvPr/>
        </p:nvSpPr>
        <p:spPr>
          <a:xfrm>
            <a:off x="1188720" y="3383280"/>
            <a:ext cx="5486400" cy="640080"/>
          </a:xfrm>
          <a:prstGeom prst="rect">
            <a:avLst/>
          </a:prstGeom>
          <a:noFill/>
        </p:spPr>
        <p:txBody>
          <a:bodyPr wrap="square" anchor="t" lIns="0" rIns="0" tIns="0" bIns="0">
            <a:spAutoFit/>
          </a:bodyPr>
          <a:lstStyle/>
          <a:p>
            <a:pPr algn="l">
              <a:spcAft>
                <a:spcPts val="600"/>
              </a:spcAft>
            </a:pPr>
            <a:r>
              <a:rPr sz="1400" b="0">
                <a:solidFill>
                  <a:srgbClr val="1E1E1E"/>
                </a:solidFill>
              </a:rPr>
              <a:t>Necesita ciclos etiquetados como «fatigados»: no existen.</a:t>
            </a:r>
          </a:p>
        </p:txBody>
      </p:sp>
      <p:sp>
        <p:nvSpPr>
          <p:cNvPr id="8" name="Rectangle 7"/>
          <p:cNvSpPr/>
          <p:nvPr/>
        </p:nvSpPr>
        <p:spPr>
          <a:xfrm>
            <a:off x="905256" y="4206240"/>
            <a:ext cx="6035040" cy="26517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389120"/>
            <a:ext cx="5486400" cy="365760"/>
          </a:xfrm>
          <a:prstGeom prst="rect">
            <a:avLst/>
          </a:prstGeom>
          <a:noFill/>
        </p:spPr>
        <p:txBody>
          <a:bodyPr wrap="square" anchor="t" lIns="0" rIns="0" tIns="0" bIns="0">
            <a:spAutoFit/>
          </a:bodyPr>
          <a:lstStyle/>
          <a:p>
            <a:pPr algn="l">
              <a:spcAft>
                <a:spcPts val="600"/>
              </a:spcAft>
            </a:pPr>
            <a:r>
              <a:rPr sz="1600" b="1">
                <a:solidFill>
                  <a:srgbClr val="FFFFFF"/>
                </a:solidFill>
              </a:rPr>
              <a:t>Elegido: Isolation Forest (no supervisado)</a:t>
            </a:r>
          </a:p>
        </p:txBody>
      </p:sp>
      <p:sp>
        <p:nvSpPr>
          <p:cNvPr id="10" name="TextBox 9"/>
          <p:cNvSpPr txBox="1"/>
          <p:nvPr/>
        </p:nvSpPr>
        <p:spPr>
          <a:xfrm>
            <a:off x="1188720" y="4892040"/>
            <a:ext cx="5486400" cy="1920240"/>
          </a:xfrm>
          <a:prstGeom prst="rect">
            <a:avLst/>
          </a:prstGeom>
          <a:noFill/>
        </p:spPr>
        <p:txBody>
          <a:bodyPr wrap="square" anchor="t" lIns="0" rIns="0" tIns="0" bIns="0">
            <a:spAutoFit/>
          </a:bodyPr>
          <a:lstStyle/>
          <a:p>
            <a:pPr algn="l">
              <a:spcAft>
                <a:spcPts val="600"/>
              </a:spcAft>
            </a:pPr>
            <a:r>
              <a:rPr sz="1400" b="0">
                <a:solidFill>
                  <a:srgbClr val="FFFFFF"/>
                </a:solidFill>
              </a:rPr>
              <a:t>•  Se entrena solo con la fase fresca del propio nadador</a:t>
            </a:r>
          </a:p>
          <a:p>
            <a:pPr algn="l">
              <a:spcAft>
                <a:spcPts val="600"/>
              </a:spcAft>
            </a:pPr>
            <a:r>
              <a:rPr sz="1400" b="0">
                <a:solidFill>
                  <a:srgbClr val="FFFFFF"/>
                </a:solidFill>
              </a:rPr>
              <a:t>•  No supone ninguna distribución de los datos</a:t>
            </a:r>
          </a:p>
          <a:p>
            <a:pPr algn="l">
              <a:spcAft>
                <a:spcPts val="600"/>
              </a:spcAft>
            </a:pPr>
            <a:r>
              <a:rPr sz="1400" b="0">
                <a:solidFill>
                  <a:srgbClr val="FFFFFF"/>
                </a:solidFill>
              </a:rPr>
              <a:t>•  Coste lineal: viable en la CPU</a:t>
            </a:r>
          </a:p>
          <a:p>
            <a:pPr algn="l">
              <a:spcAft>
                <a:spcPts val="600"/>
              </a:spcAft>
            </a:pPr>
            <a:r>
              <a:rPr sz="1400" b="0">
                <a:solidFill>
                  <a:srgbClr val="FFFFFF"/>
                </a:solidFill>
              </a:rPr>
              <a:t>•  Admite SHAP exacto (TreeSHAP)</a:t>
            </a:r>
          </a:p>
        </p:txBody>
      </p:sp>
      <p:sp>
        <p:nvSpPr>
          <p:cNvPr id="11" name="TextBox 10"/>
          <p:cNvSpPr txBox="1"/>
          <p:nvPr/>
        </p:nvSpPr>
        <p:spPr>
          <a:xfrm>
            <a:off x="7315200" y="2743200"/>
            <a:ext cx="6400800" cy="365760"/>
          </a:xfrm>
          <a:prstGeom prst="rect">
            <a:avLst/>
          </a:prstGeom>
          <a:noFill/>
        </p:spPr>
        <p:txBody>
          <a:bodyPr wrap="square" anchor="t" lIns="0" rIns="0" tIns="0" bIns="0">
            <a:spAutoFit/>
          </a:bodyPr>
          <a:lstStyle/>
          <a:p>
            <a:pPr algn="l">
              <a:spcAft>
                <a:spcPts val="600"/>
              </a:spcAft>
            </a:pPr>
            <a:r>
              <a:rPr sz="1800" b="1">
                <a:solidFill>
                  <a:srgbClr val="FF3228"/>
                </a:solidFill>
              </a:rPr>
              <a:t>Cómo funciona</a:t>
            </a:r>
          </a:p>
        </p:txBody>
      </p:sp>
      <p:sp>
        <p:nvSpPr>
          <p:cNvPr id="12" name="TextBox 11"/>
          <p:cNvSpPr txBox="1"/>
          <p:nvPr/>
        </p:nvSpPr>
        <p:spPr>
          <a:xfrm>
            <a:off x="7315200" y="3200400"/>
            <a:ext cx="6400800" cy="640080"/>
          </a:xfrm>
          <a:prstGeom prst="rect">
            <a:avLst/>
          </a:prstGeom>
          <a:noFill/>
        </p:spPr>
        <p:txBody>
          <a:bodyPr wrap="square" anchor="t" lIns="0" rIns="0" tIns="0" bIns="0">
            <a:spAutoFit/>
          </a:bodyPr>
          <a:lstStyle/>
          <a:p>
            <a:pPr algn="l">
              <a:spcAft>
                <a:spcPts val="600"/>
              </a:spcAft>
            </a:pPr>
            <a:r>
              <a:rPr sz="1400" b="0">
                <a:solidFill>
                  <a:srgbClr val="1E1E1E"/>
                </a:solidFill>
              </a:rPr>
              <a:t>Los ciclos anómalos son escasos y distintos: se aíslan con menos cortes aleatorios que los normales.</a:t>
            </a:r>
          </a:p>
        </p:txBody>
      </p:sp>
      <p:sp>
        <p:nvSpPr>
          <p:cNvPr id="13" name="Rectangle 12"/>
          <p:cNvSpPr/>
          <p:nvPr/>
        </p:nvSpPr>
        <p:spPr>
          <a:xfrm>
            <a:off x="7315200" y="3886200"/>
            <a:ext cx="6400800" cy="8686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3886200"/>
            <a:ext cx="6400800" cy="548640"/>
          </a:xfrm>
          <a:prstGeom prst="rect">
            <a:avLst/>
          </a:prstGeom>
          <a:noFill/>
        </p:spPr>
        <p:txBody>
          <a:bodyPr wrap="square" anchor="ctr" lIns="0" rIns="0" tIns="0" bIns="0">
            <a:spAutoFit/>
          </a:bodyPr>
          <a:lstStyle/>
          <a:p>
            <a:pPr algn="ctr">
              <a:spcAft>
                <a:spcPts val="600"/>
              </a:spcAft>
            </a:pPr>
            <a:r>
              <a:rPr sz="2000" b="1">
                <a:solidFill>
                  <a:srgbClr val="FFFFFF"/>
                </a:solidFill>
              </a:rPr>
              <a:t>s(x, n) = 2^(−E[h(x)] / c(n))</a:t>
            </a:r>
          </a:p>
        </p:txBody>
      </p:sp>
      <p:sp>
        <p:nvSpPr>
          <p:cNvPr id="15" name="TextBox 14"/>
          <p:cNvSpPr txBox="1"/>
          <p:nvPr/>
        </p:nvSpPr>
        <p:spPr>
          <a:xfrm>
            <a:off x="7315200" y="4434840"/>
            <a:ext cx="6400800" cy="320040"/>
          </a:xfrm>
          <a:prstGeom prst="rect">
            <a:avLst/>
          </a:prstGeom>
          <a:noFill/>
        </p:spPr>
        <p:txBody>
          <a:bodyPr wrap="square" anchor="t" lIns="0" rIns="0" tIns="0" bIns="0">
            <a:spAutoFit/>
          </a:bodyPr>
          <a:lstStyle/>
          <a:p>
            <a:pPr algn="ctr">
              <a:spcAft>
                <a:spcPts val="600"/>
              </a:spcAft>
            </a:pPr>
            <a:r>
              <a:rPr sz="1100" b="0">
                <a:solidFill>
                  <a:srgbClr val="FFFFFF"/>
                </a:solidFill>
              </a:rPr>
              <a:t>h(x): cortes hasta aislar el ciclo · próximo a 1 = anómalo · &lt; 0,5 = normal</a:t>
            </a:r>
          </a:p>
        </p:txBody>
      </p:sp>
      <p:sp>
        <p:nvSpPr>
          <p:cNvPr id="16" name="TextBox 15"/>
          <p:cNvSpPr txBox="1"/>
          <p:nvPr/>
        </p:nvSpPr>
        <p:spPr>
          <a:xfrm>
            <a:off x="7315200" y="4937760"/>
            <a:ext cx="6400800" cy="365760"/>
          </a:xfrm>
          <a:prstGeom prst="rect">
            <a:avLst/>
          </a:prstGeom>
          <a:noFill/>
        </p:spPr>
        <p:txBody>
          <a:bodyPr wrap="square" anchor="t" lIns="0" rIns="0" tIns="0" bIns="0">
            <a:spAutoFit/>
          </a:bodyPr>
          <a:lstStyle/>
          <a:p>
            <a:pPr algn="l">
              <a:spcAft>
                <a:spcPts val="600"/>
              </a:spcAft>
            </a:pPr>
            <a:r>
              <a:rPr sz="1600" b="1">
                <a:solidFill>
                  <a:srgbClr val="1E1E1E"/>
                </a:solidFill>
              </a:rPr>
              <a:t>Configuración</a:t>
            </a:r>
          </a:p>
        </p:txBody>
      </p:sp>
      <p:sp>
        <p:nvSpPr>
          <p:cNvPr id="17" name="TextBox 16"/>
          <p:cNvSpPr txBox="1"/>
          <p:nvPr/>
        </p:nvSpPr>
        <p:spPr>
          <a:xfrm>
            <a:off x="7315200" y="5349240"/>
            <a:ext cx="6400800" cy="1554480"/>
          </a:xfrm>
          <a:prstGeom prst="rect">
            <a:avLst/>
          </a:prstGeom>
          <a:noFill/>
        </p:spPr>
        <p:txBody>
          <a:bodyPr wrap="square" anchor="t" lIns="0" rIns="0" tIns="0" bIns="0">
            <a:spAutoFit/>
          </a:bodyPr>
          <a:lstStyle/>
          <a:p>
            <a:pPr algn="l">
              <a:spcAft>
                <a:spcPts val="500"/>
              </a:spcAft>
            </a:pPr>
            <a:r>
              <a:rPr sz="1300" b="0">
                <a:solidFill>
                  <a:srgbClr val="1E1E1E"/>
                </a:solidFill>
              </a:rPr>
              <a:t>•  Variables estandarizadas con la fase base: z = (x − μ) / σ</a:t>
            </a:r>
          </a:p>
          <a:p>
            <a:pPr algn="l">
              <a:spcAft>
                <a:spcPts val="500"/>
              </a:spcAft>
            </a:pPr>
            <a:r>
              <a:rPr sz="1300" b="0">
                <a:solidFill>
                  <a:srgbClr val="1E1E1E"/>
                </a:solidFill>
              </a:rPr>
              <a:t>•  500 árboles · fase base = primer 30 % de los ciclos (mín. 5) · mínimo 8 ciclos</a:t>
            </a:r>
          </a:p>
          <a:p>
            <a:pPr algn="l">
              <a:spcAft>
                <a:spcPts val="500"/>
              </a:spcAft>
            </a:pPr>
            <a:r>
              <a:rPr sz="1300" b="0">
                <a:solidFill>
                  <a:srgbClr val="1E1E1E"/>
                </a:solidFill>
              </a:rPr>
              <a:t>•  Fuera las redundantes: velocidad (= SR · DPS), SI y potencia (∝ v³)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Fatiga: desviación del patrón fresco</a:t>
            </a:r>
          </a:p>
        </p:txBody>
      </p:sp>
      <p:sp>
        <p:nvSpPr>
          <p:cNvPr id="4" name="Text Placeholder 3"/>
          <p:cNvSpPr>
            <a:spLocks noGrp="1"/>
          </p:cNvSpPr>
          <p:nvPr>
            <p:ph type="body" idx="18" sz="quarter"/>
          </p:nvPr>
        </p:nvSpPr>
        <p:spPr>
          <a:xfrm>
            <a:ext cx="12344400" cy="0"/>
          </a:xfrm>
        </p:spPr>
        <p:txBody>
          <a:bodyPr/>
          <a:lstStyle/>
          <a:p>
            <a:r>
              <a:t>Aprendizaje no supervisado: no hacen falta etiquetas de fatiga</a:t>
            </a:r>
          </a:p>
        </p:txBody>
      </p:sp>
      <p:sp>
        <p:nvSpPr>
          <p:cNvPr id="5" name="Rectangle 4"/>
          <p:cNvSpPr/>
          <p:nvPr/>
        </p:nvSpPr>
        <p:spPr>
          <a:xfrm>
            <a:off x="905256" y="278892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8892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1</a:t>
            </a:r>
          </a:p>
        </p:txBody>
      </p:sp>
      <p:sp>
        <p:nvSpPr>
          <p:cNvPr id="7" name="TextBox 6"/>
          <p:cNvSpPr txBox="1"/>
          <p:nvPr/>
        </p:nvSpPr>
        <p:spPr>
          <a:xfrm>
            <a:off x="1828800" y="278892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Fase fresca</a:t>
            </a:r>
          </a:p>
        </p:txBody>
      </p:sp>
      <p:sp>
        <p:nvSpPr>
          <p:cNvPr id="8" name="TextBox 7"/>
          <p:cNvSpPr txBox="1"/>
          <p:nvPr/>
        </p:nvSpPr>
        <p:spPr>
          <a:xfrm>
            <a:off x="1828800" y="317296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Primer 30 % de ciclos del propio nadador</a:t>
            </a:r>
          </a:p>
        </p:txBody>
      </p:sp>
      <p:sp>
        <p:nvSpPr>
          <p:cNvPr id="9" name="Rectangle 8"/>
          <p:cNvSpPr/>
          <p:nvPr/>
        </p:nvSpPr>
        <p:spPr>
          <a:xfrm>
            <a:off x="905256" y="3840479"/>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3840479"/>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2</a:t>
            </a:r>
          </a:p>
        </p:txBody>
      </p:sp>
      <p:sp>
        <p:nvSpPr>
          <p:cNvPr id="11" name="TextBox 10"/>
          <p:cNvSpPr txBox="1"/>
          <p:nvPr/>
        </p:nvSpPr>
        <p:spPr>
          <a:xfrm>
            <a:off x="1828800" y="3840479"/>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Isolation Forest</a:t>
            </a:r>
          </a:p>
        </p:txBody>
      </p:sp>
      <p:sp>
        <p:nvSpPr>
          <p:cNvPr id="12" name="TextBox 11"/>
          <p:cNvSpPr txBox="1"/>
          <p:nvPr/>
        </p:nvSpPr>
        <p:spPr>
          <a:xfrm>
            <a:off x="1828800" y="4224527"/>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Puntúa la anomalía de cada ciclo</a:t>
            </a:r>
          </a:p>
        </p:txBody>
      </p:sp>
      <p:sp>
        <p:nvSpPr>
          <p:cNvPr id="13" name="Rectangle 12"/>
          <p:cNvSpPr/>
          <p:nvPr/>
        </p:nvSpPr>
        <p:spPr>
          <a:xfrm>
            <a:off x="905256" y="489204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89204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3</a:t>
            </a:r>
          </a:p>
        </p:txBody>
      </p:sp>
      <p:sp>
        <p:nvSpPr>
          <p:cNvPr id="15" name="TextBox 14"/>
          <p:cNvSpPr txBox="1"/>
          <p:nvPr/>
        </p:nvSpPr>
        <p:spPr>
          <a:xfrm>
            <a:off x="1828800" y="489204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Inicio de la fatiga</a:t>
            </a:r>
          </a:p>
        </p:txBody>
      </p:sp>
      <p:sp>
        <p:nvSpPr>
          <p:cNvPr id="16" name="TextBox 15"/>
          <p:cNvSpPr txBox="1"/>
          <p:nvPr/>
        </p:nvSpPr>
        <p:spPr>
          <a:xfrm>
            <a:off x="1828800" y="527608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3 ciclos seguidos sobre el p95 fresco; contraste con PELT</a:t>
            </a:r>
          </a:p>
        </p:txBody>
      </p:sp>
      <p:sp>
        <p:nvSpPr>
          <p:cNvPr id="17" name="Rectangle 16"/>
          <p:cNvSpPr/>
          <p:nvPr/>
        </p:nvSpPr>
        <p:spPr>
          <a:xfrm>
            <a:off x="905256" y="5943600"/>
            <a:ext cx="731520" cy="73152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5943600"/>
            <a:ext cx="731520" cy="731520"/>
          </a:xfrm>
          <a:prstGeom prst="rect">
            <a:avLst/>
          </a:prstGeom>
          <a:noFill/>
        </p:spPr>
        <p:txBody>
          <a:bodyPr wrap="square" anchor="ctr" lIns="0" rIns="0" tIns="0" bIns="0">
            <a:spAutoFit/>
          </a:bodyPr>
          <a:lstStyle/>
          <a:p>
            <a:pPr algn="ctr">
              <a:spcAft>
                <a:spcPts val="600"/>
              </a:spcAft>
            </a:pPr>
            <a:r>
              <a:rPr sz="2400" b="1">
                <a:solidFill>
                  <a:srgbClr val="FFFFFF"/>
                </a:solidFill>
              </a:rPr>
              <a:t>4</a:t>
            </a:r>
          </a:p>
        </p:txBody>
      </p:sp>
      <p:sp>
        <p:nvSpPr>
          <p:cNvPr id="19" name="TextBox 18"/>
          <p:cNvSpPr txBox="1"/>
          <p:nvPr/>
        </p:nvSpPr>
        <p:spPr>
          <a:xfrm>
            <a:off x="1828800" y="5943600"/>
            <a:ext cx="3931920" cy="365760"/>
          </a:xfrm>
          <a:prstGeom prst="rect">
            <a:avLst/>
          </a:prstGeom>
          <a:noFill/>
        </p:spPr>
        <p:txBody>
          <a:bodyPr wrap="square" anchor="t" lIns="0" rIns="0" tIns="0" bIns="0">
            <a:spAutoFit/>
          </a:bodyPr>
          <a:lstStyle/>
          <a:p>
            <a:pPr algn="l">
              <a:spcAft>
                <a:spcPts val="600"/>
              </a:spcAft>
            </a:pPr>
            <a:r>
              <a:rPr sz="1600" b="1">
                <a:solidFill>
                  <a:srgbClr val="1E1E1E"/>
                </a:solidFill>
              </a:rPr>
              <a:t>TreeSHAP</a:t>
            </a:r>
          </a:p>
        </p:txBody>
      </p:sp>
      <p:sp>
        <p:nvSpPr>
          <p:cNvPr id="20" name="TextBox 19"/>
          <p:cNvSpPr txBox="1"/>
          <p:nvPr/>
        </p:nvSpPr>
        <p:spPr>
          <a:xfrm>
            <a:off x="1828800" y="6327648"/>
            <a:ext cx="3931920" cy="548640"/>
          </a:xfrm>
          <a:prstGeom prst="rect">
            <a:avLst/>
          </a:prstGeom>
          <a:noFill/>
        </p:spPr>
        <p:txBody>
          <a:bodyPr wrap="square" anchor="t" lIns="0" rIns="0" tIns="0" bIns="0">
            <a:spAutoFit/>
          </a:bodyPr>
          <a:lstStyle/>
          <a:p>
            <a:pPr algn="l">
              <a:spcAft>
                <a:spcPts val="600"/>
              </a:spcAft>
            </a:pPr>
            <a:r>
              <a:rPr sz="1300" b="0">
                <a:solidFill>
                  <a:srgbClr val="504B4B"/>
                </a:solidFill>
              </a:rPr>
              <a:t>Qué variable empuja cada ciclo hacia la fatiga</a:t>
            </a:r>
          </a:p>
        </p:txBody>
      </p:sp>
      <p:pic>
        <p:nvPicPr>
          <p:cNvPr id="21" name="Picture 20" descr="sintetico_fatiga_timeline.png"/>
          <p:cNvPicPr>
            <a:picLocks noChangeAspect="1"/>
          </p:cNvPicPr>
          <p:nvPr/>
        </p:nvPicPr>
        <p:blipFill>
          <a:blip r:embed="rId3"/>
          <a:stretch>
            <a:fillRect/>
          </a:stretch>
        </p:blipFill>
        <p:spPr>
          <a:xfrm>
            <a:off x="6126480" y="2857500"/>
            <a:ext cx="7589520" cy="3794760"/>
          </a:xfrm>
          <a:prstGeom prst="rect">
            <a:avLst/>
          </a:prstGeom>
        </p:spPr>
      </p:pic>
      <p:sp>
        <p:nvSpPr>
          <p:cNvPr id="22" name="TextBox 21"/>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datos sintéticos con fatiga programada (referencia conocida), no un nadador real.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Umbral e inicio: elegidos con datos</a:t>
            </a:r>
          </a:p>
        </p:txBody>
      </p:sp>
      <p:sp>
        <p:nvSpPr>
          <p:cNvPr id="4" name="Text Placeholder 3"/>
          <p:cNvSpPr>
            <a:spLocks noGrp="1"/>
          </p:cNvSpPr>
          <p:nvPr>
            <p:ph type="body" idx="18" sz="quarter"/>
          </p:nvPr>
        </p:nvSpPr>
        <p:spPr>
          <a:xfrm>
            <a:ext cx="12344400" cy="0"/>
          </a:xfrm>
        </p:spPr>
        <p:txBody>
          <a:bodyPr/>
          <a:lstStyle/>
          <a:p>
            <a:r>
              <a:t>Sensibilidad con fatiga programada entre t = 59 s y t = 81 s</a:t>
            </a:r>
          </a:p>
        </p:txBody>
      </p:sp>
      <p:graphicFrame>
        <p:nvGraphicFramePr>
          <p:cNvPr id="5" name="Table 4"/>
          <p:cNvGraphicFramePr>
            <a:graphicFrameLocks noGrp="1"/>
          </p:cNvGraphicFramePr>
          <p:nvPr/>
        </p:nvGraphicFramePr>
        <p:xfrm>
          <a:off x="905256" y="2743200"/>
          <a:ext cx="7223760" cy="2011680"/>
        </p:xfrm>
        <a:graphic>
          <a:graphicData uri="http://schemas.openxmlformats.org/drawingml/2006/table">
            <a:tbl>
              <a:tblPr firstRow="1" bandRow="1">
                <a:tableStyleId>{5C22544A-7EE6-4342-B048-85BDC9FD1C3A}</a:tableStyleId>
              </a:tblPr>
              <a:tblGrid>
                <a:gridCol w="2286000"/>
                <a:gridCol w="1463040"/>
                <a:gridCol w="1828800"/>
                <a:gridCol w="1645920"/>
              </a:tblGrid>
              <a:tr h="502920">
                <a:tc>
                  <a:txBody>
                    <a:bodyPr/>
                    <a:lstStyle/>
                    <a:p>
                      <a:r>
                        <a:rPr sz="1300" b="1">
                          <a:solidFill>
                            <a:srgbClr val="FFFFFF"/>
                          </a:solidFill>
                        </a:rPr>
                        <a:t>Percentil del umbral</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Falsas alarmas</a:t>
                      </a:r>
                    </a:p>
                  </a:txBody>
                  <a:tcPr marL="91440" marR="91440" marT="27432" marB="27432" anchor="ctr">
                    <a:solidFill>
                      <a:srgbClr val="FF3228"/>
                    </a:solidFill>
                  </a:tcPr>
                </a:tc>
                <a:tc>
                  <a:txBody>
                    <a:bodyPr/>
                    <a:lstStyle/>
                    <a:p>
                      <a:r>
                        <a:rPr sz="1300" b="1">
                          <a:solidFill>
                            <a:srgbClr val="FFFFFF"/>
                          </a:solidFill>
                        </a:rPr>
                        <a:t>Inicio medio</a:t>
                      </a:r>
                    </a:p>
                  </a:txBody>
                  <a:tcPr marL="91440" marR="91440" marT="27432" marB="27432" anchor="ctr">
                    <a:solidFill>
                      <a:srgbClr val="FF3228"/>
                    </a:solidFill>
                  </a:tcPr>
                </a:tc>
              </a:tr>
              <a:tr h="502920">
                <a:tc>
                  <a:txBody>
                    <a:bodyPr/>
                    <a:lstStyle/>
                    <a:p>
                      <a:r>
                        <a:rPr sz="1300" b="0">
                          <a:solidFill>
                            <a:srgbClr val="1E1E1E"/>
                          </a:solidFill>
                        </a:rPr>
                        <a:t>90</a:t>
                      </a:r>
                    </a:p>
                  </a:txBody>
                  <a:tcPr marL="91440" marR="91440" marT="27432" marB="27432" anchor="ctr">
                    <a:solidFill>
                      <a:srgbClr val="FFFFFF"/>
                    </a:solidFill>
                  </a:tcPr>
                </a:tc>
                <a:tc>
                  <a:txBody>
                    <a:bodyPr/>
                    <a:lstStyle/>
                    <a:p>
                      <a:r>
                        <a:rPr sz="1300" b="0">
                          <a:solidFill>
                            <a:srgbClr val="1E1E1E"/>
                          </a:solidFill>
                        </a:rPr>
                        <a:t>100 %</a:t>
                      </a:r>
                    </a:p>
                  </a:txBody>
                  <a:tcPr marL="91440" marR="91440" marT="27432" marB="27432" anchor="ctr">
                    <a:solidFill>
                      <a:srgbClr val="FFFFFF"/>
                    </a:solidFill>
                  </a:tcPr>
                </a:tc>
                <a:tc>
                  <a:txBody>
                    <a:bodyPr/>
                    <a:lstStyle/>
                    <a:p>
                      <a:r>
                        <a:rPr sz="1300" b="0">
                          <a:solidFill>
                            <a:srgbClr val="1E1E1E"/>
                          </a:solidFill>
                        </a:rPr>
                        <a:t>30 %</a:t>
                      </a:r>
                    </a:p>
                  </a:txBody>
                  <a:tcPr marL="91440" marR="91440" marT="27432" marB="27432" anchor="ctr">
                    <a:solidFill>
                      <a:srgbClr val="FFFFFF"/>
                    </a:solidFill>
                  </a:tcPr>
                </a:tc>
                <a:tc>
                  <a:txBody>
                    <a:bodyPr/>
                    <a:lstStyle/>
                    <a:p>
                      <a:r>
                        <a:rPr sz="1300" b="0">
                          <a:solidFill>
                            <a:srgbClr val="1E1E1E"/>
                          </a:solidFill>
                        </a:rPr>
                        <a:t>64,1 s</a:t>
                      </a:r>
                    </a:p>
                  </a:txBody>
                  <a:tcPr marL="91440" marR="91440" marT="27432" marB="27432" anchor="ctr">
                    <a:solidFill>
                      <a:srgbClr val="FFFFFF"/>
                    </a:solidFill>
                  </a:tcPr>
                </a:tc>
              </a:tr>
              <a:tr h="502920">
                <a:tc>
                  <a:txBody>
                    <a:bodyPr/>
                    <a:lstStyle/>
                    <a:p>
                      <a:r>
                        <a:rPr sz="1300" b="1">
                          <a:solidFill>
                            <a:srgbClr val="1E1E1E"/>
                          </a:solidFill>
                        </a:rPr>
                        <a:t>95 (elegido)</a:t>
                      </a:r>
                    </a:p>
                  </a:txBody>
                  <a:tcPr marL="91440" marR="91440" marT="27432" marB="27432" anchor="ctr">
                    <a:solidFill>
                      <a:srgbClr val="FFAFAA"/>
                    </a:solidFill>
                  </a:tcPr>
                </a:tc>
                <a:tc>
                  <a:txBody>
                    <a:bodyPr/>
                    <a:lstStyle/>
                    <a:p>
                      <a:r>
                        <a:rPr sz="1300" b="1">
                          <a:solidFill>
                            <a:srgbClr val="1E1E1E"/>
                          </a:solidFill>
                        </a:rPr>
                        <a:t>100 %</a:t>
                      </a:r>
                    </a:p>
                  </a:txBody>
                  <a:tcPr marL="91440" marR="91440" marT="27432" marB="27432" anchor="ctr">
                    <a:solidFill>
                      <a:srgbClr val="FFAFAA"/>
                    </a:solidFill>
                  </a:tcPr>
                </a:tc>
                <a:tc>
                  <a:txBody>
                    <a:bodyPr/>
                    <a:lstStyle/>
                    <a:p>
                      <a:r>
                        <a:rPr sz="1300" b="1">
                          <a:solidFill>
                            <a:srgbClr val="1E1E1E"/>
                          </a:solidFill>
                        </a:rPr>
                        <a:t>10 %</a:t>
                      </a:r>
                    </a:p>
                  </a:txBody>
                  <a:tcPr marL="91440" marR="91440" marT="27432" marB="27432" anchor="ctr">
                    <a:solidFill>
                      <a:srgbClr val="FFAFAA"/>
                    </a:solidFill>
                  </a:tcPr>
                </a:tc>
                <a:tc>
                  <a:txBody>
                    <a:bodyPr/>
                    <a:lstStyle/>
                    <a:p>
                      <a:r>
                        <a:rPr sz="1300" b="1">
                          <a:solidFill>
                            <a:srgbClr val="1E1E1E"/>
                          </a:solidFill>
                        </a:rPr>
                        <a:t>70,5 s</a:t>
                      </a:r>
                    </a:p>
                  </a:txBody>
                  <a:tcPr marL="91440" marR="91440" marT="27432" marB="27432" anchor="ctr">
                    <a:solidFill>
                      <a:srgbClr val="FFAFAA"/>
                    </a:solidFill>
                  </a:tcPr>
                </a:tc>
              </a:tr>
              <a:tr h="502920">
                <a:tc>
                  <a:txBody>
                    <a:bodyPr/>
                    <a:lstStyle/>
                    <a:p>
                      <a:r>
                        <a:rPr sz="1300" b="0">
                          <a:solidFill>
                            <a:srgbClr val="1E1E1E"/>
                          </a:solidFill>
                        </a:rPr>
                        <a:t>99</a:t>
                      </a:r>
                    </a:p>
                  </a:txBody>
                  <a:tcPr marL="91440" marR="91440" marT="27432" marB="27432" anchor="ctr">
                    <a:solidFill>
                      <a:srgbClr val="FFFFFF"/>
                    </a:solidFill>
                  </a:tcPr>
                </a:tc>
                <a:tc>
                  <a:txBody>
                    <a:bodyPr/>
                    <a:lstStyle/>
                    <a:p>
                      <a:r>
                        <a:rPr sz="1300" b="0">
                          <a:solidFill>
                            <a:srgbClr val="1E1E1E"/>
                          </a:solidFill>
                        </a:rPr>
                        <a:t>60 %</a:t>
                      </a:r>
                    </a:p>
                  </a:txBody>
                  <a:tcPr marL="91440" marR="91440" marT="27432" marB="27432" anchor="ctr">
                    <a:solidFill>
                      <a:srgbClr val="FFFFFF"/>
                    </a:solidFill>
                  </a:tcPr>
                </a:tc>
                <a:tc>
                  <a:txBody>
                    <a:bodyPr/>
                    <a:lstStyle/>
                    <a:p>
                      <a:r>
                        <a:rPr sz="1300" b="0">
                          <a:solidFill>
                            <a:srgbClr val="1E1E1E"/>
                          </a:solidFill>
                        </a:rPr>
                        <a:t>0 %</a:t>
                      </a:r>
                    </a:p>
                  </a:txBody>
                  <a:tcPr marL="91440" marR="91440" marT="27432" marB="27432" anchor="ctr">
                    <a:solidFill>
                      <a:srgbClr val="FFFFFF"/>
                    </a:solidFill>
                  </a:tcPr>
                </a:tc>
                <a:tc>
                  <a:txBody>
                    <a:bodyPr/>
                    <a:lstStyle/>
                    <a:p>
                      <a:r>
                        <a:rPr sz="1300" b="0">
                          <a:solidFill>
                            <a:srgbClr val="1E1E1E"/>
                          </a:solidFill>
                        </a:rPr>
                        <a:t>80,5 s</a:t>
                      </a:r>
                    </a:p>
                  </a:txBody>
                  <a:tcPr marL="91440" marR="91440" marT="27432" marB="27432" anchor="ctr">
                    <a:solidFill>
                      <a:srgbClr val="FFFFFF"/>
                    </a:solidFill>
                  </a:tcPr>
                </a:tc>
              </a:tr>
            </a:tbl>
          </a:graphicData>
        </a:graphic>
      </p:graphicFrame>
      <p:sp>
        <p:nvSpPr>
          <p:cNvPr id="6" name="TextBox 5"/>
          <p:cNvSpPr txBox="1"/>
          <p:nvPr/>
        </p:nvSpPr>
        <p:spPr>
          <a:xfrm>
            <a:off x="905256" y="4892040"/>
            <a:ext cx="7223760" cy="365760"/>
          </a:xfrm>
          <a:prstGeom prst="rect">
            <a:avLst/>
          </a:prstGeom>
          <a:noFill/>
        </p:spPr>
        <p:txBody>
          <a:bodyPr wrap="square" anchor="t" lIns="0" rIns="0" tIns="0" bIns="0">
            <a:spAutoFit/>
          </a:bodyPr>
          <a:lstStyle/>
          <a:p>
            <a:pPr algn="l">
              <a:spcAft>
                <a:spcPts val="600"/>
              </a:spcAft>
            </a:pPr>
            <a:r>
              <a:rPr sz="1100" b="0">
                <a:solidFill>
                  <a:srgbClr val="504B4B"/>
                </a:solidFill>
              </a:rPr>
              <a:t>Fase base 30 % y k = 3 ciclos seguidos (configuración usada).</a:t>
            </a:r>
          </a:p>
        </p:txBody>
      </p:sp>
      <p:sp>
        <p:nvSpPr>
          <p:cNvPr id="7" name="TextBox 6"/>
          <p:cNvSpPr txBox="1"/>
          <p:nvPr/>
        </p:nvSpPr>
        <p:spPr>
          <a:xfrm>
            <a:off x="905256" y="5303520"/>
            <a:ext cx="7223760" cy="1463040"/>
          </a:xfrm>
          <a:prstGeom prst="rect">
            <a:avLst/>
          </a:prstGeom>
          <a:noFill/>
        </p:spPr>
        <p:txBody>
          <a:bodyPr wrap="square" anchor="t" lIns="0" rIns="0" tIns="0" bIns="0">
            <a:spAutoFit/>
          </a:bodyPr>
          <a:lstStyle/>
          <a:p>
            <a:pPr algn="l">
              <a:spcAft>
                <a:spcPts val="500"/>
              </a:spcAft>
            </a:pPr>
            <a:r>
              <a:rPr sz="1300" b="0">
                <a:solidFill>
                  <a:srgbClr val="1E1E1E"/>
                </a:solidFill>
              </a:rPr>
              <a:t>•  p90 avisa antes de tiempo; p99 llega tarde y pierde fatigas</a:t>
            </a:r>
          </a:p>
          <a:p>
            <a:pPr algn="l">
              <a:spcAft>
                <a:spcPts val="500"/>
              </a:spcAft>
            </a:pPr>
            <a:r>
              <a:rPr sz="1300" b="0">
                <a:solidFill>
                  <a:srgbClr val="1E1E1E"/>
                </a:solidFill>
              </a:rPr>
              <a:t>•  p95: inicio en 70,5 ± 5,0 s, centro de la transición</a:t>
            </a:r>
          </a:p>
          <a:p>
            <a:pPr algn="l">
              <a:spcAft>
                <a:spcPts val="500"/>
              </a:spcAft>
            </a:pPr>
            <a:r>
              <a:rPr sz="1300" b="0">
                <a:solidFill>
                  <a:srgbClr val="1E1E1E"/>
                </a:solidFill>
              </a:rPr>
              <a:t>•  La fase base y k influyen menos: subir k quita falsas alarmas y retrasa el aviso</a:t>
            </a:r>
          </a:p>
        </p:txBody>
      </p:sp>
      <p:sp>
        <p:nvSpPr>
          <p:cNvPr id="8" name="Rectangle 7"/>
          <p:cNvSpPr/>
          <p:nvPr/>
        </p:nvSpPr>
        <p:spPr>
          <a:xfrm>
            <a:off x="8503920" y="2743200"/>
            <a:ext cx="5212080" cy="40690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PELT: contraste independiente</a:t>
            </a:r>
          </a:p>
        </p:txBody>
      </p:sp>
      <p:sp>
        <p:nvSpPr>
          <p:cNvPr id="10" name="TextBox 9"/>
          <p:cNvSpPr txBox="1"/>
          <p:nvPr/>
        </p:nvSpPr>
        <p:spPr>
          <a:xfrm>
            <a:off x="8778240" y="3474720"/>
            <a:ext cx="4663440" cy="3291840"/>
          </a:xfrm>
          <a:prstGeom prst="rect">
            <a:avLst/>
          </a:prstGeom>
          <a:noFill/>
        </p:spPr>
        <p:txBody>
          <a:bodyPr wrap="square" anchor="t" lIns="0" rIns="0" tIns="0" bIns="0">
            <a:spAutoFit/>
          </a:bodyPr>
          <a:lstStyle/>
          <a:p>
            <a:pPr algn="l">
              <a:spcAft>
                <a:spcPts val="700"/>
              </a:spcAft>
            </a:pPr>
            <a:r>
              <a:rPr sz="1300" b="0">
                <a:solidFill>
                  <a:srgbClr val="1E1E1E"/>
                </a:solidFill>
              </a:rPr>
              <a:t>•  Busca los instantes en que cambia la serie de puntuaciones de anomalía</a:t>
            </a:r>
          </a:p>
          <a:p>
            <a:pPr algn="l">
              <a:spcAft>
                <a:spcPts val="700"/>
              </a:spcAft>
            </a:pPr>
            <a:r>
              <a:rPr sz="1300" b="0">
                <a:solidFill>
                  <a:srgbClr val="1E1E1E"/>
                </a:solidFill>
              </a:rPr>
              <a:t>•  Segmentación exacta en tiempo lineal (poda de candidatos)</a:t>
            </a:r>
          </a:p>
          <a:p>
            <a:pPr algn="l">
              <a:spcAft>
                <a:spcPts val="700"/>
              </a:spcAft>
            </a:pPr>
            <a:r>
              <a:rPr sz="1300" b="0">
                <a:solidFill>
                  <a:srgbClr val="1E1E1E"/>
                </a:solidFill>
              </a:rPr>
              <a:t>•  Coste L2 y penalización β = 2 ln n</a:t>
            </a:r>
          </a:p>
          <a:p>
            <a:pPr algn="l">
              <a:spcAft>
                <a:spcPts val="700"/>
              </a:spcAft>
            </a:pPr>
            <a:r>
              <a:rPr sz="1300" b="0">
                <a:solidFill>
                  <a:srgbClr val="1E1E1E"/>
                </a:solidFill>
              </a:rPr>
              <a:t>•  Secuencia de 90 s: Isolation Forest ciclo 35 (51,9 s); PELT ciclo 33 (49,4 s)</a:t>
            </a:r>
          </a:p>
          <a:p>
            <a:pPr algn="l">
              <a:spcAft>
                <a:spcPts val="700"/>
              </a:spcAft>
            </a:pPr>
            <a:r>
              <a:rPr sz="1300" b="0">
                <a:solidFill>
                  <a:srgbClr val="1E1E1E"/>
                </a:solidFill>
              </a:rPr>
              <a:t>•  Si coinciden, la detección se refuerza</a:t>
            </a:r>
          </a:p>
        </p:txBody>
      </p:sp>
      <p:sp>
        <p:nvSpPr>
          <p:cNvPr id="11" name="TextBox 10"/>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(Tabla 12 de la memoria): 10 secuencias con fatiga y 10 sin fatiga por configuración.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TreeSHAP: cómo se explica cada ciclo</a:t>
            </a:r>
          </a:p>
        </p:txBody>
      </p:sp>
      <p:sp>
        <p:nvSpPr>
          <p:cNvPr id="4" name="Text Placeholder 3"/>
          <p:cNvSpPr>
            <a:spLocks noGrp="1"/>
          </p:cNvSpPr>
          <p:nvPr>
            <p:ph type="body" idx="18" sz="quarter"/>
          </p:nvPr>
        </p:nvSpPr>
        <p:spPr>
          <a:xfrm>
            <a:ext cx="12344400" cy="0"/>
          </a:xfrm>
        </p:spPr>
        <p:txBody>
          <a:bodyPr/>
          <a:lstStyle/>
          <a:p>
            <a:r>
              <a:t>Valores de Shapley exactos sobre el Isolation Forest</a:t>
            </a:r>
          </a:p>
        </p:txBody>
      </p:sp>
      <p:sp>
        <p:nvSpPr>
          <p:cNvPr id="5" name="Rectangle 4"/>
          <p:cNvSpPr/>
          <p:nvPr/>
        </p:nvSpPr>
        <p:spPr>
          <a:xfrm>
            <a:off x="905256"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Valores de Shapley</a:t>
            </a:r>
          </a:p>
        </p:txBody>
      </p:sp>
      <p:sp>
        <p:nvSpPr>
          <p:cNvPr id="8" name="TextBox 7"/>
          <p:cNvSpPr txBox="1"/>
          <p:nvPr/>
        </p:nvSpPr>
        <p:spPr>
          <a:xfrm>
            <a:off x="1179576"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Teoría de juegos: reparten la puntuación entre las variables de forma justa. Aditivos: f(x) = φ0 + Σ φj → explicación de un ciclo y de todo el nado.</a:t>
            </a:r>
          </a:p>
        </p:txBody>
      </p:sp>
      <p:sp>
        <p:nvSpPr>
          <p:cNvPr id="9" name="Rectangle 8"/>
          <p:cNvSpPr/>
          <p:nvPr/>
        </p:nvSpPr>
        <p:spPr>
          <a:xfrm>
            <a:off x="5120640"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TreeSHAP</a:t>
            </a:r>
          </a:p>
        </p:txBody>
      </p:sp>
      <p:sp>
        <p:nvSpPr>
          <p:cNvPr id="12" name="TextBox 11"/>
          <p:cNvSpPr txBox="1"/>
          <p:nvPr/>
        </p:nvSpPr>
        <p:spPr>
          <a:xfrm>
            <a:off x="5394959"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Valores exactos en tiempo polinómico para modelos de árboles: sirve para Isolation Forest y para el bosque aleatorio.</a:t>
            </a:r>
          </a:p>
        </p:txBody>
      </p:sp>
      <p:sp>
        <p:nvSpPr>
          <p:cNvPr id="13" name="Rectangle 12"/>
          <p:cNvSpPr/>
          <p:nvPr/>
        </p:nvSpPr>
        <p:spPr>
          <a:xfrm>
            <a:off x="9336024" y="2743200"/>
            <a:ext cx="3931920" cy="32918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Controles</a:t>
            </a:r>
          </a:p>
        </p:txBody>
      </p:sp>
      <p:sp>
        <p:nvSpPr>
          <p:cNvPr id="16" name="TextBox 15"/>
          <p:cNvSpPr txBox="1"/>
          <p:nvPr/>
        </p:nvSpPr>
        <p:spPr>
          <a:xfrm>
            <a:off x="9610344" y="4297679"/>
            <a:ext cx="3383279" cy="1554480"/>
          </a:xfrm>
          <a:prstGeom prst="rect">
            <a:avLst/>
          </a:prstGeom>
          <a:noFill/>
        </p:spPr>
        <p:txBody>
          <a:bodyPr wrap="square" anchor="t" lIns="0" rIns="0" tIns="0" bIns="0">
            <a:spAutoFit/>
          </a:bodyPr>
          <a:lstStyle/>
          <a:p>
            <a:pPr algn="l">
              <a:spcAft>
                <a:spcPts val="600"/>
              </a:spcAft>
            </a:pPr>
            <a:r>
              <a:rPr sz="1400" b="0">
                <a:solidFill>
                  <a:srgbClr val="1E1E1E"/>
                </a:solidFill>
              </a:rPr>
              <a:t>Signo invertido: positivo = acerca a la fatiga. Correlación entre la suma SHAP y la puntuación en cada ejecución (0,999 en la secuencia de 90 s).</a:t>
            </a:r>
          </a:p>
        </p:txBody>
      </p:sp>
      <p:sp>
        <p:nvSpPr>
          <p:cNvPr id="17" name="TextBox 16"/>
          <p:cNvSpPr txBox="1"/>
          <p:nvPr/>
        </p:nvSpPr>
        <p:spPr>
          <a:xfrm>
            <a:off x="905256" y="6263640"/>
            <a:ext cx="12801600" cy="640080"/>
          </a:xfrm>
          <a:prstGeom prst="rect">
            <a:avLst/>
          </a:prstGeom>
          <a:noFill/>
        </p:spPr>
        <p:txBody>
          <a:bodyPr wrap="square" anchor="t" lIns="0" rIns="0" tIns="0" bIns="0">
            <a:spAutoFit/>
          </a:bodyPr>
          <a:lstStyle/>
          <a:p>
            <a:pPr algn="l">
              <a:spcAft>
                <a:spcPts val="600"/>
              </a:spcAft>
            </a:pPr>
            <a:r>
              <a:rPr sz="1400" b="1">
                <a:solidFill>
                  <a:srgbClr val="FF3228"/>
                </a:solidFill>
              </a:rPr>
              <a:t>Salida para el entrenador: </a:t>
            </a:r>
            <a:r>
              <a:rPr sz="1400" b="0">
                <a:solidFill>
                  <a:srgbClr val="1E1E1E"/>
                </a:solidFill>
              </a:rPr>
              <a:t>las 4 variables con más contribución y su cambio respecto a la fase fresca. Sin variables redundantes, para que la atribución no se reparta entre medidas equivalentes.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SHAP explica la fatiga</a:t>
            </a:r>
          </a:p>
        </p:txBody>
      </p:sp>
      <p:sp>
        <p:nvSpPr>
          <p:cNvPr id="4" name="Text Placeholder 3"/>
          <p:cNvSpPr>
            <a:spLocks noGrp="1"/>
          </p:cNvSpPr>
          <p:nvPr>
            <p:ph type="body" idx="18" sz="quarter"/>
          </p:nvPr>
        </p:nvSpPr>
        <p:spPr>
          <a:xfrm>
            <a:ext cx="12344400" cy="0"/>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Estilo: del modelo supervisado a reglas</a:t>
            </a:r>
          </a:p>
        </p:txBody>
      </p:sp>
      <p:sp>
        <p:nvSpPr>
          <p:cNvPr id="4" name="Text Placeholder 3"/>
          <p:cNvSpPr>
            <a:spLocks noGrp="1"/>
          </p:cNvSpPr>
          <p:nvPr>
            <p:ph type="body" idx="18" sz="quarter"/>
          </p:nvPr>
        </p:nvSpPr>
        <p:spPr>
          <a:xfrm>
            <a:ext cx="12344400" cy="0"/>
          </a:xfrm>
        </p:spPr>
        <p:txBody>
          <a:bodyPr/>
          <a:lstStyle/>
          <a:p>
            <a:r>
              <a:t>El 100 % con datos sintéticos no se mantenía con nadadores reales</a:t>
            </a:r>
          </a:p>
        </p:txBody>
      </p:sp>
      <p:sp>
        <p:nvSpPr>
          <p:cNvPr id="5" name="Rectangle 4"/>
          <p:cNvSpPr/>
          <p:nvPr/>
        </p:nvSpPr>
        <p:spPr>
          <a:xfrm>
            <a:off x="905256"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XGBoost</a:t>
            </a:r>
          </a:p>
        </p:txBody>
      </p:sp>
      <p:sp>
        <p:nvSpPr>
          <p:cNvPr id="8" name="TextBox 7"/>
          <p:cNvSpPr txBox="1"/>
          <p:nvPr/>
        </p:nvSpPr>
        <p:spPr>
          <a:xfrm>
            <a:off x="1179576"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Boosting: árboles en secuencia que corrigen al anterior. Se sustituyó por un modelo más sencillo y con SHAP exacto.</a:t>
            </a:r>
          </a:p>
        </p:txBody>
      </p:sp>
      <p:sp>
        <p:nvSpPr>
          <p:cNvPr id="9" name="Rectangle 8"/>
          <p:cNvSpPr/>
          <p:nvPr/>
        </p:nvSpPr>
        <p:spPr>
          <a:xfrm>
            <a:off x="5120640"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Bosque aleatorio</a:t>
            </a:r>
          </a:p>
        </p:txBody>
      </p:sp>
      <p:sp>
        <p:nvSpPr>
          <p:cNvPr id="12" name="TextBox 11"/>
          <p:cNvSpPr txBox="1"/>
          <p:nvPr/>
        </p:nvSpPr>
        <p:spPr>
          <a:xfrm>
            <a:off x="5394959"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300 árboles, ventanas de 4 s, GroupKFold por vídeo. Sintéticos: 100 %. Reales: 45,5 % dejando un vídeo fuera (base 36,4 %) y 9,1 % dejando fuera un participante → aprendía al nadador.</a:t>
            </a:r>
          </a:p>
        </p:txBody>
      </p:sp>
      <p:sp>
        <p:nvSpPr>
          <p:cNvPr id="13" name="Rectangle 12"/>
          <p:cNvSpPr/>
          <p:nvPr/>
        </p:nvSpPr>
        <p:spPr>
          <a:xfrm>
            <a:off x="9336024" y="2743200"/>
            <a:ext cx="3931920" cy="35661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Reglas biomecánicas</a:t>
            </a:r>
          </a:p>
        </p:txBody>
      </p:sp>
      <p:sp>
        <p:nvSpPr>
          <p:cNvPr id="16" name="TextBox 15"/>
          <p:cNvSpPr txBox="1"/>
          <p:nvPr/>
        </p:nvSpPr>
        <p:spPr>
          <a:xfrm>
            <a:off x="9610344" y="4297679"/>
            <a:ext cx="3383279" cy="1828800"/>
          </a:xfrm>
          <a:prstGeom prst="rect">
            <a:avLst/>
          </a:prstGeom>
          <a:noFill/>
        </p:spPr>
        <p:txBody>
          <a:bodyPr wrap="square" anchor="t" lIns="0" rIns="0" tIns="0" bIns="0">
            <a:spAutoFit/>
          </a:bodyPr>
          <a:lstStyle/>
          <a:p>
            <a:pPr algn="l">
              <a:spcAft>
                <a:spcPts val="600"/>
              </a:spcAft>
            </a:pPr>
            <a:r>
              <a:rPr sz="1400" b="0">
                <a:solidFill>
                  <a:srgbClr val="FFFFFF"/>
                </a:solidFill>
              </a:rPr>
              <a:t>Sin entrenamiento. Correlación de las manos (0,65 lateral / 0,20 frontal) → alternos o simultáneos; nariz respecto a hombros → braza o espalda. Familia 12/13 reales; estilo 9/13; sintéticos 81 %.</a:t>
            </a:r>
          </a:p>
        </p:txBody>
      </p:sp>
      <p:sp>
        <p:nvSpPr>
          <p:cNvPr id="17" name="TextBox 16"/>
          <p:cNvSpPr txBox="1"/>
          <p:nvPr/>
        </p:nvSpPr>
        <p:spPr>
          <a:xfrm>
            <a:off x="905256" y="65379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Umbrales fijados con los vídeos reales: la exactitud real es optimista. De frente no distingue mariposa de braza. La familia basta para contar ciclos (2 o 1 brazadas).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Qué cambió y por qué</a:t>
            </a:r>
          </a:p>
        </p:txBody>
      </p:sp>
      <p:sp>
        <p:nvSpPr>
          <p:cNvPr id="4" name="Text Placeholder 3"/>
          <p:cNvSpPr>
            <a:spLocks noGrp="1"/>
          </p:cNvSpPr>
          <p:nvPr>
            <p:ph type="body" idx="18" sz="quarter"/>
          </p:nvPr>
        </p:nvSpPr>
        <p:spPr>
          <a:xfrm>
            <a:ext cx="12344400" cy="0"/>
          </a:xfrm>
        </p:spPr>
        <p:txBody>
          <a:bodyPr/>
          <a:lstStyle/>
          <a:p>
            <a:r>
              <a:t>Cambios respecto al planteamiento inicial (memoria, apartado 5.2)</a:t>
            </a:r>
          </a:p>
        </p:txBody>
      </p:sp>
      <p:graphicFrame>
        <p:nvGraphicFramePr>
          <p:cNvPr id="5" name="Table 4"/>
          <p:cNvGraphicFramePr>
            <a:graphicFrameLocks noGrp="1"/>
          </p:cNvGraphicFramePr>
          <p:nvPr/>
        </p:nvGraphicFramePr>
        <p:xfrm>
          <a:off x="905256" y="2743200"/>
          <a:ext cx="12801600" cy="4023360"/>
        </p:xfrm>
        <a:graphic>
          <a:graphicData uri="http://schemas.openxmlformats.org/drawingml/2006/table">
            <a:tbl>
              <a:tblPr firstRow="1" bandRow="1">
                <a:tableStyleId>{5C22544A-7EE6-4342-B048-85BDC9FD1C3A}</a:tableStyleId>
              </a:tblPr>
              <a:tblGrid>
                <a:gridCol w="3200400"/>
                <a:gridCol w="4206240"/>
                <a:gridCol w="5394960"/>
              </a:tblGrid>
              <a:tr h="502920">
                <a:tc>
                  <a:txBody>
                    <a:bodyPr/>
                    <a:lstStyle/>
                    <a:p>
                      <a:r>
                        <a:rPr sz="1300" b="1">
                          <a:solidFill>
                            <a:srgbClr val="FFFFFF"/>
                          </a:solidFill>
                        </a:rPr>
                        <a:t>Planteamiento inicial</a:t>
                      </a:r>
                    </a:p>
                  </a:txBody>
                  <a:tcPr marL="91440" marR="91440" marT="27432" marB="27432" anchor="ctr">
                    <a:solidFill>
                      <a:srgbClr val="FF3228"/>
                    </a:solidFill>
                  </a:tcPr>
                </a:tc>
                <a:tc>
                  <a:txBody>
                    <a:bodyPr/>
                    <a:lstStyle/>
                    <a:p>
                      <a:r>
                        <a:rPr sz="1300" b="1">
                          <a:solidFill>
                            <a:srgbClr val="FFFFFF"/>
                          </a:solidFill>
                        </a:rPr>
                        <a:t>Decisión final</a:t>
                      </a:r>
                    </a:p>
                  </a:txBody>
                  <a:tcPr marL="91440" marR="91440" marT="27432" marB="27432" anchor="ctr">
                    <a:solidFill>
                      <a:srgbClr val="FF3228"/>
                    </a:solidFill>
                  </a:tcPr>
                </a:tc>
                <a:tc>
                  <a:txBody>
                    <a:bodyPr/>
                    <a:lstStyle/>
                    <a:p>
                      <a:r>
                        <a:rPr sz="1300" b="1">
                          <a:solidFill>
                            <a:srgbClr val="FFFFFF"/>
                          </a:solidFill>
                        </a:rPr>
                        <a:t>Motivo</a:t>
                      </a:r>
                    </a:p>
                  </a:txBody>
                  <a:tcPr marL="91440" marR="91440" marT="27432" marB="27432" anchor="ctr">
                    <a:solidFill>
                      <a:srgbClr val="FF3228"/>
                    </a:solidFill>
                  </a:tcPr>
                </a:tc>
              </a:tr>
              <a:tr h="502920">
                <a:tc>
                  <a:txBody>
                    <a:bodyPr/>
                    <a:lstStyle/>
                    <a:p>
                      <a:r>
                        <a:rPr sz="1300" b="0">
                          <a:solidFill>
                            <a:srgbClr val="1E1E1E"/>
                          </a:solidFill>
                        </a:rPr>
                        <a:t>MoveNet</a:t>
                      </a:r>
                    </a:p>
                  </a:txBody>
                  <a:tcPr marL="91440" marR="91440" marT="27432" marB="27432" anchor="ctr">
                    <a:solidFill>
                      <a:srgbClr val="FFFFFF"/>
                    </a:solidFill>
                  </a:tcPr>
                </a:tc>
                <a:tc>
                  <a:txBody>
                    <a:bodyPr/>
                    <a:lstStyle/>
                    <a:p>
                      <a:r>
                        <a:rPr sz="1300" b="0">
                          <a:solidFill>
                            <a:srgbClr val="1E1E1E"/>
                          </a:solidFill>
                        </a:rPr>
                        <a:t>YOLOv8n-Pose</a:t>
                      </a:r>
                    </a:p>
                  </a:txBody>
                  <a:tcPr marL="91440" marR="91440" marT="27432" marB="27432" anchor="ctr">
                    <a:solidFill>
                      <a:srgbClr val="FFFFFF"/>
                    </a:solidFill>
                  </a:tcPr>
                </a:tc>
                <a:tc>
                  <a:txBody>
                    <a:bodyPr/>
                    <a:lstStyle/>
                    <a:p>
                      <a:r>
                        <a:rPr sz="1300" b="0">
                          <a:solidFill>
                            <a:srgbClr val="1E1E1E"/>
                          </a:solidFill>
                        </a:rPr>
                        <a:t>Doble de confianza y cinco veces más ciclos válidos bajo el agua</a:t>
                      </a:r>
                    </a:p>
                  </a:txBody>
                  <a:tcPr marL="91440" marR="91440" marT="27432" marB="27432" anchor="ctr">
                    <a:solidFill>
                      <a:srgbClr val="FFFFFF"/>
                    </a:solidFill>
                  </a:tcPr>
                </a:tc>
              </a:tr>
              <a:tr h="502920">
                <a:tc>
                  <a:txBody>
                    <a:bodyPr/>
                    <a:lstStyle/>
                    <a:p>
                      <a:r>
                        <a:rPr sz="1300" b="0">
                          <a:solidFill>
                            <a:srgbClr val="1E1E1E"/>
                          </a:solidFill>
                        </a:rPr>
                        <a:t>Solo vista lateral</a:t>
                      </a:r>
                    </a:p>
                  </a:txBody>
                  <a:tcPr marL="91440" marR="91440" marT="27432" marB="27432" anchor="ctr">
                    <a:solidFill>
                      <a:srgbClr val="EEEDED"/>
                    </a:solidFill>
                  </a:tcPr>
                </a:tc>
                <a:tc>
                  <a:txBody>
                    <a:bodyPr/>
                    <a:lstStyle/>
                    <a:p>
                      <a:r>
                        <a:rPr sz="1300" b="0">
                          <a:solidFill>
                            <a:srgbClr val="1E1E1E"/>
                          </a:solidFill>
                        </a:rPr>
                        <a:t>Lateral y frontal, vista automática por tramos</a:t>
                      </a:r>
                    </a:p>
                  </a:txBody>
                  <a:tcPr marL="91440" marR="91440" marT="27432" marB="27432" anchor="ctr">
                    <a:solidFill>
                      <a:srgbClr val="EEEDED"/>
                    </a:solidFill>
                  </a:tcPr>
                </a:tc>
                <a:tc>
                  <a:txBody>
                    <a:bodyPr/>
                    <a:lstStyle/>
                    <a:p>
                      <a:r>
                        <a:rPr sz="1300" b="0">
                          <a:solidFill>
                            <a:srgbClr val="1E1E1E"/>
                          </a:solidFill>
                        </a:rPr>
                        <a:t>Parte de los vídeos es frontal: la profundidad de la mano no se ve</a:t>
                      </a:r>
                    </a:p>
                  </a:txBody>
                  <a:tcPr marL="91440" marR="91440" marT="27432" marB="27432" anchor="ctr">
                    <a:solidFill>
                      <a:srgbClr val="EEEDED"/>
                    </a:solidFill>
                  </a:tcPr>
                </a:tc>
              </a:tr>
              <a:tr h="502920">
                <a:tc>
                  <a:txBody>
                    <a:bodyPr/>
                    <a:lstStyle/>
                    <a:p>
                      <a:r>
                        <a:rPr sz="1300" b="0">
                          <a:solidFill>
                            <a:srgbClr val="1E1E1E"/>
                          </a:solidFill>
                        </a:rPr>
                        <a:t>Red recurrente supervisada</a:t>
                      </a:r>
                    </a:p>
                  </a:txBody>
                  <a:tcPr marL="91440" marR="91440" marT="27432" marB="27432" anchor="ctr">
                    <a:solidFill>
                      <a:srgbClr val="FFFFFF"/>
                    </a:solidFill>
                  </a:tcPr>
                </a:tc>
                <a:tc>
                  <a:txBody>
                    <a:bodyPr/>
                    <a:lstStyle/>
                    <a:p>
                      <a:r>
                        <a:rPr sz="1300" b="0">
                          <a:solidFill>
                            <a:srgbClr val="1E1E1E"/>
                          </a:solidFill>
                        </a:rPr>
                        <a:t>Isolation Forest no supervisado</a:t>
                      </a:r>
                    </a:p>
                  </a:txBody>
                  <a:tcPr marL="91440" marR="91440" marT="27432" marB="27432" anchor="ctr">
                    <a:solidFill>
                      <a:srgbClr val="FFFFFF"/>
                    </a:solidFill>
                  </a:tcPr>
                </a:tc>
                <a:tc>
                  <a:txBody>
                    <a:bodyPr/>
                    <a:lstStyle/>
                    <a:p>
                      <a:r>
                        <a:rPr sz="1300" b="0">
                          <a:solidFill>
                            <a:srgbClr val="1E1E1E"/>
                          </a:solidFill>
                        </a:rPr>
                        <a:t>Sin etiquetas de fatiga; admite SHAP exacto</a:t>
                      </a:r>
                    </a:p>
                  </a:txBody>
                  <a:tcPr marL="91440" marR="91440" marT="27432" marB="27432" anchor="ctr">
                    <a:solidFill>
                      <a:srgbClr val="FFFFFF"/>
                    </a:solidFill>
                  </a:tcPr>
                </a:tc>
              </a:tr>
              <a:tr h="502920">
                <a:tc>
                  <a:txBody>
                    <a:bodyPr/>
                    <a:lstStyle/>
                    <a:p>
                      <a:r>
                        <a:rPr sz="1300" b="0">
                          <a:solidFill>
                            <a:srgbClr val="1E1E1E"/>
                          </a:solidFill>
                        </a:rPr>
                        <a:t>XGBoost</a:t>
                      </a:r>
                    </a:p>
                  </a:txBody>
                  <a:tcPr marL="91440" marR="91440" marT="27432" marB="27432" anchor="ctr">
                    <a:solidFill>
                      <a:srgbClr val="EEEDED"/>
                    </a:solidFill>
                  </a:tcPr>
                </a:tc>
                <a:tc>
                  <a:txBody>
                    <a:bodyPr/>
                    <a:lstStyle/>
                    <a:p>
                      <a:r>
                        <a:rPr sz="1300" b="0">
                          <a:solidFill>
                            <a:srgbClr val="1E1E1E"/>
                          </a:solidFill>
                        </a:rPr>
                        <a:t>Bosque aleatorio → reglas biomecánicas</a:t>
                      </a:r>
                    </a:p>
                  </a:txBody>
                  <a:tcPr marL="91440" marR="91440" marT="27432" marB="27432" anchor="ctr">
                    <a:solidFill>
                      <a:srgbClr val="EEEDED"/>
                    </a:solidFill>
                  </a:tcPr>
                </a:tc>
                <a:tc>
                  <a:txBody>
                    <a:bodyPr/>
                    <a:lstStyle/>
                    <a:p>
                      <a:r>
                        <a:rPr sz="1300" b="0">
                          <a:solidFill>
                            <a:srgbClr val="1E1E1E"/>
                          </a:solidFill>
                        </a:rPr>
                        <a:t>El modelo supervisado aprendía al nadador, no el estilo</a:t>
                      </a:r>
                    </a:p>
                  </a:txBody>
                  <a:tcPr marL="91440" marR="91440" marT="27432" marB="27432" anchor="ctr">
                    <a:solidFill>
                      <a:srgbClr val="EEEDED"/>
                    </a:solidFill>
                  </a:tcPr>
                </a:tc>
              </a:tr>
              <a:tr h="502920">
                <a:tc>
                  <a:txBody>
                    <a:bodyPr/>
                    <a:lstStyle/>
                    <a:p>
                      <a:r>
                        <a:rPr sz="1300" b="1">
                          <a:solidFill>
                            <a:srgbClr val="1E1E1E"/>
                          </a:solidFill>
                        </a:rPr>
                        <a:t>Validación por fotograma</a:t>
                      </a:r>
                    </a:p>
                  </a:txBody>
                  <a:tcPr marL="91440" marR="91440" marT="27432" marB="27432" anchor="ctr">
                    <a:solidFill>
                      <a:srgbClr val="FFAFAA"/>
                    </a:solidFill>
                  </a:tcPr>
                </a:tc>
                <a:tc>
                  <a:txBody>
                    <a:bodyPr/>
                    <a:lstStyle/>
                    <a:p>
                      <a:r>
                        <a:rPr sz="1300" b="1">
                          <a:solidFill>
                            <a:srgbClr val="1E1E1E"/>
                          </a:solidFill>
                        </a:rPr>
                        <a:t>Validación por vídeo (GroupKFold)</a:t>
                      </a:r>
                    </a:p>
                  </a:txBody>
                  <a:tcPr marL="91440" marR="91440" marT="27432" marB="27432" anchor="ctr">
                    <a:solidFill>
                      <a:srgbClr val="FFAFAA"/>
                    </a:solidFill>
                  </a:tcPr>
                </a:tc>
                <a:tc>
                  <a:txBody>
                    <a:bodyPr/>
                    <a:lstStyle/>
                    <a:p>
                      <a:r>
                        <a:rPr sz="1300" b="1">
                          <a:solidFill>
                            <a:srgbClr val="1E1E1E"/>
                          </a:solidFill>
                        </a:rPr>
                        <a:t>El 99,99 % de una versión anterior era fuga de datos</a:t>
                      </a:r>
                    </a:p>
                  </a:txBody>
                  <a:tcPr marL="91440" marR="91440" marT="27432" marB="27432" anchor="ctr">
                    <a:solidFill>
                      <a:srgbClr val="FFAFAA"/>
                    </a:solidFill>
                  </a:tcPr>
                </a:tc>
              </a:tr>
              <a:tr h="502920">
                <a:tc>
                  <a:txBody>
                    <a:bodyPr/>
                    <a:lstStyle/>
                    <a:p>
                      <a:r>
                        <a:rPr sz="1300" b="0">
                          <a:solidFill>
                            <a:srgbClr val="1E1E1E"/>
                          </a:solidFill>
                        </a:rPr>
                        <a:t>Potencia en vatios</a:t>
                      </a:r>
                    </a:p>
                  </a:txBody>
                  <a:tcPr marL="91440" marR="91440" marT="27432" marB="27432" anchor="ctr">
                    <a:solidFill>
                      <a:srgbClr val="EEEDED"/>
                    </a:solidFill>
                  </a:tcPr>
                </a:tc>
                <a:tc>
                  <a:txBody>
                    <a:bodyPr/>
                    <a:lstStyle/>
                    <a:p>
                      <a:r>
                        <a:rPr sz="1300" b="0">
                          <a:solidFill>
                            <a:srgbClr val="1E1E1E"/>
                          </a:solidFill>
                        </a:rPr>
                        <a:t>Indicadores cinemáticos</a:t>
                      </a:r>
                    </a:p>
                  </a:txBody>
                  <a:tcPr marL="91440" marR="91440" marT="27432" marB="27432" anchor="ctr">
                    <a:solidFill>
                      <a:srgbClr val="EEEDED"/>
                    </a:solidFill>
                  </a:tcPr>
                </a:tc>
                <a:tc>
                  <a:txBody>
                    <a:bodyPr/>
                    <a:lstStyle/>
                    <a:p>
                      <a:r>
                        <a:rPr sz="1300" b="0">
                          <a:solidFill>
                            <a:srgbClr val="1E1E1E"/>
                          </a:solidFill>
                        </a:rPr>
                        <a:t>La potencia depende de CD y A, no medibles desde vídeo</a:t>
                      </a:r>
                    </a:p>
                  </a:txBody>
                  <a:tcPr marL="91440" marR="91440" marT="27432" marB="27432" anchor="ctr">
                    <a:solidFill>
                      <a:srgbClr val="EEEDED"/>
                    </a:solidFill>
                  </a:tcPr>
                </a:tc>
              </a:tr>
              <a:tr h="502920">
                <a:tc>
                  <a:txBody>
                    <a:bodyPr/>
                    <a:lstStyle/>
                    <a:p>
                      <a:r>
                        <a:rPr sz="1300" b="0">
                          <a:solidFill>
                            <a:srgbClr val="1E1E1E"/>
                          </a:solidFill>
                        </a:rPr>
                        <a:t>Sensores inerciales</a:t>
                      </a:r>
                    </a:p>
                  </a:txBody>
                  <a:tcPr marL="91440" marR="91440" marT="27432" marB="27432" anchor="ctr">
                    <a:solidFill>
                      <a:srgbClr val="FFFFFF"/>
                    </a:solidFill>
                  </a:tcPr>
                </a:tc>
                <a:tc>
                  <a:txBody>
                    <a:bodyPr/>
                    <a:lstStyle/>
                    <a:p>
                      <a:r>
                        <a:rPr sz="1300" b="0">
                          <a:solidFill>
                            <a:srgbClr val="1E1E1E"/>
                          </a:solidFill>
                        </a:rPr>
                        <a:t>Solo vídeo</a:t>
                      </a:r>
                    </a:p>
                  </a:txBody>
                  <a:tcPr marL="91440" marR="91440" marT="27432" marB="27432" anchor="ctr">
                    <a:solidFill>
                      <a:srgbClr val="FFFFFF"/>
                    </a:solidFill>
                  </a:tcPr>
                </a:tc>
                <a:tc>
                  <a:txBody>
                    <a:bodyPr/>
                    <a:lstStyle/>
                    <a:p>
                      <a:r>
                        <a:rPr sz="1300" b="0">
                          <a:solidFill>
                            <a:srgbClr val="1E1E1E"/>
                          </a:solidFill>
                        </a:rPr>
                        <a:t>No se dispuso de sensores (trabajo futuro)</a:t>
                      </a:r>
                    </a:p>
                  </a:txBody>
                  <a:tcPr marL="91440" marR="91440"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 con nadadores reales</a:t>
            </a:r>
          </a:p>
        </p:txBody>
      </p:sp>
      <p:sp>
        <p:nvSpPr>
          <p:cNvPr id="4" name="Text Placeholder 3"/>
          <p:cNvSpPr>
            <a:spLocks noGrp="1"/>
          </p:cNvSpPr>
          <p:nvPr>
            <p:ph type="body" idx="18" sz="quarter"/>
          </p:nvPr>
        </p:nvSpPr>
        <p:spPr>
          <a:xfrm>
            <a:ext cx="12344400" cy="0"/>
          </a:xfrm>
        </p:spPr>
        <p:txBody>
          <a:bodyPr/>
          <a:lstStyle/>
          <a:p>
            <a:r>
              <a:t>17 secuencias · 4 participantes · 4 estilos</a:t>
            </a:r>
          </a:p>
        </p:txBody>
      </p:sp>
      <p:sp>
        <p:nvSpPr>
          <p:cNvPr id="5" name="Rectangle 4"/>
          <p:cNvSpPr/>
          <p:nvPr/>
        </p:nvSpPr>
        <p:spPr>
          <a:xfrm>
            <a:off x="905256" y="2788920"/>
            <a:ext cx="4023360" cy="192024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2971800"/>
            <a:ext cx="3566160" cy="777240"/>
          </a:xfrm>
          <a:prstGeom prst="rect">
            <a:avLst/>
          </a:prstGeom>
          <a:noFill/>
        </p:spPr>
        <p:txBody>
          <a:bodyPr wrap="square" anchor="t" lIns="0" rIns="0" tIns="0" bIns="0">
            <a:spAutoFit/>
          </a:bodyPr>
          <a:lstStyle/>
          <a:p>
            <a:pPr algn="l">
              <a:spcAft>
                <a:spcPts val="600"/>
              </a:spcAft>
            </a:pPr>
            <a:r>
              <a:rPr sz="3600" b="1">
                <a:solidFill>
                  <a:srgbClr val="FFFFFF"/>
                </a:solidFill>
              </a:rPr>
              <a:t>95</a:t>
            </a:r>
          </a:p>
        </p:txBody>
      </p:sp>
      <p:sp>
        <p:nvSpPr>
          <p:cNvPr id="7" name="TextBox 6"/>
          <p:cNvSpPr txBox="1"/>
          <p:nvPr/>
        </p:nvSpPr>
        <p:spPr>
          <a:xfrm>
            <a:off x="1179576" y="3794760"/>
            <a:ext cx="3566160" cy="822960"/>
          </a:xfrm>
          <a:prstGeom prst="rect">
            <a:avLst/>
          </a:prstGeom>
          <a:noFill/>
        </p:spPr>
        <p:txBody>
          <a:bodyPr wrap="square" anchor="t" lIns="0" rIns="0" tIns="0" bIns="0">
            <a:spAutoFit/>
          </a:bodyPr>
          <a:lstStyle/>
          <a:p>
            <a:pPr algn="l">
              <a:spcAft>
                <a:spcPts val="600"/>
              </a:spcAft>
            </a:pPr>
            <a:r>
              <a:rPr sz="1300" b="0">
                <a:solidFill>
                  <a:srgbClr val="FFFFFF"/>
                </a:solidFill>
              </a:rPr>
              <a:t>ciclos válidos de 6,6 min grabados (2,2 min analizables)</a:t>
            </a:r>
          </a:p>
        </p:txBody>
      </p:sp>
      <p:sp>
        <p:nvSpPr>
          <p:cNvPr id="8" name="Rectangle 7"/>
          <p:cNvSpPr/>
          <p:nvPr/>
        </p:nvSpPr>
        <p:spPr>
          <a:xfrm>
            <a:off x="520293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7725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6,5-8,2 %</a:t>
            </a:r>
          </a:p>
        </p:txBody>
      </p:sp>
      <p:sp>
        <p:nvSpPr>
          <p:cNvPr id="10" name="TextBox 9"/>
          <p:cNvSpPr txBox="1"/>
          <p:nvPr/>
        </p:nvSpPr>
        <p:spPr>
          <a:xfrm>
            <a:off x="547725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la frecuencia frente al conteo manual</a:t>
            </a:r>
          </a:p>
        </p:txBody>
      </p:sp>
      <p:sp>
        <p:nvSpPr>
          <p:cNvPr id="11" name="Rectangle 10"/>
          <p:cNvSpPr/>
          <p:nvPr/>
        </p:nvSpPr>
        <p:spPr>
          <a:xfrm>
            <a:off x="9500616" y="278892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74936" y="297180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17/17</a:t>
            </a:r>
          </a:p>
        </p:txBody>
      </p:sp>
      <p:sp>
        <p:nvSpPr>
          <p:cNvPr id="13" name="TextBox 12"/>
          <p:cNvSpPr txBox="1"/>
          <p:nvPr/>
        </p:nvSpPr>
        <p:spPr>
          <a:xfrm>
            <a:off x="9774936" y="379476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reales con la vista de cámara bien clasificada (umbral fijado con ellas)</a:t>
            </a:r>
          </a:p>
        </p:txBody>
      </p:sp>
      <p:sp>
        <p:nvSpPr>
          <p:cNvPr id="14" name="Rectangle 13"/>
          <p:cNvSpPr/>
          <p:nvPr/>
        </p:nvSpPr>
        <p:spPr>
          <a:xfrm>
            <a:off x="90525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957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12/13</a:t>
            </a:r>
          </a:p>
        </p:txBody>
      </p:sp>
      <p:sp>
        <p:nvSpPr>
          <p:cNvPr id="16" name="TextBox 15"/>
          <p:cNvSpPr txBox="1"/>
          <p:nvPr/>
        </p:nvSpPr>
        <p:spPr>
          <a:xfrm>
            <a:off x="117957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secuencias con la familia del estilo correcta (reglas biomecánicas)</a:t>
            </a:r>
          </a:p>
        </p:txBody>
      </p:sp>
      <p:sp>
        <p:nvSpPr>
          <p:cNvPr id="17" name="Rectangle 16"/>
          <p:cNvSpPr/>
          <p:nvPr/>
        </p:nvSpPr>
        <p:spPr>
          <a:xfrm>
            <a:off x="520293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725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0</a:t>
            </a:r>
          </a:p>
        </p:txBody>
      </p:sp>
      <p:sp>
        <p:nvSpPr>
          <p:cNvPr id="19" name="TextBox 18"/>
          <p:cNvSpPr txBox="1"/>
          <p:nvPr/>
        </p:nvSpPr>
        <p:spPr>
          <a:xfrm>
            <a:off x="547725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de fatiga en 3 sesiones de pasadas cortas</a:t>
            </a:r>
          </a:p>
        </p:txBody>
      </p:sp>
      <p:sp>
        <p:nvSpPr>
          <p:cNvPr id="20" name="Rectangle 19"/>
          <p:cNvSpPr/>
          <p:nvPr/>
        </p:nvSpPr>
        <p:spPr>
          <a:xfrm>
            <a:off x="9500616" y="4937760"/>
            <a:ext cx="4023360" cy="192024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74936" y="5120640"/>
            <a:ext cx="3566160" cy="777240"/>
          </a:xfrm>
          <a:prstGeom prst="rect">
            <a:avLst/>
          </a:prstGeom>
          <a:noFill/>
        </p:spPr>
        <p:txBody>
          <a:bodyPr wrap="square" anchor="t" lIns="0" rIns="0" tIns="0" bIns="0">
            <a:spAutoFit/>
          </a:bodyPr>
          <a:lstStyle/>
          <a:p>
            <a:pPr algn="l">
              <a:spcAft>
                <a:spcPts val="600"/>
              </a:spcAft>
            </a:pPr>
            <a:r>
              <a:rPr sz="3600" b="1">
                <a:solidFill>
                  <a:srgbClr val="FF3228"/>
                </a:solidFill>
              </a:rPr>
              <a:t>34 %</a:t>
            </a:r>
          </a:p>
        </p:txBody>
      </p:sp>
      <p:sp>
        <p:nvSpPr>
          <p:cNvPr id="22" name="TextBox 21"/>
          <p:cNvSpPr txBox="1"/>
          <p:nvPr/>
        </p:nvSpPr>
        <p:spPr>
          <a:xfrm>
            <a:off x="9774936" y="5943600"/>
            <a:ext cx="3566160" cy="822960"/>
          </a:xfrm>
          <a:prstGeom prst="rect">
            <a:avLst/>
          </a:prstGeom>
          <a:noFill/>
        </p:spPr>
        <p:txBody>
          <a:bodyPr wrap="square" anchor="t" lIns="0" rIns="0" tIns="0" bIns="0">
            <a:spAutoFit/>
          </a:bodyPr>
          <a:lstStyle/>
          <a:p>
            <a:pPr algn="l">
              <a:spcAft>
                <a:spcPts val="600"/>
              </a:spcAft>
            </a:pPr>
            <a:r>
              <a:rPr sz="1300" b="0">
                <a:solidFill>
                  <a:srgbClr val="1E1E1E"/>
                </a:solidFill>
              </a:rPr>
              <a:t>del tiempo grabado con el nadador analizable: la detección es el cuello de botella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Validación con referencia conocida</a:t>
            </a:r>
          </a:p>
        </p:txBody>
      </p:sp>
      <p:sp>
        <p:nvSpPr>
          <p:cNvPr id="4" name="Text Placeholder 3"/>
          <p:cNvSpPr>
            <a:spLocks noGrp="1"/>
          </p:cNvSpPr>
          <p:nvPr>
            <p:ph type="body" idx="18" sz="quarter"/>
          </p:nvPr>
        </p:nvSpPr>
        <p:spPr>
          <a:xfrm>
            <a:ext cx="12344400" cy="0"/>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Del análisis al entrenador</a:t>
            </a:r>
          </a:p>
        </p:txBody>
      </p:sp>
      <p:sp>
        <p:nvSpPr>
          <p:cNvPr id="4" name="Text Placeholder 3"/>
          <p:cNvSpPr>
            <a:spLocks noGrp="1"/>
          </p:cNvSpPr>
          <p:nvPr>
            <p:ph type="body" idx="18" sz="quarter"/>
          </p:nvPr>
        </p:nvSpPr>
        <p:spPr>
          <a:xfrm>
            <a:ext cx="12344400" cy="0"/>
          </a:xfrm>
        </p:spPr>
        <p:txBody>
          <a:bodyPr/>
          <a:lstStyle/>
          <a:p>
            <a:r>
              <a:t>Vídeo anotado y modo en tiempo real</a:t>
            </a:r>
          </a:p>
        </p:txBody>
      </p:sp>
      <p:pic>
        <p:nvPicPr>
          <p:cNvPr id="5" name="Picture 4" descr="panel_video.png"/>
          <p:cNvPicPr>
            <a:picLocks noChangeAspect="1"/>
          </p:cNvPicPr>
          <p:nvPr/>
        </p:nvPicPr>
        <p:blipFill>
          <a:blip r:embed="rId3"/>
          <a:stretch>
            <a:fillRect/>
          </a:stretch>
        </p:blipFill>
        <p:spPr>
          <a:xfrm>
            <a:off x="905256" y="2697480"/>
            <a:ext cx="7315200" cy="4114800"/>
          </a:xfrm>
          <a:prstGeom prst="rect">
            <a:avLst/>
          </a:prstGeom>
        </p:spPr>
      </p:pic>
      <p:sp>
        <p:nvSpPr>
          <p:cNvPr id="6" name="TextBox 5"/>
          <p:cNvSpPr txBox="1"/>
          <p:nvPr/>
        </p:nvSpPr>
        <p:spPr>
          <a:xfrm>
            <a:off x="8686800" y="2743200"/>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Estado por ciclo</a:t>
            </a:r>
          </a:p>
        </p:txBody>
      </p:sp>
      <p:sp>
        <p:nvSpPr>
          <p:cNvPr id="7" name="TextBox 6"/>
          <p:cNvSpPr txBox="1"/>
          <p:nvPr/>
        </p:nvSpPr>
        <p:spPr>
          <a:xfrm>
            <a:off x="8686800" y="3127248"/>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FRESCO / FATIGA, ciclo y frecuencia sobre el vídeo</a:t>
            </a:r>
          </a:p>
        </p:txBody>
      </p:sp>
      <p:sp>
        <p:nvSpPr>
          <p:cNvPr id="8" name="TextBox 7"/>
          <p:cNvSpPr txBox="1"/>
          <p:nvPr/>
        </p:nvSpPr>
        <p:spPr>
          <a:xfrm>
            <a:off x="8686800" y="3767328"/>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Barra de anomalía</a:t>
            </a:r>
          </a:p>
        </p:txBody>
      </p:sp>
      <p:sp>
        <p:nvSpPr>
          <p:cNvPr id="9" name="TextBox 8"/>
          <p:cNvSpPr txBox="1"/>
          <p:nvPr/>
        </p:nvSpPr>
        <p:spPr>
          <a:xfrm>
            <a:off x="8686800" y="4151376"/>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Puntuación de cada ciclo, umbral e inicio de la fatiga</a:t>
            </a:r>
          </a:p>
        </p:txBody>
      </p:sp>
      <p:sp>
        <p:nvSpPr>
          <p:cNvPr id="10" name="TextBox 9"/>
          <p:cNvSpPr txBox="1"/>
          <p:nvPr/>
        </p:nvSpPr>
        <p:spPr>
          <a:xfrm>
            <a:off x="8686800" y="4791456"/>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Tiempo real</a:t>
            </a:r>
          </a:p>
        </p:txBody>
      </p:sp>
      <p:sp>
        <p:nvSpPr>
          <p:cNvPr id="11" name="TextBox 10"/>
          <p:cNvSpPr txBox="1"/>
          <p:nvPr/>
        </p:nvSpPr>
        <p:spPr>
          <a:xfrm>
            <a:off x="8686800" y="5175504"/>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Calibra con los 10 primeros ciclos y explica con SHAP en directo</a:t>
            </a:r>
          </a:p>
        </p:txBody>
      </p:sp>
      <p:sp>
        <p:nvSpPr>
          <p:cNvPr id="12" name="TextBox 11"/>
          <p:cNvSpPr txBox="1"/>
          <p:nvPr/>
        </p:nvSpPr>
        <p:spPr>
          <a:xfrm>
            <a:off x="8686800" y="5815584"/>
            <a:ext cx="5029200" cy="365760"/>
          </a:xfrm>
          <a:prstGeom prst="rect">
            <a:avLst/>
          </a:prstGeom>
          <a:noFill/>
        </p:spPr>
        <p:txBody>
          <a:bodyPr wrap="square" anchor="t" lIns="0" rIns="0" tIns="0" bIns="0">
            <a:spAutoFit/>
          </a:bodyPr>
          <a:lstStyle/>
          <a:p>
            <a:pPr algn="l">
              <a:spcAft>
                <a:spcPts val="600"/>
              </a:spcAft>
            </a:pPr>
            <a:r>
              <a:rPr sz="1600" b="1">
                <a:solidFill>
                  <a:srgbClr val="FF3228"/>
                </a:solidFill>
              </a:rPr>
              <a:t>Automático</a:t>
            </a:r>
          </a:p>
        </p:txBody>
      </p:sp>
      <p:sp>
        <p:nvSpPr>
          <p:cNvPr id="13" name="TextBox 12"/>
          <p:cNvSpPr txBox="1"/>
          <p:nvPr/>
        </p:nvSpPr>
        <p:spPr>
          <a:xfrm>
            <a:off x="8686800" y="6199632"/>
            <a:ext cx="5029200" cy="548640"/>
          </a:xfrm>
          <a:prstGeom prst="rect">
            <a:avLst/>
          </a:prstGeom>
          <a:noFill/>
        </p:spPr>
        <p:txBody>
          <a:bodyPr wrap="square" anchor="t" lIns="0" rIns="0" tIns="0" bIns="0">
            <a:spAutoFit/>
          </a:bodyPr>
          <a:lstStyle/>
          <a:p>
            <a:pPr algn="l">
              <a:spcAft>
                <a:spcPts val="600"/>
              </a:spcAft>
            </a:pPr>
            <a:r>
              <a:rPr sz="1300" b="0">
                <a:solidFill>
                  <a:srgbClr val="1E1E1E"/>
                </a:solidFill>
              </a:rPr>
              <a:t>Vista de cámara, familia del estilo y lotes de vídeos</a:t>
            </a:r>
          </a:p>
        </p:txBody>
      </p:sp>
      <p:sp>
        <p:nvSpPr>
          <p:cNvPr id="14" name="TextBox 13"/>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Captura del vídeo anotado sobre datos sintéticos.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Demostración: 100 m libre</a:t>
            </a:r>
          </a:p>
        </p:txBody>
      </p:sp>
      <p:sp>
        <p:nvSpPr>
          <p:cNvPr id="4" name="Text Placeholder 3"/>
          <p:cNvSpPr>
            <a:spLocks noGrp="1"/>
          </p:cNvSpPr>
          <p:nvPr>
            <p:ph type="body" idx="18" sz="quarter"/>
          </p:nvPr>
        </p:nvSpPr>
        <p:spPr>
          <a:xfrm>
            <a:ext cx="12344400" cy="0"/>
          </a:xfrm>
        </p:spPr>
        <p:txBody>
          <a:bodyPr/>
          <a:lstStyle/>
          <a:p>
            <a:r>
              <a:t>Dos grabaciones nuevas analizadas con StrokeLab (GoPro, 60 fps)</a:t>
            </a:r>
          </a:p>
        </p:txBody>
      </p:sp>
      <p:sp>
        <p:nvSpPr>
          <p:cNvPr id="5" name="Rectangle 4"/>
          <p:cNvSpPr/>
          <p:nvPr/>
        </p:nvSpPr>
        <p:spPr>
          <a:xfrm>
            <a:off x="905256"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7" name="TextBox 6"/>
          <p:cNvSpPr txBox="1"/>
          <p:nvPr/>
        </p:nvSpPr>
        <p:spPr>
          <a:xfrm>
            <a:off x="905256"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suave</a:t>
            </a:r>
          </a:p>
        </p:txBody>
      </p:sp>
      <p:sp>
        <p:nvSpPr>
          <p:cNvPr id="8" name="TextBox 7"/>
          <p:cNvSpPr txBox="1"/>
          <p:nvPr/>
        </p:nvSpPr>
        <p:spPr>
          <a:xfrm>
            <a:off x="905256"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lateral y estilo crol detectados automáticamente</a:t>
            </a:r>
          </a:p>
          <a:p>
            <a:pPr algn="l">
              <a:spcAft>
                <a:spcPts val="400"/>
              </a:spcAft>
            </a:pPr>
            <a:r>
              <a:rPr sz="1300" b="0">
                <a:solidFill>
                  <a:srgbClr val="1E1E1E"/>
                </a:solidFill>
              </a:rPr>
              <a:t>•  20 ciclos válidos · 42,5 s analizables de 86 s</a:t>
            </a:r>
          </a:p>
          <a:p>
            <a:pPr algn="l">
              <a:spcAft>
                <a:spcPts val="400"/>
              </a:spcAft>
            </a:pPr>
            <a:r>
              <a:rPr sz="1300" b="0">
                <a:solidFill>
                  <a:srgbClr val="1E1E1E"/>
                </a:solidFill>
              </a:rPr>
              <a:t>•  56 ciclos/min de media</a:t>
            </a:r>
          </a:p>
          <a:p>
            <a:pPr algn="l">
              <a:spcAft>
                <a:spcPts val="400"/>
              </a:spcAft>
            </a:pPr>
            <a:r>
              <a:rPr sz="1300" b="0">
                <a:solidFill>
                  <a:srgbClr val="1E1E1E"/>
                </a:solidFill>
              </a:rPr>
              <a:t>•  Sin fatiga sostenida</a:t>
            </a:r>
          </a:p>
        </p:txBody>
      </p:sp>
      <p:sp>
        <p:nvSpPr>
          <p:cNvPr id="9" name="Rectangle 8"/>
          <p:cNvSpPr/>
          <p:nvPr/>
        </p:nvSpPr>
        <p:spPr>
          <a:xfrm>
            <a:off x="7406640"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11" name="TextBox 10"/>
          <p:cNvSpPr txBox="1"/>
          <p:nvPr/>
        </p:nvSpPr>
        <p:spPr>
          <a:xfrm>
            <a:off x="7406640"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rápido</a:t>
            </a:r>
          </a:p>
        </p:txBody>
      </p:sp>
      <p:sp>
        <p:nvSpPr>
          <p:cNvPr id="12" name="TextBox 11"/>
          <p:cNvSpPr txBox="1"/>
          <p:nvPr/>
        </p:nvSpPr>
        <p:spPr>
          <a:xfrm>
            <a:off x="7406640"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frontal u oblicua: indicada manualmente (en lateral, solo 2 ciclos)</a:t>
            </a:r>
          </a:p>
          <a:p>
            <a:pPr algn="l">
              <a:spcAft>
                <a:spcPts val="400"/>
              </a:spcAft>
            </a:pPr>
            <a:r>
              <a:rPr sz="1300" b="0">
                <a:solidFill>
                  <a:srgbClr val="1E1E1E"/>
                </a:solidFill>
              </a:rPr>
              <a:t>•  39 ciclos válidos · 76 s analizables de 106 s</a:t>
            </a:r>
          </a:p>
          <a:p>
            <a:pPr algn="l">
              <a:spcAft>
                <a:spcPts val="400"/>
              </a:spcAft>
            </a:pPr>
            <a:r>
              <a:rPr sz="1300" b="0">
                <a:solidFill>
                  <a:srgbClr val="1E1E1E"/>
                </a:solidFill>
              </a:rPr>
              <a:t>•  54 ciclos/min de media</a:t>
            </a:r>
          </a:p>
          <a:p>
            <a:pPr algn="l">
              <a:spcAft>
                <a:spcPts val="400"/>
              </a:spcAft>
            </a:pPr>
            <a:r>
              <a:rPr sz="1300" b="0">
                <a:solidFill>
                  <a:srgbClr val="1E1E1E"/>
                </a:solidFill>
              </a:rPr>
              <a:t>•  Sin fatiga declarada: los 2 últimos ciclos son los más anómalos del vídeo (la regla exige 3 seguidos)</a:t>
            </a:r>
          </a:p>
        </p:txBody>
      </p:sp>
      <p:sp>
        <p:nvSpPr>
          <p:cNvPr id="13" name="TextBox 12"/>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Grabaciones posteriores a la entrega, solo como demostración; frecuencia sin validar con conteo manual.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Limitaciones y trabajo futuro</a:t>
            </a:r>
          </a:p>
        </p:txBody>
      </p:sp>
      <p:sp>
        <p:nvSpPr>
          <p:cNvPr id="4" name="Text Placeholder 3"/>
          <p:cNvSpPr>
            <a:spLocks noGrp="1"/>
          </p:cNvSpPr>
          <p:nvPr>
            <p:ph type="body" idx="18" sz="quarter"/>
          </p:nvPr>
        </p:nvSpPr>
        <p:spPr>
          <a:xfrm>
            <a:ext cx="12344400" cy="0"/>
          </a:xfrm>
        </p:spPr>
        <p:txBody>
          <a:bodyPr/>
          <a:lstStyle/>
          <a:p>
            <a:r>
              <a:t>La debilidad está en los datos, no en la arquitectura</a:t>
            </a:r>
          </a:p>
        </p:txBody>
      </p:sp>
      <p:sp>
        <p:nvSpPr>
          <p:cNvPr id="5" name="Rectangle 4"/>
          <p:cNvSpPr/>
          <p:nvPr/>
        </p:nvSpPr>
        <p:spPr>
          <a:xfrm>
            <a:off x="905256" y="2788920"/>
            <a:ext cx="6400800" cy="41148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5" y="3017520"/>
            <a:ext cx="5760720" cy="457200"/>
          </a:xfrm>
          <a:prstGeom prst="rect">
            <a:avLst/>
          </a:prstGeom>
          <a:noFill/>
        </p:spPr>
        <p:txBody>
          <a:bodyPr wrap="square" anchor="t" lIns="0" rIns="0" tIns="0" bIns="0">
            <a:spAutoFit/>
          </a:bodyPr>
          <a:lstStyle/>
          <a:p>
            <a:pPr algn="l">
              <a:spcAft>
                <a:spcPts val="600"/>
              </a:spcAft>
            </a:pPr>
            <a:r>
              <a:rPr sz="2000" b="1">
                <a:solidFill>
                  <a:srgbClr val="FF3228"/>
                </a:solidFill>
              </a:rPr>
              <a:t>Limitaciones</a:t>
            </a:r>
          </a:p>
        </p:txBody>
      </p:sp>
      <p:sp>
        <p:nvSpPr>
          <p:cNvPr id="7" name="TextBox 6"/>
          <p:cNvSpPr txBox="1"/>
          <p:nvPr/>
        </p:nvSpPr>
        <p:spPr>
          <a:xfrm>
            <a:off x="1225295" y="3611880"/>
            <a:ext cx="5760720" cy="3200400"/>
          </a:xfrm>
          <a:prstGeom prst="rect">
            <a:avLst/>
          </a:prstGeom>
          <a:noFill/>
        </p:spPr>
        <p:txBody>
          <a:bodyPr wrap="square" anchor="t" lIns="0" rIns="0" tIns="0" bIns="0">
            <a:spAutoFit/>
          </a:bodyPr>
          <a:lstStyle/>
          <a:p>
            <a:pPr algn="l">
              <a:spcAft>
                <a:spcPts val="1000"/>
              </a:spcAft>
            </a:pPr>
            <a:r>
              <a:rPr sz="1400" b="0">
                <a:solidFill>
                  <a:srgbClr val="1E1E1E"/>
                </a:solidFill>
              </a:rPr>
              <a:t>•  Pocos datos reales y sin referencia fisiológica de la fatiga</a:t>
            </a:r>
          </a:p>
          <a:p>
            <a:pPr algn="l">
              <a:spcAft>
                <a:spcPts val="1000"/>
              </a:spcAft>
            </a:pPr>
            <a:r>
              <a:rPr sz="1400" b="0">
                <a:solidFill>
                  <a:srgbClr val="1E1E1E"/>
                </a:solidFill>
              </a:rPr>
              <a:t>•  Detección parcial: nadador analizable el 34 % del tiempo</a:t>
            </a:r>
          </a:p>
          <a:p>
            <a:pPr algn="l">
              <a:spcAft>
                <a:spcPts val="1000"/>
              </a:spcAft>
            </a:pPr>
            <a:r>
              <a:rPr sz="1400" b="0">
                <a:solidFill>
                  <a:srgbClr val="1E1E1E"/>
                </a:solidFill>
              </a:rPr>
              <a:t>•  Vista lateral: brazos y piernas de cada lado poco distinguibles</a:t>
            </a:r>
          </a:p>
          <a:p>
            <a:pPr algn="l">
              <a:spcAft>
                <a:spcPts val="1000"/>
              </a:spcAft>
            </a:pPr>
            <a:r>
              <a:rPr sz="1400" b="0">
                <a:solidFill>
                  <a:srgbClr val="1E1E1E"/>
                </a:solidFill>
              </a:rPr>
              <a:t>•  Una sola cámara: ángulos 2D proyectados; 3D poco fiable en piernas</a:t>
            </a:r>
          </a:p>
          <a:p>
            <a:pPr algn="l">
              <a:spcAft>
                <a:spcPts val="1000"/>
              </a:spcAft>
            </a:pPr>
            <a:r>
              <a:rPr sz="1400" b="0">
                <a:solidFill>
                  <a:srgbClr val="1E1E1E"/>
                </a:solidFill>
              </a:rPr>
              <a:t>•  Umbrales de vista y estilo fijados con los mismos vídeos</a:t>
            </a:r>
          </a:p>
        </p:txBody>
      </p:sp>
      <p:sp>
        <p:nvSpPr>
          <p:cNvPr id="8" name="Rectangle 7"/>
          <p:cNvSpPr/>
          <p:nvPr/>
        </p:nvSpPr>
        <p:spPr>
          <a:xfrm>
            <a:off x="7315200" y="2788920"/>
            <a:ext cx="6400800" cy="41148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0" y="3017520"/>
            <a:ext cx="5760720" cy="457200"/>
          </a:xfrm>
          <a:prstGeom prst="rect">
            <a:avLst/>
          </a:prstGeom>
          <a:noFill/>
        </p:spPr>
        <p:txBody>
          <a:bodyPr wrap="square" anchor="t" lIns="0" rIns="0" tIns="0" bIns="0">
            <a:spAutoFit/>
          </a:bodyPr>
          <a:lstStyle/>
          <a:p>
            <a:pPr algn="l">
              <a:spcAft>
                <a:spcPts val="600"/>
              </a:spcAft>
            </a:pPr>
            <a:r>
              <a:rPr sz="2000" b="1">
                <a:solidFill>
                  <a:srgbClr val="FFFFFF"/>
                </a:solidFill>
              </a:rPr>
              <a:t>Trabajo futuro</a:t>
            </a:r>
          </a:p>
        </p:txBody>
      </p:sp>
      <p:sp>
        <p:nvSpPr>
          <p:cNvPr id="10" name="TextBox 9"/>
          <p:cNvSpPr txBox="1"/>
          <p:nvPr/>
        </p:nvSpPr>
        <p:spPr>
          <a:xfrm>
            <a:off x="7635240" y="3611880"/>
            <a:ext cx="5760720" cy="3200400"/>
          </a:xfrm>
          <a:prstGeom prst="rect">
            <a:avLst/>
          </a:prstGeom>
          <a:noFill/>
        </p:spPr>
        <p:txBody>
          <a:bodyPr wrap="square" anchor="t" lIns="0" rIns="0" tIns="0" bIns="0">
            <a:spAutoFit/>
          </a:bodyPr>
          <a:lstStyle/>
          <a:p>
            <a:pPr algn="l">
              <a:spcAft>
                <a:spcPts val="1000"/>
              </a:spcAft>
            </a:pPr>
            <a:r>
              <a:rPr sz="1400" b="0">
                <a:solidFill>
                  <a:srgbClr val="FFFFFF"/>
                </a:solidFill>
              </a:rPr>
              <a:t>•  Series largas de nado continuo con lactato, esfuerzo percibido y valoración experta</a:t>
            </a:r>
          </a:p>
          <a:p>
            <a:pPr algn="l">
              <a:spcAft>
                <a:spcPts val="1000"/>
              </a:spcAft>
            </a:pPr>
            <a:r>
              <a:rPr sz="1400" b="0">
                <a:solidFill>
                  <a:srgbClr val="FFFFFF"/>
                </a:solidFill>
              </a:rPr>
              <a:t>•  Anotar fotogramas propios: OKS, PCK y mAP con datos propios</a:t>
            </a:r>
          </a:p>
          <a:p>
            <a:pPr algn="l">
              <a:spcAft>
                <a:spcPts val="1000"/>
              </a:spcAft>
            </a:pPr>
            <a:r>
              <a:rPr sz="1400" b="0">
                <a:solidFill>
                  <a:srgbClr val="FFFFFF"/>
                </a:solidFill>
              </a:rPr>
              <a:t>•  Ajuste fino de la pose con SwimXYZ y fotogramas propios; ViTPose con GPU</a:t>
            </a:r>
          </a:p>
          <a:p>
            <a:pPr algn="l">
              <a:spcAft>
                <a:spcPts val="1000"/>
              </a:spcAft>
            </a:pPr>
            <a:r>
              <a:rPr sz="1400" b="0">
                <a:solidFill>
                  <a:srgbClr val="FFFFFF"/>
                </a:solidFill>
              </a:rPr>
              <a:t>•  Modo audio, sensores inerciales e interfaz para el entrenador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Conclusiones</a:t>
            </a:r>
          </a:p>
        </p:txBody>
      </p:sp>
      <p:sp>
        <p:nvSpPr>
          <p:cNvPr id="4" name="Text Placeholder 3"/>
          <p:cNvSpPr>
            <a:spLocks noGrp="1"/>
          </p:cNvSpPr>
          <p:nvPr>
            <p:ph type="body" idx="18" sz="quarter"/>
          </p:nvPr>
        </p:nvSpPr>
        <p:spPr>
          <a:xfrm>
            <a:ext cx="12344400" cy="0"/>
          </a:xfrm>
        </p:spPr>
        <p:txBody>
          <a:bodyPr/>
          <a:lstStyle/>
          <a:p>
            <a:r>
              <a:t>7 objetivos cumplidos y 2 parciales</a:t>
            </a:r>
          </a:p>
        </p:txBody>
      </p:sp>
      <p:sp>
        <p:nvSpPr>
          <p:cNvPr id="5" name="Rectangle 4"/>
          <p:cNvSpPr/>
          <p:nvPr/>
        </p:nvSpPr>
        <p:spPr>
          <a:xfrm>
            <a:off x="90525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813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OE1 · Cumplido</a:t>
            </a:r>
          </a:p>
        </p:txBody>
      </p:sp>
      <p:sp>
        <p:nvSpPr>
          <p:cNvPr id="7" name="TextBox 6"/>
          <p:cNvSpPr txBox="1"/>
          <p:nvPr/>
        </p:nvSpPr>
        <p:spPr>
          <a:xfrm>
            <a:off x="108813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Selección del modelo de pose</a:t>
            </a:r>
          </a:p>
        </p:txBody>
      </p:sp>
      <p:sp>
        <p:nvSpPr>
          <p:cNvPr id="8" name="Rectangle 7"/>
          <p:cNvSpPr/>
          <p:nvPr/>
        </p:nvSpPr>
        <p:spPr>
          <a:xfrm>
            <a:off x="3785615"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6849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OE2 · Cumplido*</a:t>
            </a:r>
          </a:p>
        </p:txBody>
      </p:sp>
      <p:sp>
        <p:nvSpPr>
          <p:cNvPr id="10" name="TextBox 9"/>
          <p:cNvSpPr txBox="1"/>
          <p:nvPr/>
        </p:nvSpPr>
        <p:spPr>
          <a:xfrm>
            <a:off x="396849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Elevación a 3D</a:t>
            </a:r>
          </a:p>
        </p:txBody>
      </p:sp>
      <p:sp>
        <p:nvSpPr>
          <p:cNvPr id="11" name="Rectangle 10"/>
          <p:cNvSpPr/>
          <p:nvPr/>
        </p:nvSpPr>
        <p:spPr>
          <a:xfrm>
            <a:off x="6665976" y="278892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8856" y="2926079"/>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OE3 · Cumplido</a:t>
            </a:r>
          </a:p>
        </p:txBody>
      </p:sp>
      <p:sp>
        <p:nvSpPr>
          <p:cNvPr id="13" name="TextBox 12"/>
          <p:cNvSpPr txBox="1"/>
          <p:nvPr/>
        </p:nvSpPr>
        <p:spPr>
          <a:xfrm>
            <a:off x="6848856" y="329183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Ciclos de brazada</a:t>
            </a:r>
          </a:p>
        </p:txBody>
      </p:sp>
      <p:sp>
        <p:nvSpPr>
          <p:cNvPr id="14" name="Rectangle 13"/>
          <p:cNvSpPr/>
          <p:nvPr/>
        </p:nvSpPr>
        <p:spPr>
          <a:xfrm>
            <a:off x="90525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813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OE4 · Cumplido</a:t>
            </a:r>
          </a:p>
        </p:txBody>
      </p:sp>
      <p:sp>
        <p:nvSpPr>
          <p:cNvPr id="16" name="TextBox 15"/>
          <p:cNvSpPr txBox="1"/>
          <p:nvPr/>
        </p:nvSpPr>
        <p:spPr>
          <a:xfrm>
            <a:off x="108813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Variables por ciclo</a:t>
            </a:r>
          </a:p>
        </p:txBody>
      </p:sp>
      <p:sp>
        <p:nvSpPr>
          <p:cNvPr id="17" name="Rectangle 16"/>
          <p:cNvSpPr/>
          <p:nvPr/>
        </p:nvSpPr>
        <p:spPr>
          <a:xfrm>
            <a:off x="3785615" y="4114800"/>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849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OE5 · Parcial</a:t>
            </a:r>
          </a:p>
        </p:txBody>
      </p:sp>
      <p:sp>
        <p:nvSpPr>
          <p:cNvPr id="19" name="TextBox 18"/>
          <p:cNvSpPr txBox="1"/>
          <p:nvPr/>
        </p:nvSpPr>
        <p:spPr>
          <a:xfrm>
            <a:off x="396849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Inicio de la fatiga</a:t>
            </a:r>
          </a:p>
        </p:txBody>
      </p:sp>
      <p:sp>
        <p:nvSpPr>
          <p:cNvPr id="20" name="Rectangle 19"/>
          <p:cNvSpPr/>
          <p:nvPr/>
        </p:nvSpPr>
        <p:spPr>
          <a:xfrm>
            <a:off x="6665976" y="4114800"/>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48856" y="425196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OE6 · Cumplido</a:t>
            </a:r>
          </a:p>
        </p:txBody>
      </p:sp>
      <p:sp>
        <p:nvSpPr>
          <p:cNvPr id="22" name="TextBox 21"/>
          <p:cNvSpPr txBox="1"/>
          <p:nvPr/>
        </p:nvSpPr>
        <p:spPr>
          <a:xfrm>
            <a:off x="6848856" y="4617720"/>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Atribución con SHAP</a:t>
            </a:r>
          </a:p>
        </p:txBody>
      </p:sp>
      <p:sp>
        <p:nvSpPr>
          <p:cNvPr id="23" name="Rectangle 22"/>
          <p:cNvSpPr/>
          <p:nvPr/>
        </p:nvSpPr>
        <p:spPr>
          <a:xfrm>
            <a:off x="905256" y="5440679"/>
            <a:ext cx="2697480" cy="11430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813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OE7 · Parcial</a:t>
            </a:r>
          </a:p>
        </p:txBody>
      </p:sp>
      <p:sp>
        <p:nvSpPr>
          <p:cNvPr id="25" name="TextBox 24"/>
          <p:cNvSpPr txBox="1"/>
          <p:nvPr/>
        </p:nvSpPr>
        <p:spPr>
          <a:xfrm>
            <a:off x="108813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Clasificación del estilo</a:t>
            </a:r>
          </a:p>
        </p:txBody>
      </p:sp>
      <p:sp>
        <p:nvSpPr>
          <p:cNvPr id="26" name="Rectangle 25"/>
          <p:cNvSpPr/>
          <p:nvPr/>
        </p:nvSpPr>
        <p:spPr>
          <a:xfrm>
            <a:off x="3785615"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849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OE8 · Cumplido</a:t>
            </a:r>
          </a:p>
        </p:txBody>
      </p:sp>
      <p:sp>
        <p:nvSpPr>
          <p:cNvPr id="28" name="TextBox 27"/>
          <p:cNvSpPr txBox="1"/>
          <p:nvPr/>
        </p:nvSpPr>
        <p:spPr>
          <a:xfrm>
            <a:off x="396849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Vídeo anotado y tiempo real</a:t>
            </a:r>
          </a:p>
        </p:txBody>
      </p:sp>
      <p:sp>
        <p:nvSpPr>
          <p:cNvPr id="29" name="Rectangle 28"/>
          <p:cNvSpPr/>
          <p:nvPr/>
        </p:nvSpPr>
        <p:spPr>
          <a:xfrm>
            <a:off x="6665976" y="5440679"/>
            <a:ext cx="2697480" cy="1143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48856" y="5577840"/>
            <a:ext cx="2377440" cy="365760"/>
          </a:xfrm>
          <a:prstGeom prst="rect">
            <a:avLst/>
          </a:prstGeom>
          <a:noFill/>
        </p:spPr>
        <p:txBody>
          <a:bodyPr wrap="square" anchor="t" lIns="0" rIns="0" tIns="0" bIns="0">
            <a:spAutoFit/>
          </a:bodyPr>
          <a:lstStyle/>
          <a:p>
            <a:pPr algn="l">
              <a:spcAft>
                <a:spcPts val="600"/>
              </a:spcAft>
            </a:pPr>
            <a:r>
              <a:rPr sz="1200" b="1">
                <a:solidFill>
                  <a:srgbClr val="FFFFFF"/>
                </a:solidFill>
              </a:rPr>
              <a:t>OE9 · Cumplido</a:t>
            </a:r>
          </a:p>
        </p:txBody>
      </p:sp>
      <p:sp>
        <p:nvSpPr>
          <p:cNvPr id="31" name="TextBox 30"/>
          <p:cNvSpPr txBox="1"/>
          <p:nvPr/>
        </p:nvSpPr>
        <p:spPr>
          <a:xfrm>
            <a:off x="6848856" y="5943599"/>
            <a:ext cx="2377440" cy="548640"/>
          </a:xfrm>
          <a:prstGeom prst="rect">
            <a:avLst/>
          </a:prstGeom>
          <a:noFill/>
        </p:spPr>
        <p:txBody>
          <a:bodyPr wrap="square" anchor="t" lIns="0" rIns="0" tIns="0" bIns="0">
            <a:spAutoFit/>
          </a:bodyPr>
          <a:lstStyle/>
          <a:p>
            <a:pPr algn="l">
              <a:spcAft>
                <a:spcPts val="600"/>
              </a:spcAft>
            </a:pPr>
            <a:r>
              <a:rPr sz="1300" b="0">
                <a:solidFill>
                  <a:srgbClr val="FFFFFF"/>
                </a:solidFill>
              </a:rPr>
              <a:t>Evaluación con datos sintéticos</a:t>
            </a:r>
          </a:p>
        </p:txBody>
      </p:sp>
      <p:sp>
        <p:nvSpPr>
          <p:cNvPr id="32" name="TextBox 31"/>
          <p:cNvSpPr txBox="1"/>
          <p:nvPr/>
        </p:nvSpPr>
        <p:spPr>
          <a:xfrm>
            <a:off x="9784080" y="2788920"/>
            <a:ext cx="3931920" cy="3840480"/>
          </a:xfrm>
          <a:prstGeom prst="rect">
            <a:avLst/>
          </a:prstGeom>
          <a:noFill/>
        </p:spPr>
        <p:txBody>
          <a:bodyPr wrap="square" anchor="t" lIns="0" rIns="0" tIns="0" bIns="0">
            <a:spAutoFit/>
          </a:bodyPr>
          <a:lstStyle/>
          <a:p>
            <a:pPr algn="l">
              <a:spcAft>
                <a:spcPts val="1400"/>
              </a:spcAft>
            </a:pPr>
            <a:r>
              <a:rPr sz="2000" b="1">
                <a:solidFill>
                  <a:srgbClr val="FF3228"/>
                </a:solidFill>
              </a:rPr>
              <a:t>La calidad de los datos pesa más que el modelo.</a:t>
            </a:r>
          </a:p>
          <a:p>
            <a:pPr algn="l">
              <a:spcAft>
                <a:spcPts val="600"/>
              </a:spcAft>
            </a:pPr>
            <a:r>
              <a:rPr sz="1400" b="0">
                <a:solidFill>
                  <a:srgbClr val="1E1E1E"/>
                </a:solidFill>
              </a:rPr>
              <a:t>Cada resultado se contrastó con una referencia: conteo manual o datos sintéticos con la verdad conocida.</a:t>
            </a:r>
          </a:p>
        </p:txBody>
      </p:sp>
      <p:sp>
        <p:nvSpPr>
          <p:cNvPr id="33" name="TextBox 32"/>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Cumplido con limitaciones (3D válido en codo y cadera, no en rodilla).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Anexos</a:t>
            </a:r>
          </a:p>
        </p:txBody>
      </p:sp>
      <p:sp>
        <p:nvSpPr>
          <p:cNvPr id="4" name="Text Placeholder 3"/>
          <p:cNvSpPr>
            <a:spLocks noGrp="1"/>
          </p:cNvSpPr>
          <p:nvPr>
            <p:ph type="body" idx="18" sz="quarter"/>
          </p:nvPr>
        </p:nvSpPr>
        <p:spPr/>
        <p:txBody>
          <a:bodyPr/>
          <a:lstStyle/>
          <a:p>
            <a:r>
              <a:t>Material de apoyo para las preguntas del tribunal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A1 · Modelos de pose en CPU</a:t>
            </a:r>
          </a:p>
        </p:txBody>
      </p:sp>
      <p:sp>
        <p:nvSpPr>
          <p:cNvPr id="4" name="Text Placeholder 3"/>
          <p:cNvSpPr>
            <a:spLocks noGrp="1"/>
          </p:cNvSpPr>
          <p:nvPr>
            <p:ph type="body" idx="18" sz="quarter"/>
          </p:nvPr>
        </p:nvSpPr>
        <p:spPr>
          <a:xfrm>
            <a:ext cx="12344400" cy="0"/>
          </a:xfrm>
        </p:spPr>
        <p:txBody>
          <a:bodyPr/>
          <a:lstStyle/>
          <a:p>
            <a:r>
              <a:t>Secuencia GX011614 (5120 × 2880 px), portátil de 4 hilos</a:t>
            </a:r>
          </a:p>
        </p:txBody>
      </p:sp>
      <p:graphicFrame>
        <p:nvGraphicFramePr>
          <p:cNvPr id="5" name="Table 4"/>
          <p:cNvGraphicFramePr>
            <a:graphicFrameLocks noGrp="1"/>
          </p:cNvGraphicFramePr>
          <p:nvPr/>
        </p:nvGraphicFramePr>
        <p:xfrm>
          <a:off x="905256" y="2880360"/>
          <a:ext cx="12801600" cy="2743200"/>
        </p:xfrm>
        <a:graphic>
          <a:graphicData uri="http://schemas.openxmlformats.org/drawingml/2006/table">
            <a:tbl>
              <a:tblPr firstRow="1" bandRow="1">
                <a:tableStyleId>{5C22544A-7EE6-4342-B048-85BDC9FD1C3A}</a:tableStyleId>
              </a:tblPr>
              <a:tblGrid>
                <a:gridCol w="4206240"/>
                <a:gridCol w="2103120"/>
                <a:gridCol w="2103120"/>
                <a:gridCol w="2194560"/>
                <a:gridCol w="2194560"/>
              </a:tblGrid>
              <a:tr h="548640">
                <a:tc>
                  <a:txBody>
                    <a:bodyPr/>
                    <a:lstStyle/>
                    <a:p>
                      <a:r>
                        <a:rPr sz="1400" b="1">
                          <a:solidFill>
                            <a:srgbClr val="FFFFFF"/>
                          </a:solidFill>
                        </a:rPr>
                        <a:t>Modelo</a:t>
                      </a:r>
                    </a:p>
                  </a:txBody>
                  <a:tcPr marL="91440" marR="91440" marT="27432" marB="27432" anchor="ctr">
                    <a:solidFill>
                      <a:srgbClr val="FF3228"/>
                    </a:solidFill>
                  </a:tcPr>
                </a:tc>
                <a:tc>
                  <a:txBody>
                    <a:bodyPr/>
                    <a:lstStyle/>
                    <a:p>
                      <a:r>
                        <a:rPr sz="1400" b="1">
                          <a:solidFill>
                            <a:srgbClr val="FFFFFF"/>
                          </a:solidFill>
                        </a:rPr>
                        <a:t>Parámetros (M)</a:t>
                      </a:r>
                    </a:p>
                  </a:txBody>
                  <a:tcPr marL="91440" marR="91440" marT="27432" marB="27432" anchor="ctr">
                    <a:solidFill>
                      <a:srgbClr val="FF3228"/>
                    </a:solidFill>
                  </a:tcPr>
                </a:tc>
                <a:tc>
                  <a:txBody>
                    <a:bodyPr/>
                    <a:lstStyle/>
                    <a:p>
                      <a:r>
                        <a:rPr sz="1400" b="1">
                          <a:solidFill>
                            <a:srgbClr val="FFFFFF"/>
                          </a:solidFill>
                        </a:rPr>
                        <a:t>FPS en CPU</a:t>
                      </a:r>
                    </a:p>
                  </a:txBody>
                  <a:tcPr marL="91440" marR="91440" marT="27432" marB="27432" anchor="ctr">
                    <a:solidFill>
                      <a:srgbClr val="FF3228"/>
                    </a:solidFill>
                  </a:tcPr>
                </a:tc>
                <a:tc>
                  <a:txBody>
                    <a:bodyPr/>
                    <a:lstStyle/>
                    <a:p>
                      <a:r>
                        <a:rPr sz="1400" b="1">
                          <a:solidFill>
                            <a:srgbClr val="FFFFFF"/>
                          </a:solidFill>
                        </a:rPr>
                        <a:t>Detección (%)</a:t>
                      </a:r>
                    </a:p>
                  </a:txBody>
                  <a:tcPr marL="91440" marR="91440" marT="27432" marB="27432" anchor="ctr">
                    <a:solidFill>
                      <a:srgbClr val="FF3228"/>
                    </a:solidFill>
                  </a:tcPr>
                </a:tc>
                <a:tc>
                  <a:txBody>
                    <a:bodyPr/>
                    <a:lstStyle/>
                    <a:p>
                      <a:r>
                        <a:rPr sz="1400" b="1">
                          <a:solidFill>
                            <a:srgbClr val="FFFFFF"/>
                          </a:solidFill>
                        </a:rPr>
                        <a:t>Confianza</a:t>
                      </a:r>
                    </a:p>
                  </a:txBody>
                  <a:tcPr marL="91440" marR="91440" marT="27432" marB="27432" anchor="ctr">
                    <a:solidFill>
                      <a:srgbClr val="FF3228"/>
                    </a:solidFill>
                  </a:tcPr>
                </a:tc>
              </a:tr>
              <a:tr h="548640">
                <a:tc>
                  <a:txBody>
                    <a:bodyPr/>
                    <a:lstStyle/>
                    <a:p>
                      <a:r>
                        <a:rPr sz="1400" b="1">
                          <a:solidFill>
                            <a:srgbClr val="1E1E1E"/>
                          </a:solidFill>
                        </a:rPr>
                        <a:t>YOLOv8n-Pose (elegido)</a:t>
                      </a:r>
                    </a:p>
                  </a:txBody>
                  <a:tcPr marL="91440" marR="91440" marT="27432" marB="27432" anchor="ctr">
                    <a:solidFill>
                      <a:srgbClr val="FFAFAA"/>
                    </a:solidFill>
                  </a:tcPr>
                </a:tc>
                <a:tc>
                  <a:txBody>
                    <a:bodyPr/>
                    <a:lstStyle/>
                    <a:p>
                      <a:r>
                        <a:rPr sz="1400" b="1">
                          <a:solidFill>
                            <a:srgbClr val="1E1E1E"/>
                          </a:solidFill>
                        </a:rPr>
                        <a:t>3,3</a:t>
                      </a:r>
                    </a:p>
                  </a:txBody>
                  <a:tcPr marL="91440" marR="91440" marT="27432" marB="27432" anchor="ctr">
                    <a:solidFill>
                      <a:srgbClr val="FFAFAA"/>
                    </a:solidFill>
                  </a:tcPr>
                </a:tc>
                <a:tc>
                  <a:txBody>
                    <a:bodyPr/>
                    <a:lstStyle/>
                    <a:p>
                      <a:r>
                        <a:rPr sz="1400" b="1">
                          <a:solidFill>
                            <a:srgbClr val="1E1E1E"/>
                          </a:solidFill>
                        </a:rPr>
                        <a:t>6,6</a:t>
                      </a:r>
                    </a:p>
                  </a:txBody>
                  <a:tcPr marL="91440" marR="91440" marT="27432" marB="27432" anchor="ctr">
                    <a:solidFill>
                      <a:srgbClr val="FFAFAA"/>
                    </a:solidFill>
                  </a:tcPr>
                </a:tc>
                <a:tc>
                  <a:txBody>
                    <a:bodyPr/>
                    <a:lstStyle/>
                    <a:p>
                      <a:r>
                        <a:rPr sz="1400" b="1">
                          <a:solidFill>
                            <a:srgbClr val="1E1E1E"/>
                          </a:solidFill>
                        </a:rPr>
                        <a:t>35,6</a:t>
                      </a:r>
                    </a:p>
                  </a:txBody>
                  <a:tcPr marL="91440" marR="91440" marT="27432" marB="27432" anchor="ctr">
                    <a:solidFill>
                      <a:srgbClr val="FFAFAA"/>
                    </a:solidFill>
                  </a:tcPr>
                </a:tc>
                <a:tc>
                  <a:txBody>
                    <a:bodyPr/>
                    <a:lstStyle/>
                    <a:p>
                      <a:r>
                        <a:rPr sz="1400" b="1">
                          <a:solidFill>
                            <a:srgbClr val="1E1E1E"/>
                          </a:solidFill>
                        </a:rPr>
                        <a:t>0,76</a:t>
                      </a:r>
                    </a:p>
                  </a:txBody>
                  <a:tcPr marL="91440" marR="91440" marT="27432" marB="27432" anchor="ctr">
                    <a:solidFill>
                      <a:srgbClr val="FFAFAA"/>
                    </a:solidFill>
                  </a:tcPr>
                </a:tc>
              </a:tr>
              <a:tr h="548640">
                <a:tc>
                  <a:txBody>
                    <a:bodyPr/>
                    <a:lstStyle/>
                    <a:p>
                      <a:r>
                        <a:rPr sz="1400" b="0">
                          <a:solidFill>
                            <a:srgbClr val="1E1E1E"/>
                          </a:solidFill>
                        </a:rPr>
                        <a:t>YOLO11n-Pose</a:t>
                      </a:r>
                    </a:p>
                  </a:txBody>
                  <a:tcPr marL="91440" marR="91440" marT="27432" marB="27432" anchor="ctr">
                    <a:solidFill>
                      <a:srgbClr val="EEEDED"/>
                    </a:solidFill>
                  </a:tcPr>
                </a:tc>
                <a:tc>
                  <a:txBody>
                    <a:bodyPr/>
                    <a:lstStyle/>
                    <a:p>
                      <a:r>
                        <a:rPr sz="1400" b="0">
                          <a:solidFill>
                            <a:srgbClr val="1E1E1E"/>
                          </a:solidFill>
                        </a:rPr>
                        <a:t>2,9</a:t>
                      </a:r>
                    </a:p>
                  </a:txBody>
                  <a:tcPr marL="91440" marR="91440" marT="27432" marB="27432" anchor="ctr">
                    <a:solidFill>
                      <a:srgbClr val="EEEDED"/>
                    </a:solidFill>
                  </a:tcPr>
                </a:tc>
                <a:tc>
                  <a:txBody>
                    <a:bodyPr/>
                    <a:lstStyle/>
                    <a:p>
                      <a:r>
                        <a:rPr sz="1400" b="0">
                          <a:solidFill>
                            <a:srgbClr val="1E1E1E"/>
                          </a:solidFill>
                        </a:rPr>
                        <a:t>6,2</a:t>
                      </a:r>
                    </a:p>
                  </a:txBody>
                  <a:tcPr marL="91440" marR="91440" marT="27432" marB="27432" anchor="ctr">
                    <a:solidFill>
                      <a:srgbClr val="EEEDED"/>
                    </a:solidFill>
                  </a:tcPr>
                </a:tc>
                <a:tc>
                  <a:txBody>
                    <a:bodyPr/>
                    <a:lstStyle/>
                    <a:p>
                      <a:r>
                        <a:rPr sz="1400" b="0">
                          <a:solidFill>
                            <a:srgbClr val="1E1E1E"/>
                          </a:solidFill>
                        </a:rPr>
                        <a:t>37,6</a:t>
                      </a:r>
                    </a:p>
                  </a:txBody>
                  <a:tcPr marL="91440" marR="91440" marT="27432" marB="27432" anchor="ctr">
                    <a:solidFill>
                      <a:srgbClr val="EEEDED"/>
                    </a:solidFill>
                  </a:tcPr>
                </a:tc>
                <a:tc>
                  <a:txBody>
                    <a:bodyPr/>
                    <a:lstStyle/>
                    <a:p>
                      <a:r>
                        <a:rPr sz="1400" b="0">
                          <a:solidFill>
                            <a:srgbClr val="1E1E1E"/>
                          </a:solidFill>
                        </a:rPr>
                        <a:t>0,78</a:t>
                      </a:r>
                    </a:p>
                  </a:txBody>
                  <a:tcPr marL="91440" marR="91440" marT="27432" marB="27432" anchor="ctr">
                    <a:solidFill>
                      <a:srgbClr val="EEEDED"/>
                    </a:solidFill>
                  </a:tcPr>
                </a:tc>
              </a:tr>
              <a:tr h="548640">
                <a:tc>
                  <a:txBody>
                    <a:bodyPr/>
                    <a:lstStyle/>
                    <a:p>
                      <a:r>
                        <a:rPr sz="1400" b="0">
                          <a:solidFill>
                            <a:srgbClr val="1E1E1E"/>
                          </a:solidFill>
                        </a:rPr>
                        <a:t>YOLOv8s-Pose</a:t>
                      </a:r>
                    </a:p>
                  </a:txBody>
                  <a:tcPr marL="91440" marR="91440" marT="27432" marB="27432" anchor="ctr">
                    <a:solidFill>
                      <a:srgbClr val="FFFFFF"/>
                    </a:solidFill>
                  </a:tcPr>
                </a:tc>
                <a:tc>
                  <a:txBody>
                    <a:bodyPr/>
                    <a:lstStyle/>
                    <a:p>
                      <a:r>
                        <a:rPr sz="1400" b="0">
                          <a:solidFill>
                            <a:srgbClr val="1E1E1E"/>
                          </a:solidFill>
                        </a:rPr>
                        <a:t>11,6</a:t>
                      </a:r>
                    </a:p>
                  </a:txBody>
                  <a:tcPr marL="91440" marR="91440" marT="27432" marB="27432" anchor="ctr">
                    <a:solidFill>
                      <a:srgbClr val="FFFFFF"/>
                    </a:solidFill>
                  </a:tcPr>
                </a:tc>
                <a:tc>
                  <a:txBody>
                    <a:bodyPr/>
                    <a:lstStyle/>
                    <a:p>
                      <a:r>
                        <a:rPr sz="1400" b="0">
                          <a:solidFill>
                            <a:srgbClr val="1E1E1E"/>
                          </a:solidFill>
                        </a:rPr>
                        <a:t>3,3</a:t>
                      </a:r>
                    </a:p>
                  </a:txBody>
                  <a:tcPr marL="91440" marR="91440" marT="27432" marB="27432" anchor="ctr">
                    <a:solidFill>
                      <a:srgbClr val="FFFFFF"/>
                    </a:solidFill>
                  </a:tcPr>
                </a:tc>
                <a:tc>
                  <a:txBody>
                    <a:bodyPr/>
                    <a:lstStyle/>
                    <a:p>
                      <a:r>
                        <a:rPr sz="1400" b="0">
                          <a:solidFill>
                            <a:srgbClr val="1E1E1E"/>
                          </a:solidFill>
                        </a:rPr>
                        <a:t>35,6</a:t>
                      </a:r>
                    </a:p>
                  </a:txBody>
                  <a:tcPr marL="91440" marR="91440" marT="27432" marB="27432" anchor="ctr">
                    <a:solidFill>
                      <a:srgbClr val="FFFFFF"/>
                    </a:solidFill>
                  </a:tcPr>
                </a:tc>
                <a:tc>
                  <a:txBody>
                    <a:bodyPr/>
                    <a:lstStyle/>
                    <a:p>
                      <a:r>
                        <a:rPr sz="1400" b="0">
                          <a:solidFill>
                            <a:srgbClr val="1E1E1E"/>
                          </a:solidFill>
                        </a:rPr>
                        <a:t>0,74</a:t>
                      </a:r>
                    </a:p>
                  </a:txBody>
                  <a:tcPr marL="91440" marR="91440" marT="27432" marB="27432" anchor="ctr">
                    <a:solidFill>
                      <a:srgbClr val="FFFFFF"/>
                    </a:solidFill>
                  </a:tcPr>
                </a:tc>
              </a:tr>
              <a:tr h="548640">
                <a:tc>
                  <a:txBody>
                    <a:bodyPr/>
                    <a:lstStyle/>
                    <a:p>
                      <a:r>
                        <a:rPr sz="1400" b="0">
                          <a:solidFill>
                            <a:srgbClr val="1E1E1E"/>
                          </a:solidFill>
                        </a:rPr>
                        <a:t>MoveNet Lightning</a:t>
                      </a:r>
                    </a:p>
                  </a:txBody>
                  <a:tcPr marL="91440" marR="91440" marT="27432" marB="27432" anchor="ctr">
                    <a:solidFill>
                      <a:srgbClr val="EEEDED"/>
                    </a:solidFill>
                  </a:tcPr>
                </a:tc>
                <a:tc>
                  <a:txBody>
                    <a:bodyPr/>
                    <a:lstStyle/>
                    <a:p>
                      <a:r>
                        <a:rPr sz="1400" b="0">
                          <a:solidFill>
                            <a:srgbClr val="1E1E1E"/>
                          </a:solidFill>
                        </a:rPr>
                        <a:t>—</a:t>
                      </a:r>
                    </a:p>
                  </a:txBody>
                  <a:tcPr marL="91440" marR="91440" marT="27432" marB="27432" anchor="ctr">
                    <a:solidFill>
                      <a:srgbClr val="EEEDED"/>
                    </a:solidFill>
                  </a:tcPr>
                </a:tc>
                <a:tc>
                  <a:txBody>
                    <a:bodyPr/>
                    <a:lstStyle/>
                    <a:p>
                      <a:r>
                        <a:rPr sz="1400" b="0">
                          <a:solidFill>
                            <a:srgbClr val="1E1E1E"/>
                          </a:solidFill>
                        </a:rPr>
                        <a:t>No medido</a:t>
                      </a:r>
                    </a:p>
                  </a:txBody>
                  <a:tcPr marL="91440" marR="91440" marT="27432" marB="27432" anchor="ctr">
                    <a:solidFill>
                      <a:srgbClr val="EEEDED"/>
                    </a:solidFill>
                  </a:tcPr>
                </a:tc>
                <a:tc>
                  <a:txBody>
                    <a:bodyPr/>
                    <a:lstStyle/>
                    <a:p>
                      <a:r>
                        <a:rPr sz="1400" b="0">
                          <a:solidFill>
                            <a:srgbClr val="1E1E1E"/>
                          </a:solidFill>
                        </a:rPr>
                        <a:t>35-48 (GPU)</a:t>
                      </a:r>
                    </a:p>
                  </a:txBody>
                  <a:tcPr marL="91440" marR="91440" marT="27432" marB="27432" anchor="ctr">
                    <a:solidFill>
                      <a:srgbClr val="EEEDED"/>
                    </a:solidFill>
                  </a:tcPr>
                </a:tc>
                <a:tc>
                  <a:txBody>
                    <a:bodyPr/>
                    <a:lstStyle/>
                    <a:p>
                      <a:r>
                        <a:rPr sz="1400" b="0">
                          <a:solidFill>
                            <a:srgbClr val="1E1E1E"/>
                          </a:solidFill>
                        </a:rPr>
                        <a:t>0,34-0,37 (GPU)</a:t>
                      </a:r>
                    </a:p>
                  </a:txBody>
                  <a:tcPr marL="91440" marR="91440" marT="27432" marB="27432" anchor="ctr">
                    <a:solidFill>
                      <a:srgbClr val="EEEDED"/>
                    </a:solidFill>
                  </a:tcPr>
                </a:tc>
              </a:tr>
            </a:tbl>
          </a:graphicData>
        </a:graphic>
      </p:graphicFrame>
      <p:sp>
        <p:nvSpPr>
          <p:cNvPr id="6" name="TextBox 5"/>
          <p:cNvSpPr txBox="1"/>
          <p:nvPr/>
        </p:nvSpPr>
        <p:spPr>
          <a:xfrm>
            <a:off x="905256" y="60350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La detección ronda el 36 % porque el nadador solo está en el encuadre parte del vídeo. En el mismo vídeo: 15 ciclos válidos con YOLO frente a 3 con MoveNet.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A2 · Fatiga en las sesiones reales</a:t>
            </a:r>
          </a:p>
        </p:txBody>
      </p:sp>
      <p:sp>
        <p:nvSpPr>
          <p:cNvPr id="4" name="Text Placeholder 3"/>
          <p:cNvSpPr>
            <a:spLocks noGrp="1"/>
          </p:cNvSpPr>
          <p:nvPr>
            <p:ph type="body" idx="18" sz="quarter"/>
          </p:nvPr>
        </p:nvSpPr>
        <p:spPr>
          <a:xfrm>
            <a:ext cx="12344400" cy="0"/>
          </a:xfrm>
        </p:spPr>
        <p:txBody>
          <a:bodyPr/>
          <a:lstStyle/>
          <a:p>
            <a:r>
              <a:t>Sesiones de pasadas cortas del mismo participante, estilo y cámara</a:t>
            </a:r>
          </a:p>
        </p:txBody>
      </p:sp>
      <p:graphicFrame>
        <p:nvGraphicFramePr>
          <p:cNvPr id="5" name="Table 4"/>
          <p:cNvGraphicFramePr>
            <a:graphicFrameLocks noGrp="1"/>
          </p:cNvGraphicFramePr>
          <p:nvPr/>
        </p:nvGraphicFramePr>
        <p:xfrm>
          <a:off x="905256" y="2880360"/>
          <a:ext cx="12801600" cy="3182112"/>
        </p:xfrm>
        <a:graphic>
          <a:graphicData uri="http://schemas.openxmlformats.org/drawingml/2006/table">
            <a:tbl>
              <a:tblPr firstRow="1" bandRow="1">
                <a:tableStyleId>{5C22544A-7EE6-4342-B048-85BDC9FD1C3A}</a:tableStyleId>
              </a:tblPr>
              <a:tblGrid>
                <a:gridCol w="4572000"/>
                <a:gridCol w="2194560"/>
                <a:gridCol w="1828800"/>
                <a:gridCol w="4206240"/>
              </a:tblGrid>
              <a:tr h="530352">
                <a:tc>
                  <a:txBody>
                    <a:bodyPr/>
                    <a:lstStyle/>
                    <a:p>
                      <a:r>
                        <a:rPr sz="1400" b="1">
                          <a:solidFill>
                            <a:srgbClr val="FFFFFF"/>
                          </a:solidFill>
                        </a:rPr>
                        <a:t>Sesión</a:t>
                      </a:r>
                    </a:p>
                  </a:txBody>
                  <a:tcPr marL="91440" marR="91440" marT="27432" marB="27432" anchor="ctr">
                    <a:solidFill>
                      <a:srgbClr val="FF3228"/>
                    </a:solidFill>
                  </a:tcPr>
                </a:tc>
                <a:tc>
                  <a:txBody>
                    <a:bodyPr/>
                    <a:lstStyle/>
                    <a:p>
                      <a:r>
                        <a:rPr sz="1400" b="1">
                          <a:solidFill>
                            <a:srgbClr val="FFFFFF"/>
                          </a:solidFill>
                        </a:rPr>
                        <a:t>Secuencias</a:t>
                      </a:r>
                    </a:p>
                  </a:txBody>
                  <a:tcPr marL="91440" marR="91440" marT="27432" marB="27432" anchor="ctr">
                    <a:solidFill>
                      <a:srgbClr val="FF3228"/>
                    </a:solidFill>
                  </a:tcPr>
                </a:tc>
                <a:tc>
                  <a:txBody>
                    <a:bodyPr/>
                    <a:lstStyle/>
                    <a:p>
                      <a:r>
                        <a:rPr sz="1400" b="1">
                          <a:solidFill>
                            <a:srgbClr val="FFFFFF"/>
                          </a:solidFill>
                        </a:rPr>
                        <a:t>Ciclos</a:t>
                      </a:r>
                    </a:p>
                  </a:txBody>
                  <a:tcPr marL="91440" marR="91440" marT="27432" marB="27432" anchor="ctr">
                    <a:solidFill>
                      <a:srgbClr val="FF3228"/>
                    </a:solidFill>
                  </a:tcPr>
                </a:tc>
                <a:tc>
                  <a:txBody>
                    <a:bodyPr/>
                    <a:lstStyle/>
                    <a:p>
                      <a:r>
                        <a:rPr sz="1400" b="1">
                          <a:solidFill>
                            <a:srgbClr val="FFFFFF"/>
                          </a:solidFill>
                        </a:rPr>
                        <a:t>Resultado</a:t>
                      </a:r>
                    </a:p>
                  </a:txBody>
                  <a:tcPr marL="91440" marR="91440" marT="27432" marB="27432" anchor="ctr">
                    <a:solidFill>
                      <a:srgbClr val="FF3228"/>
                    </a:solidFill>
                  </a:tcPr>
                </a:tc>
              </a:tr>
              <a:tr h="530352">
                <a:tc>
                  <a:txBody>
                    <a:bodyPr/>
                    <a:lstStyle/>
                    <a:p>
                      <a:r>
                        <a:rPr sz="1400" b="0">
                          <a:solidFill>
                            <a:srgbClr val="1E1E1E"/>
                          </a:solidFill>
                        </a:rPr>
                        <a:t>P1 · crol · GoPro</a:t>
                      </a:r>
                    </a:p>
                  </a:txBody>
                  <a:tcPr marL="91440" marR="91440" marT="27432" marB="27432" anchor="ctr">
                    <a:solidFill>
                      <a:srgbClr val="FFFFFF"/>
                    </a:solidFill>
                  </a:tcPr>
                </a:tc>
                <a:tc>
                  <a:txBody>
                    <a:bodyPr/>
                    <a:lstStyle/>
                    <a:p>
                      <a:r>
                        <a:rPr sz="1400" b="0">
                          <a:solidFill>
                            <a:srgbClr val="1E1E1E"/>
                          </a:solidFill>
                        </a:rPr>
                        <a:t>3</a:t>
                      </a:r>
                    </a:p>
                  </a:txBody>
                  <a:tcPr marL="91440" marR="91440" marT="27432" marB="27432" anchor="ctr">
                    <a:solidFill>
                      <a:srgbClr val="FFFFFF"/>
                    </a:solidFill>
                  </a:tcPr>
                </a:tc>
                <a:tc>
                  <a:txBody>
                    <a:bodyPr/>
                    <a:lstStyle/>
                    <a:p>
                      <a:r>
                        <a:rPr sz="1400" b="0">
                          <a:solidFill>
                            <a:srgbClr val="1E1E1E"/>
                          </a:solidFill>
                        </a:rPr>
                        <a:t>10</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P1 · crol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7</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P4 · braza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27</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r h="530352">
                <a:tc>
                  <a:txBody>
                    <a:bodyPr/>
                    <a:lstStyle/>
                    <a:p>
                      <a:r>
                        <a:rPr sz="1400" b="0">
                          <a:solidFill>
                            <a:srgbClr val="1E1E1E"/>
                          </a:solidFill>
                        </a:rPr>
                        <a:t>P4 · braza · móvil</a:t>
                      </a:r>
                    </a:p>
                  </a:txBody>
                  <a:tcPr marL="91440" marR="91440" marT="27432" marB="27432" anchor="ctr">
                    <a:solidFill>
                      <a:srgbClr val="EEEDED"/>
                    </a:solidFill>
                  </a:tcPr>
                </a:tc>
                <a:tc>
                  <a:txBody>
                    <a:bodyPr/>
                    <a:lstStyle/>
                    <a:p>
                      <a:r>
                        <a:rPr sz="1400" b="0">
                          <a:solidFill>
                            <a:srgbClr val="1E1E1E"/>
                          </a:solidFill>
                        </a:rPr>
                        <a:t>2</a:t>
                      </a:r>
                    </a:p>
                  </a:txBody>
                  <a:tcPr marL="91440" marR="91440" marT="27432" marB="27432" anchor="ctr">
                    <a:solidFill>
                      <a:srgbClr val="EEEDED"/>
                    </a:solidFill>
                  </a:tcPr>
                </a:tc>
                <a:tc>
                  <a:txBody>
                    <a:bodyPr/>
                    <a:lstStyle/>
                    <a:p>
                      <a:r>
                        <a:rPr sz="1400" b="0">
                          <a:solidFill>
                            <a:srgbClr val="1E1E1E"/>
                          </a:solidFill>
                        </a:rPr>
                        <a:t>4</a:t>
                      </a:r>
                    </a:p>
                  </a:txBody>
                  <a:tcPr marL="91440" marR="91440" marT="27432" marB="27432" anchor="ctr">
                    <a:solidFill>
                      <a:srgbClr val="EEEDED"/>
                    </a:solidFill>
                  </a:tcPr>
                </a:tc>
                <a:tc>
                  <a:txBody>
                    <a:bodyPr/>
                    <a:lstStyle/>
                    <a:p>
                      <a:r>
                        <a:rPr sz="1400" b="0">
                          <a:solidFill>
                            <a:srgbClr val="1E1E1E"/>
                          </a:solidFill>
                        </a:rPr>
                        <a:t>Insuficiente (&lt; 8 ciclos)</a:t>
                      </a:r>
                    </a:p>
                  </a:txBody>
                  <a:tcPr marL="91440" marR="91440" marT="27432" marB="27432" anchor="ctr">
                    <a:solidFill>
                      <a:srgbClr val="EEEDED"/>
                    </a:solidFill>
                  </a:tcPr>
                </a:tc>
              </a:tr>
              <a:tr h="530352">
                <a:tc>
                  <a:txBody>
                    <a:bodyPr/>
                    <a:lstStyle/>
                    <a:p>
                      <a:r>
                        <a:rPr sz="1400" b="0">
                          <a:solidFill>
                            <a:srgbClr val="1E1E1E"/>
                          </a:solidFill>
                        </a:rPr>
                        <a:t>P3 · mariposa · GoPro</a:t>
                      </a:r>
                    </a:p>
                  </a:txBody>
                  <a:tcPr marL="91440" marR="91440" marT="27432" marB="27432" anchor="ctr">
                    <a:solidFill>
                      <a:srgbClr val="FFFFFF"/>
                    </a:solidFill>
                  </a:tcPr>
                </a:tc>
                <a:tc>
                  <a:txBody>
                    <a:bodyPr/>
                    <a:lstStyle/>
                    <a:p>
                      <a:r>
                        <a:rPr sz="1400" b="0">
                          <a:solidFill>
                            <a:srgbClr val="1E1E1E"/>
                          </a:solidFill>
                        </a:rPr>
                        <a:t>2</a:t>
                      </a:r>
                    </a:p>
                  </a:txBody>
                  <a:tcPr marL="91440" marR="91440" marT="27432" marB="27432" anchor="ctr">
                    <a:solidFill>
                      <a:srgbClr val="FFFFFF"/>
                    </a:solidFill>
                  </a:tcPr>
                </a:tc>
                <a:tc>
                  <a:txBody>
                    <a:bodyPr/>
                    <a:lstStyle/>
                    <a:p>
                      <a:r>
                        <a:rPr sz="1400" b="0">
                          <a:solidFill>
                            <a:srgbClr val="1E1E1E"/>
                          </a:solidFill>
                        </a:rPr>
                        <a:t>26</a:t>
                      </a:r>
                    </a:p>
                  </a:txBody>
                  <a:tcPr marL="91440" marR="91440" marT="27432" marB="27432" anchor="ctr">
                    <a:solidFill>
                      <a:srgbClr val="FFFFFF"/>
                    </a:solidFill>
                  </a:tcPr>
                </a:tc>
                <a:tc>
                  <a:txBody>
                    <a:bodyPr/>
                    <a:lstStyle/>
                    <a:p>
                      <a:r>
                        <a:rPr sz="1400" b="0">
                          <a:solidFill>
                            <a:srgbClr val="1E1E1E"/>
                          </a:solidFill>
                        </a:rPr>
                        <a:t>Sin fatiga sostenida</a:t>
                      </a:r>
                    </a:p>
                  </a:txBody>
                  <a:tcPr marL="91440" marR="91440" marT="27432" marB="27432" anchor="ctr">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A3 · Caso sintético completo (Tabla 7)</a:t>
            </a:r>
          </a:p>
        </p:txBody>
      </p:sp>
      <p:sp>
        <p:nvSpPr>
          <p:cNvPr id="4" name="Text Placeholder 3"/>
          <p:cNvSpPr>
            <a:spLocks noGrp="1"/>
          </p:cNvSpPr>
          <p:nvPr>
            <p:ph type="body" idx="18" sz="quarter"/>
          </p:nvPr>
        </p:nvSpPr>
        <p:spPr>
          <a:xfrm>
            <a:ext cx="12344400" cy="0"/>
          </a:xfrm>
        </p:spPr>
        <p:txBody>
          <a:bodyPr/>
          <a:lstStyle/>
          <a:p>
            <a:r>
              <a:t>Secuencia de 120 s con fatiga programada entre t = 59 s y t = 81 s</a:t>
            </a:r>
          </a:p>
        </p:txBody>
      </p:sp>
      <p:graphicFrame>
        <p:nvGraphicFramePr>
          <p:cNvPr id="5" name="Table 4"/>
          <p:cNvGraphicFramePr>
            <a:graphicFrameLocks noGrp="1"/>
          </p:cNvGraphicFramePr>
          <p:nvPr/>
        </p:nvGraphicFramePr>
        <p:xfrm>
          <a:off x="905256" y="2834640"/>
          <a:ext cx="12801600" cy="3712464"/>
        </p:xfrm>
        <a:graphic>
          <a:graphicData uri="http://schemas.openxmlformats.org/drawingml/2006/table">
            <a:tbl>
              <a:tblPr firstRow="1" bandRow="1">
                <a:tableStyleId>{5C22544A-7EE6-4342-B048-85BDC9FD1C3A}</a:tableStyleId>
              </a:tblPr>
              <a:tblGrid>
                <a:gridCol w="4206240"/>
                <a:gridCol w="4297680"/>
                <a:gridCol w="4297680"/>
              </a:tblGrid>
              <a:tr h="530352">
                <a:tc>
                  <a:txBody>
                    <a:bodyPr/>
                    <a:lstStyle/>
                    <a:p>
                      <a:r>
                        <a:rPr sz="1300" b="1">
                          <a:solidFill>
                            <a:srgbClr val="FFFFFF"/>
                          </a:solidFill>
                        </a:rPr>
                        <a:t>Medida</a:t>
                      </a:r>
                    </a:p>
                  </a:txBody>
                  <a:tcPr marL="91440" marR="91440" marT="27432" marB="27432" anchor="ctr">
                    <a:solidFill>
                      <a:srgbClr val="FF3228"/>
                    </a:solidFill>
                  </a:tcPr>
                </a:tc>
                <a:tc>
                  <a:txBody>
                    <a:bodyPr/>
                    <a:lstStyle/>
                    <a:p>
                      <a:r>
                        <a:rPr sz="1300" b="1">
                          <a:solidFill>
                            <a:srgbClr val="FFFFFF"/>
                          </a:solidFill>
                        </a:rPr>
                        <a:t>Vista lateral</a:t>
                      </a:r>
                    </a:p>
                  </a:txBody>
                  <a:tcPr marL="91440" marR="91440" marT="27432" marB="27432" anchor="ctr">
                    <a:solidFill>
                      <a:srgbClr val="FF3228"/>
                    </a:solidFill>
                  </a:tcPr>
                </a:tc>
                <a:tc>
                  <a:txBody>
                    <a:bodyPr/>
                    <a:lstStyle/>
                    <a:p>
                      <a:r>
                        <a:rPr sz="1300" b="1">
                          <a:solidFill>
                            <a:srgbClr val="FFFFFF"/>
                          </a:solidFill>
                        </a:rPr>
                        <a:t>Vista frontal</a:t>
                      </a:r>
                    </a:p>
                  </a:txBody>
                  <a:tcPr marL="91440" marR="91440" marT="27432" marB="27432" anchor="ctr">
                    <a:solidFill>
                      <a:srgbClr val="FF3228"/>
                    </a:solidFill>
                  </a:tcPr>
                </a:tc>
              </a:tr>
              <a:tr h="530352">
                <a:tc>
                  <a:txBody>
                    <a:bodyPr/>
                    <a:lstStyle/>
                    <a:p>
                      <a:r>
                        <a:rPr sz="1300" b="0">
                          <a:solidFill>
                            <a:srgbClr val="1E1E1E"/>
                          </a:solidFill>
                        </a:rPr>
                        <a:t>Ciclos analizados</a:t>
                      </a:r>
                    </a:p>
                  </a:txBody>
                  <a:tcPr marL="91440" marR="91440" marT="27432" marB="27432" anchor="ctr">
                    <a:solidFill>
                      <a:srgbClr val="FFFFFF"/>
                    </a:solidFill>
                  </a:tcPr>
                </a:tc>
                <a:tc>
                  <a:txBody>
                    <a:bodyPr/>
                    <a:lstStyle/>
                    <a:p>
                      <a:r>
                        <a:rPr sz="1300" b="0">
                          <a:solidFill>
                            <a:srgbClr val="1E1E1E"/>
                          </a:solidFill>
                        </a:rPr>
                        <a:t>91</a:t>
                      </a:r>
                    </a:p>
                  </a:txBody>
                  <a:tcPr marL="91440" marR="91440" marT="27432" marB="27432" anchor="ctr">
                    <a:solidFill>
                      <a:srgbClr val="FFFFFF"/>
                    </a:solidFill>
                  </a:tcPr>
                </a:tc>
                <a:tc>
                  <a:txBody>
                    <a:bodyPr/>
                    <a:lstStyle/>
                    <a:p>
                      <a:r>
                        <a:rPr sz="1300" b="0">
                          <a:solidFill>
                            <a:srgbClr val="1E1E1E"/>
                          </a:solidFill>
                        </a:rPr>
                        <a:t>98</a:t>
                      </a:r>
                    </a:p>
                  </a:txBody>
                  <a:tcPr marL="91440" marR="91440" marT="27432" marB="27432" anchor="ctr">
                    <a:solidFill>
                      <a:srgbClr val="FFFFFF"/>
                    </a:solidFill>
                  </a:tcPr>
                </a:tc>
              </a:tr>
              <a:tr h="530352">
                <a:tc>
                  <a:txBody>
                    <a:bodyPr/>
                    <a:lstStyle/>
                    <a:p>
                      <a:r>
                        <a:rPr sz="1300" b="0">
                          <a:solidFill>
                            <a:srgbClr val="1E1E1E"/>
                          </a:solidFill>
                        </a:rPr>
                        <a:t>Error mediano de la frecuencia de ciclo</a:t>
                      </a:r>
                    </a:p>
                  </a:txBody>
                  <a:tcPr marL="91440" marR="91440" marT="27432" marB="27432" anchor="ctr">
                    <a:solidFill>
                      <a:srgbClr val="EEEDED"/>
                    </a:solidFill>
                  </a:tcPr>
                </a:tc>
                <a:tc>
                  <a:txBody>
                    <a:bodyPr/>
                    <a:lstStyle/>
                    <a:p>
                      <a:r>
                        <a:rPr sz="1300" b="0">
                          <a:solidFill>
                            <a:srgbClr val="1E1E1E"/>
                          </a:solidFill>
                        </a:rPr>
                        <a:t>4,7 %</a:t>
                      </a:r>
                    </a:p>
                  </a:txBody>
                  <a:tcPr marL="91440" marR="91440" marT="27432" marB="27432" anchor="ctr">
                    <a:solidFill>
                      <a:srgbClr val="EEEDED"/>
                    </a:solidFill>
                  </a:tcPr>
                </a:tc>
                <a:tc>
                  <a:txBody>
                    <a:bodyPr/>
                    <a:lstStyle/>
                    <a:p>
                      <a:r>
                        <a:rPr sz="1300" b="0">
                          <a:solidFill>
                            <a:srgbClr val="1E1E1E"/>
                          </a:solidFill>
                        </a:rPr>
                        <a:t>0,3 %</a:t>
                      </a:r>
                    </a:p>
                  </a:txBody>
                  <a:tcPr marL="91440" marR="91440" marT="27432" marB="27432" anchor="ctr">
                    <a:solidFill>
                      <a:srgbClr val="EEEDED"/>
                    </a:solidFill>
                  </a:tcPr>
                </a:tc>
              </a:tr>
              <a:tr h="530352">
                <a:tc>
                  <a:txBody>
                    <a:bodyPr/>
                    <a:lstStyle/>
                    <a:p>
                      <a:r>
                        <a:rPr sz="1300" b="0">
                          <a:solidFill>
                            <a:srgbClr val="1E1E1E"/>
                          </a:solidFill>
                        </a:rPr>
                        <a:t>Error mediano de la velocidad</a:t>
                      </a:r>
                    </a:p>
                  </a:txBody>
                  <a:tcPr marL="91440" marR="91440" marT="27432" marB="27432" anchor="ctr">
                    <a:solidFill>
                      <a:srgbClr val="FFFFFF"/>
                    </a:solidFill>
                  </a:tcPr>
                </a:tc>
                <a:tc>
                  <a:txBody>
                    <a:bodyPr/>
                    <a:lstStyle/>
                    <a:p>
                      <a:r>
                        <a:rPr sz="1300" b="0">
                          <a:solidFill>
                            <a:srgbClr val="1E1E1E"/>
                          </a:solidFill>
                        </a:rPr>
                        <a:t>1,3 %</a:t>
                      </a:r>
                    </a:p>
                  </a:txBody>
                  <a:tcPr marL="91440" marR="91440" marT="27432" marB="27432" anchor="ctr">
                    <a:solidFill>
                      <a:srgbClr val="FFFFFF"/>
                    </a:solidFill>
                  </a:tcPr>
                </a:tc>
                <a:tc>
                  <a:txBody>
                    <a:bodyPr/>
                    <a:lstStyle/>
                    <a:p>
                      <a:r>
                        <a:rPr sz="1300" b="0">
                          <a:solidFill>
                            <a:srgbClr val="1E1E1E"/>
                          </a:solidFill>
                        </a:rPr>
                        <a:t>No observable de frente</a:t>
                      </a:r>
                    </a:p>
                  </a:txBody>
                  <a:tcPr marL="91440" marR="91440" marT="27432" marB="27432" anchor="ctr">
                    <a:solidFill>
                      <a:srgbClr val="FFFFFF"/>
                    </a:solidFill>
                  </a:tcPr>
                </a:tc>
              </a:tr>
              <a:tr h="530352">
                <a:tc>
                  <a:txBody>
                    <a:bodyPr/>
                    <a:lstStyle/>
                    <a:p>
                      <a:r>
                        <a:rPr sz="1300" b="0">
                          <a:solidFill>
                            <a:srgbClr val="1E1E1E"/>
                          </a:solidFill>
                        </a:rPr>
                        <a:t>Error mediano de la distancia por ciclo</a:t>
                      </a:r>
                    </a:p>
                  </a:txBody>
                  <a:tcPr marL="91440" marR="91440" marT="27432" marB="27432" anchor="ctr">
                    <a:solidFill>
                      <a:srgbClr val="EEEDED"/>
                    </a:solidFill>
                  </a:tcPr>
                </a:tc>
                <a:tc>
                  <a:txBody>
                    <a:bodyPr/>
                    <a:lstStyle/>
                    <a:p>
                      <a:r>
                        <a:rPr sz="1300" b="0">
                          <a:solidFill>
                            <a:srgbClr val="1E1E1E"/>
                          </a:solidFill>
                        </a:rPr>
                        <a:t>4,3 %</a:t>
                      </a:r>
                    </a:p>
                  </a:txBody>
                  <a:tcPr marL="91440" marR="91440" marT="27432" marB="27432" anchor="ctr">
                    <a:solidFill>
                      <a:srgbClr val="EEEDED"/>
                    </a:solidFill>
                  </a:tcPr>
                </a:tc>
                <a:tc>
                  <a:txBody>
                    <a:bodyPr/>
                    <a:lstStyle/>
                    <a:p>
                      <a:r>
                        <a:rPr sz="1300" b="0">
                          <a:solidFill>
                            <a:srgbClr val="1E1E1E"/>
                          </a:solidFill>
                        </a:rPr>
                        <a:t>No observable de frente</a:t>
                      </a:r>
                    </a:p>
                  </a:txBody>
                  <a:tcPr marL="91440" marR="91440" marT="27432" marB="27432" anchor="ctr">
                    <a:solidFill>
                      <a:srgbClr val="EEEDED"/>
                    </a:solidFill>
                  </a:tcPr>
                </a:tc>
              </a:tr>
              <a:tr h="530352">
                <a:tc>
                  <a:txBody>
                    <a:bodyPr/>
                    <a:lstStyle/>
                    <a:p>
                      <a:r>
                        <a:rPr sz="1300" b="0">
                          <a:solidFill>
                            <a:srgbClr val="1E1E1E"/>
                          </a:solidFill>
                        </a:rPr>
                        <a:t>Inicio de la fatiga detectado</a:t>
                      </a:r>
                    </a:p>
                  </a:txBody>
                  <a:tcPr marL="91440" marR="91440" marT="27432" marB="27432" anchor="ctr">
                    <a:solidFill>
                      <a:srgbClr val="FFFFFF"/>
                    </a:solidFill>
                  </a:tcPr>
                </a:tc>
                <a:tc>
                  <a:txBody>
                    <a:bodyPr/>
                    <a:lstStyle/>
                    <a:p>
                      <a:r>
                        <a:rPr sz="1300" b="0">
                          <a:solidFill>
                            <a:srgbClr val="1E1E1E"/>
                          </a:solidFill>
                        </a:rPr>
                        <a:t>t = 57,3 s (ciclo 42)</a:t>
                      </a:r>
                    </a:p>
                  </a:txBody>
                  <a:tcPr marL="91440" marR="91440" marT="27432" marB="27432" anchor="ctr">
                    <a:solidFill>
                      <a:srgbClr val="FFFFFF"/>
                    </a:solidFill>
                  </a:tcPr>
                </a:tc>
                <a:tc>
                  <a:txBody>
                    <a:bodyPr/>
                    <a:lstStyle/>
                    <a:p>
                      <a:r>
                        <a:rPr sz="1300" b="0">
                          <a:solidFill>
                            <a:srgbClr val="1E1E1E"/>
                          </a:solidFill>
                        </a:rPr>
                        <a:t>t = 57,8 s (ciclo 45)</a:t>
                      </a:r>
                    </a:p>
                  </a:txBody>
                  <a:tcPr marL="91440" marR="91440" marT="27432" marB="27432" anchor="ctr">
                    <a:solidFill>
                      <a:srgbClr val="FFFFFF"/>
                    </a:solidFill>
                  </a:tcPr>
                </a:tc>
              </a:tr>
              <a:tr h="530352">
                <a:tc>
                  <a:txBody>
                    <a:bodyPr/>
                    <a:lstStyle/>
                    <a:p>
                      <a:r>
                        <a:rPr sz="1300" b="0">
                          <a:solidFill>
                            <a:srgbClr val="1E1E1E"/>
                          </a:solidFill>
                        </a:rPr>
                        <a:t>Variables con mayor atribución SHAP</a:t>
                      </a:r>
                    </a:p>
                  </a:txBody>
                  <a:tcPr marL="91440" marR="91440" marT="27432" marB="27432" anchor="ctr">
                    <a:solidFill>
                      <a:srgbClr val="EEEDED"/>
                    </a:solidFill>
                  </a:tcPr>
                </a:tc>
                <a:tc>
                  <a:txBody>
                    <a:bodyPr/>
                    <a:lstStyle/>
                    <a:p>
                      <a:r>
                        <a:rPr sz="1300" b="0">
                          <a:solidFill>
                            <a:srgbClr val="1E1E1E"/>
                          </a:solidFill>
                        </a:rPr>
                        <a:t>Apertura del hombro, asimetría de brazos, inclinación del tronco</a:t>
                      </a:r>
                    </a:p>
                  </a:txBody>
                  <a:tcPr marL="91440" marR="91440" marT="27432" marB="27432" anchor="ctr">
                    <a:solidFill>
                      <a:srgbClr val="EEEDED"/>
                    </a:solidFill>
                  </a:tcPr>
                </a:tc>
                <a:tc>
                  <a:txBody>
                    <a:bodyPr/>
                    <a:lstStyle/>
                    <a:p>
                      <a:r>
                        <a:rPr sz="1300" b="0">
                          <a:solidFill>
                            <a:srgbClr val="1E1E1E"/>
                          </a:solidFill>
                        </a:rPr>
                        <a:t>Frecuencia de ciclo, asimetría de brazos, alcance del brazo</a:t>
                      </a:r>
                    </a:p>
                  </a:txBody>
                  <a:tcPr marL="91440" marR="91440" marT="27432" marB="27432" anchor="ctr">
                    <a:solidFill>
                      <a:srgbClr val="EEEDED"/>
                    </a:solidFill>
                  </a:tcPr>
                </a:tc>
              </a:tr>
            </a:tbl>
          </a:graphicData>
        </a:graphic>
      </p:graphicFrame>
      <p:sp>
        <p:nvSpPr>
          <p:cNvPr id="6" name="TextBox 5"/>
          <p:cNvSpPr txBox="1"/>
          <p:nvPr/>
        </p:nvSpPr>
        <p:spPr>
          <a:xfrm>
            <a:off x="905256" y="67665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Fuente: memoria, Tabla 7.</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