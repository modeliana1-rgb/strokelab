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2.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43" r:id="rId35"/>
    <p:sldId id="344" r:id="rId36"/>
    <p:sldId id="345" r:id="rId37"/>
    <p:sldId id="346" r:id="rId38"/>
    <p:sldId id="347" r:id="rId39"/>
    <p:sldId id="333" r:id="rId25"/>
    <p:sldId id="335" r:id="rId27"/>
    <p:sldId id="348" r:id="rId40"/>
    <p:sldId id="339" r:id="rId31"/>
    <p:sldId id="349" r:id="rId41"/>
    <p:sldId id="350" r:id="rId42"/>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5" Type="http://schemas.openxmlformats.org/officeDocument/2006/relationships/slide" Target="slides/slide16.xml"/><Relationship Id="rId27" Type="http://schemas.openxmlformats.org/officeDocument/2006/relationships/slide" Target="slides/slide18.xml"/><Relationship Id="rId31" Type="http://schemas.openxmlformats.org/officeDocument/2006/relationships/slide" Target="slides/slide22.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Uso TreeSHAP porque da los valores exactos en modelos de árboles, y compruebo en cada ejecución que el signo es coherente.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decisiones. Ninguna se tomó por preferencia: cada cambio responde a algo que medí. La más importante para mí es la de la validación: una versión anterior daba un 99,99 % de exactitud por fotograma y era fuga de datos; desde entonces todo se valida por vídeo o por participante. [≈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la cámara ve al nadador de frente u oblicuo gran parte del tiempo: en lateral solo salían 2 ciclos válidos y, indicando la vista frontal, 39 ciclos a 54 ciclos por minuto. En ninguno hay fatiga sostenida declarada. En el rápido, sin embargo, la puntuación de anomalía sube al final: los dos últimos ciclos son los más anómalos de todo el vídeo, pero la regla exige tres ciclos seguidos y el vídeo termina antes. La frecuencia de los dos es parecida; sin un conteo manual no afirmo cuál es más precisa. Es justo lo que dice la memoria: la vista y la detección condicionan el análisis. [≈ 1 min 30 s] NO mostrar los ángulos de cadera y rodilla del suave: las piernas se detectan mal en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nadador se cansa, su técnica cambia antes de que caiga el tiempo: acorta la brazada, sube la frecuencia, baja el codo. Hoy esto se ve a ojo o con sensores y varias cámaras, que son caros. Mi objetivo es una tercera vía: un sistema de IA explicable que, con una cámara y un portátil sin GPU, mida la técnica, detecte el inicio de la fatiga y diga qué variable la provoca. El director pidió que la explicabilidad fuera lo más importante y que hubiera dos verticales de IA: visión y datos tabulares. [≈ 1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entero, etapa a etapa. La regla para elegir fue siempre la misma: que funcione en la CPU de un portátil, con vídeo bajo el agua y sin etiquetas de fatiga, y que se pueda explicar. En la columna de la derecha está el porqué de cada elección frente a la alternativa. Las dos verticales: la visión saca los puntos del cuerpo; la tabular convierte esos puntos en variables por ciclo, detecta la fatiga y la explica.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Comparé los modelos en mi propio vídeo subacuático, porque la precisión publicada en COCO es con personas en tierra. YOLOv8n detecta lo mismo que YOLOv8s con 3,3 millones de parámetros frente a 11,6 y a 6,6 FPS frente a 3,3; YOLO11n queda equivalente sin ser más rápido. MoveNet fue mi primera elección por fluidez, pero YOLO detecta con el doble de confianza y da 15 ciclos válidos frente a 3; HRNet y ViTPose son más precisos en COCO pero caros en CPU. Como YOLO se entrenó con personas de pie, lo adapté: giro el fotograma 90 grados si detecta mejor, descarto cuerpos imposibles y suavizo con Savitzky-Golay. El 3D de MotionBERT pone la rodilla doblada como si el nadador estuviera sentado, así que en lateral uso el 2D y el 3D solo de frente.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vista se decide sola: por tramos de 60 segundos miro si el tronco aparece horizontal o vertical. En lateral cuento brazadas con la mano más profunda respecto al cuerpo, porque YOLO copia el brazo visible en el oculto: cada pico es una brazada y en crol dos brazadas son un ciclo. De frente esa profundidad no se ve y uso el recorrido de cada muñeca en la dirección en que más se mueve, que saco con PCA. Lo validé con mi conteo manual: error entre el 6,5 y el 8,2 %, en lateral y en frontal.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hacen falta ciclos etiquetados como fatigados y no los hay. Por eso uso Isolation Forest, que se entrena solo con la fase fresca del propio nadador, el primer 30 % de sus ciclos. Su idea: lo raro se aísla con pocos cortes aleatorios. Además tiene coste lineal y admite SHAP exacto. El inicio es el primer momento con tres ciclos seguidos por encima del percentil 95 de la fase fresca. Ese percentil lo elegí con un análisis de sensibilidad: con el 90 hay un 30 % de falsas alarmas y con el 99 se pierden fatigas. PELT, un detector de cambios independiente, sirve de contraste.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nadadores reales: 17 secuencias de 4 participantes y 4 estilos, 95 ciclos válidos, la frecuencia con un error del 6,5 al 8,2 % frente al conteo manual y la familia del estilo bien en 12 de 13. En las sesiones reales no hubo fatiga ni falsas alarmas: son pasadas cortas con descansos. La gran limitación es la detección: el nadador fue analizable el 34 % del tiempo. Como no tengo una referencia real de fatiga, la compruebo con datos sintéticos donde sé la verdad: detecta el 100 % con un 10 % de falsas alarmas, y en tiempo real 10 de 10.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objetivos cumplidos y dos parciales: la fatiga está validada con datos sintéticos, pero falta la validación fisiológica con nadadores reales; y el estilo supervisado no generalizaba, por eso pasé a reglas. La lección principal: la calidad de los datos pesa más que el modelo. Una versión anterior daba un 99,99 % y era fuga de datos; desde entonces contrasté cada resultado con una referencia. El trabajo futuro sale de las limitaciones: series largas con referencia fisiológica, anotar fotogramas propios para medir la pose y ajustar el modelo a nadadores. Gracias.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9.xml"/><Relationship Id="rId3"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0.xml"/><Relationship Id="rId3" Type="http://schemas.openxmlformats.org/officeDocument/2006/relationships/image" Target="../media/image5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7772400" y="5989320"/>
            <a:ext cx="5943600" cy="914400"/>
          </a:xfrm>
          <a:prstGeom prst="rect">
            <a:avLst/>
          </a:prstGeom>
          <a:noFill/>
        </p:spPr>
        <p:txBody>
          <a:bodyPr wrap="square" anchor="t" lIns="0" rIns="0" tIns="0" bIns="0">
            <a:spAutoFit/>
          </a:bodyPr>
          <a:lstStyle/>
          <a:p>
            <a:pPr algn="l">
              <a:spcAft>
                <a:spcPts val="600"/>
              </a:spcAft>
            </a:pPr>
            <a:r>
              <a:rPr sz="1300" b="1">
                <a:solidFill>
                  <a:srgbClr val="FF3228"/>
                </a:solidFill>
              </a:rPr>
              <a:t>Por qué TreeSHAP: </a:t>
            </a:r>
            <a:r>
              <a:rPr sz="1300" b="0">
                <a:solidFill>
                  <a:srgbClr val="1E1E1E"/>
                </a:solidFill>
              </a:rPr>
              <a:t>valores de Shapley exactos para modelos de árboles (como Isolation Forest); el signo se comprueba en cada ejecución (correlación 0,999).</a:t>
            </a:r>
          </a:p>
        </p:txBody>
      </p:sp>
      <p:sp>
        <p:nvSpPr>
          <p:cNvPr id="10" name="TextBox 9"/>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Qué cambió y por qué</a:t>
            </a:r>
          </a:p>
        </p:txBody>
      </p:sp>
      <p:sp>
        <p:nvSpPr>
          <p:cNvPr id="4" name="Text Placeholder 3"/>
          <p:cNvSpPr>
            <a:spLocks noGrp="1"/>
          </p:cNvSpPr>
          <p:nvPr>
            <p:ph type="body" idx="18" sz="quarter"/>
          </p:nvPr>
        </p:nvSpPr>
        <p:spPr>
          <a:xfrm>
            <a:ext cx="12344400" cy="0"/>
          </a:xfrm>
        </p:spPr>
        <p:txBody>
          <a:bodyPr/>
          <a:lstStyle/>
          <a:p>
            <a:r>
              <a:t>Cambios respecto al planteamiento inicial (memoria, apartado 5.2)</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3200400"/>
                <a:gridCol w="4206240"/>
                <a:gridCol w="5394960"/>
              </a:tblGrid>
              <a:tr h="502920">
                <a:tc>
                  <a:txBody>
                    <a:bodyPr/>
                    <a:lstStyle/>
                    <a:p>
                      <a:r>
                        <a:rPr sz="1300" b="1">
                          <a:solidFill>
                            <a:srgbClr val="FFFFFF"/>
                          </a:solidFill>
                        </a:rPr>
                        <a:t>Planteamiento inicial</a:t>
                      </a:r>
                    </a:p>
                  </a:txBody>
                  <a:tcPr marL="91440" marR="91440" marT="27432" marB="27432" anchor="ctr">
                    <a:solidFill>
                      <a:srgbClr val="FF3228"/>
                    </a:solidFill>
                  </a:tcPr>
                </a:tc>
                <a:tc>
                  <a:txBody>
                    <a:bodyPr/>
                    <a:lstStyle/>
                    <a:p>
                      <a:r>
                        <a:rPr sz="1300" b="1">
                          <a:solidFill>
                            <a:srgbClr val="FFFFFF"/>
                          </a:solidFill>
                        </a:rPr>
                        <a:t>Decisión final</a:t>
                      </a:r>
                    </a:p>
                  </a:txBody>
                  <a:tcPr marL="91440" marR="91440" marT="27432" marB="27432" anchor="ctr">
                    <a:solidFill>
                      <a:srgbClr val="FF3228"/>
                    </a:solidFill>
                  </a:tcPr>
                </a:tc>
                <a:tc>
                  <a:txBody>
                    <a:bodyPr/>
                    <a:lstStyle/>
                    <a:p>
                      <a:r>
                        <a:rPr sz="1300" b="1">
                          <a:solidFill>
                            <a:srgbClr val="FFFFFF"/>
                          </a:solidFill>
                        </a:rPr>
                        <a:t>Motivo</a:t>
                      </a:r>
                    </a:p>
                  </a:txBody>
                  <a:tcPr marL="91440" marR="91440" marT="27432" marB="27432" anchor="ctr">
                    <a:solidFill>
                      <a:srgbClr val="FF3228"/>
                    </a:solidFill>
                  </a:tcPr>
                </a:tc>
              </a:tr>
              <a:tr h="502920">
                <a:tc>
                  <a:txBody>
                    <a:bodyPr/>
                    <a:lstStyle/>
                    <a:p>
                      <a:r>
                        <a:rPr sz="1300" b="0">
                          <a:solidFill>
                            <a:srgbClr val="1E1E1E"/>
                          </a:solidFill>
                        </a:rPr>
                        <a:t>MoveNet</a:t>
                      </a:r>
                    </a:p>
                  </a:txBody>
                  <a:tcPr marL="91440" marR="91440" marT="27432" marB="27432" anchor="ctr">
                    <a:solidFill>
                      <a:srgbClr val="FFFFFF"/>
                    </a:solidFill>
                  </a:tcPr>
                </a:tc>
                <a:tc>
                  <a:txBody>
                    <a:bodyPr/>
                    <a:lstStyle/>
                    <a:p>
                      <a:r>
                        <a:rPr sz="1300" b="0">
                          <a:solidFill>
                            <a:srgbClr val="1E1E1E"/>
                          </a:solidFill>
                        </a:rPr>
                        <a:t>YOLOv8n-Pose</a:t>
                      </a:r>
                    </a:p>
                  </a:txBody>
                  <a:tcPr marL="91440" marR="91440" marT="27432" marB="27432" anchor="ctr">
                    <a:solidFill>
                      <a:srgbClr val="FFFFFF"/>
                    </a:solidFill>
                  </a:tcPr>
                </a:tc>
                <a:tc>
                  <a:txBody>
                    <a:bodyPr/>
                    <a:lstStyle/>
                    <a:p>
                      <a:r>
                        <a:rPr sz="1300" b="0">
                          <a:solidFill>
                            <a:srgbClr val="1E1E1E"/>
                          </a:solidFill>
                        </a:rPr>
                        <a:t>Doble de confianza y cinco veces más ciclos válidos bajo el agua</a:t>
                      </a:r>
                    </a:p>
                  </a:txBody>
                  <a:tcPr marL="91440" marR="91440" marT="27432" marB="27432" anchor="ctr">
                    <a:solidFill>
                      <a:srgbClr val="FFFFFF"/>
                    </a:solidFill>
                  </a:tcPr>
                </a:tc>
              </a:tr>
              <a:tr h="502920">
                <a:tc>
                  <a:txBody>
                    <a:bodyPr/>
                    <a:lstStyle/>
                    <a:p>
                      <a:r>
                        <a:rPr sz="1300" b="0">
                          <a:solidFill>
                            <a:srgbClr val="1E1E1E"/>
                          </a:solidFill>
                        </a:rPr>
                        <a:t>Solo vista lateral</a:t>
                      </a:r>
                    </a:p>
                  </a:txBody>
                  <a:tcPr marL="91440" marR="91440" marT="27432" marB="27432" anchor="ctr">
                    <a:solidFill>
                      <a:srgbClr val="EEEDED"/>
                    </a:solidFill>
                  </a:tcPr>
                </a:tc>
                <a:tc>
                  <a:txBody>
                    <a:bodyPr/>
                    <a:lstStyle/>
                    <a:p>
                      <a:r>
                        <a:rPr sz="1300" b="0">
                          <a:solidFill>
                            <a:srgbClr val="1E1E1E"/>
                          </a:solidFill>
                        </a:rPr>
                        <a:t>Lateral y frontal, vista automática por tramos</a:t>
                      </a:r>
                    </a:p>
                  </a:txBody>
                  <a:tcPr marL="91440" marR="91440" marT="27432" marB="27432" anchor="ctr">
                    <a:solidFill>
                      <a:srgbClr val="EEEDED"/>
                    </a:solidFill>
                  </a:tcPr>
                </a:tc>
                <a:tc>
                  <a:txBody>
                    <a:bodyPr/>
                    <a:lstStyle/>
                    <a:p>
                      <a:r>
                        <a:rPr sz="1300" b="0">
                          <a:solidFill>
                            <a:srgbClr val="1E1E1E"/>
                          </a:solidFill>
                        </a:rPr>
                        <a:t>Parte de los vídeos es frontal: la profundidad de la mano no se ve</a:t>
                      </a:r>
                    </a:p>
                  </a:txBody>
                  <a:tcPr marL="91440" marR="91440" marT="27432" marB="27432" anchor="ctr">
                    <a:solidFill>
                      <a:srgbClr val="EEEDED"/>
                    </a:solidFill>
                  </a:tcPr>
                </a:tc>
              </a:tr>
              <a:tr h="502920">
                <a:tc>
                  <a:txBody>
                    <a:bodyPr/>
                    <a:lstStyle/>
                    <a:p>
                      <a:r>
                        <a:rPr sz="1300" b="0">
                          <a:solidFill>
                            <a:srgbClr val="1E1E1E"/>
                          </a:solidFill>
                        </a:rPr>
                        <a:t>Red recurrente supervisada</a:t>
                      </a:r>
                    </a:p>
                  </a:txBody>
                  <a:tcPr marL="91440" marR="91440" marT="27432" marB="27432" anchor="ctr">
                    <a:solidFill>
                      <a:srgbClr val="FFFFFF"/>
                    </a:solidFill>
                  </a:tcPr>
                </a:tc>
                <a:tc>
                  <a:txBody>
                    <a:bodyPr/>
                    <a:lstStyle/>
                    <a:p>
                      <a:r>
                        <a:rPr sz="1300" b="0">
                          <a:solidFill>
                            <a:srgbClr val="1E1E1E"/>
                          </a:solidFill>
                        </a:rPr>
                        <a:t>Isolation Forest no supervisado</a:t>
                      </a:r>
                    </a:p>
                  </a:txBody>
                  <a:tcPr marL="91440" marR="91440" marT="27432" marB="27432" anchor="ctr">
                    <a:solidFill>
                      <a:srgbClr val="FFFFFF"/>
                    </a:solidFill>
                  </a:tcPr>
                </a:tc>
                <a:tc>
                  <a:txBody>
                    <a:bodyPr/>
                    <a:lstStyle/>
                    <a:p>
                      <a:r>
                        <a:rPr sz="1300" b="0">
                          <a:solidFill>
                            <a:srgbClr val="1E1E1E"/>
                          </a:solidFill>
                        </a:rPr>
                        <a:t>Sin etiquetas de fatiga; admite SHAP exacto</a:t>
                      </a:r>
                    </a:p>
                  </a:txBody>
                  <a:tcPr marL="91440" marR="91440" marT="27432" marB="27432" anchor="ctr">
                    <a:solidFill>
                      <a:srgbClr val="FFFFFF"/>
                    </a:solidFill>
                  </a:tcPr>
                </a:tc>
              </a:tr>
              <a:tr h="502920">
                <a:tc>
                  <a:txBody>
                    <a:bodyPr/>
                    <a:lstStyle/>
                    <a:p>
                      <a:r>
                        <a:rPr sz="1300" b="0">
                          <a:solidFill>
                            <a:srgbClr val="1E1E1E"/>
                          </a:solidFill>
                        </a:rPr>
                        <a:t>XGBoost</a:t>
                      </a:r>
                    </a:p>
                  </a:txBody>
                  <a:tcPr marL="91440" marR="91440" marT="27432" marB="27432" anchor="ctr">
                    <a:solidFill>
                      <a:srgbClr val="EEEDED"/>
                    </a:solidFill>
                  </a:tcPr>
                </a:tc>
                <a:tc>
                  <a:txBody>
                    <a:bodyPr/>
                    <a:lstStyle/>
                    <a:p>
                      <a:r>
                        <a:rPr sz="1300" b="0">
                          <a:solidFill>
                            <a:srgbClr val="1E1E1E"/>
                          </a:solidFill>
                        </a:rPr>
                        <a:t>Bosque aleatorio → reglas biomecánicas</a:t>
                      </a:r>
                    </a:p>
                  </a:txBody>
                  <a:tcPr marL="91440" marR="91440" marT="27432" marB="27432" anchor="ctr">
                    <a:solidFill>
                      <a:srgbClr val="EEEDED"/>
                    </a:solidFill>
                  </a:tcPr>
                </a:tc>
                <a:tc>
                  <a:txBody>
                    <a:bodyPr/>
                    <a:lstStyle/>
                    <a:p>
                      <a:r>
                        <a:rPr sz="1300" b="0">
                          <a:solidFill>
                            <a:srgbClr val="1E1E1E"/>
                          </a:solidFill>
                        </a:rPr>
                        <a:t>El modelo supervisado aprendía al nadador, no el estilo</a:t>
                      </a:r>
                    </a:p>
                  </a:txBody>
                  <a:tcPr marL="91440" marR="91440" marT="27432" marB="27432" anchor="ctr">
                    <a:solidFill>
                      <a:srgbClr val="EEEDED"/>
                    </a:solidFill>
                  </a:tcPr>
                </a:tc>
              </a:tr>
              <a:tr h="502920">
                <a:tc>
                  <a:txBody>
                    <a:bodyPr/>
                    <a:lstStyle/>
                    <a:p>
                      <a:r>
                        <a:rPr sz="1300" b="1">
                          <a:solidFill>
                            <a:srgbClr val="1E1E1E"/>
                          </a:solidFill>
                        </a:rPr>
                        <a:t>Validación por fotograma</a:t>
                      </a:r>
                    </a:p>
                  </a:txBody>
                  <a:tcPr marL="91440" marR="91440" marT="27432" marB="27432" anchor="ctr">
                    <a:solidFill>
                      <a:srgbClr val="FFAFAA"/>
                    </a:solidFill>
                  </a:tcPr>
                </a:tc>
                <a:tc>
                  <a:txBody>
                    <a:bodyPr/>
                    <a:lstStyle/>
                    <a:p>
                      <a:r>
                        <a:rPr sz="1300" b="1">
                          <a:solidFill>
                            <a:srgbClr val="1E1E1E"/>
                          </a:solidFill>
                        </a:rPr>
                        <a:t>Validación por vídeo (GroupKFold)</a:t>
                      </a:r>
                    </a:p>
                  </a:txBody>
                  <a:tcPr marL="91440" marR="91440" marT="27432" marB="27432" anchor="ctr">
                    <a:solidFill>
                      <a:srgbClr val="FFAFAA"/>
                    </a:solidFill>
                  </a:tcPr>
                </a:tc>
                <a:tc>
                  <a:txBody>
                    <a:bodyPr/>
                    <a:lstStyle/>
                    <a:p>
                      <a:r>
                        <a:rPr sz="1300" b="1">
                          <a:solidFill>
                            <a:srgbClr val="1E1E1E"/>
                          </a:solidFill>
                        </a:rPr>
                        <a:t>El 99,99 % de una versión anterior era fuga de datos</a:t>
                      </a:r>
                    </a:p>
                  </a:txBody>
                  <a:tcPr marL="91440" marR="91440" marT="27432" marB="27432" anchor="ctr">
                    <a:solidFill>
                      <a:srgbClr val="FFAFAA"/>
                    </a:solidFill>
                  </a:tcPr>
                </a:tc>
              </a:tr>
              <a:tr h="502920">
                <a:tc>
                  <a:txBody>
                    <a:bodyPr/>
                    <a:lstStyle/>
                    <a:p>
                      <a:r>
                        <a:rPr sz="1300" b="0">
                          <a:solidFill>
                            <a:srgbClr val="1E1E1E"/>
                          </a:solidFill>
                        </a:rPr>
                        <a:t>Potencia en vatios</a:t>
                      </a:r>
                    </a:p>
                  </a:txBody>
                  <a:tcPr marL="91440" marR="91440" marT="27432" marB="27432" anchor="ctr">
                    <a:solidFill>
                      <a:srgbClr val="EEEDED"/>
                    </a:solidFill>
                  </a:tcPr>
                </a:tc>
                <a:tc>
                  <a:txBody>
                    <a:bodyPr/>
                    <a:lstStyle/>
                    <a:p>
                      <a:r>
                        <a:rPr sz="1300" b="0">
                          <a:solidFill>
                            <a:srgbClr val="1E1E1E"/>
                          </a:solidFill>
                        </a:rPr>
                        <a:t>Indicadores cinemáticos</a:t>
                      </a:r>
                    </a:p>
                  </a:txBody>
                  <a:tcPr marL="91440" marR="91440" marT="27432" marB="27432" anchor="ctr">
                    <a:solidFill>
                      <a:srgbClr val="EEEDED"/>
                    </a:solidFill>
                  </a:tcPr>
                </a:tc>
                <a:tc>
                  <a:txBody>
                    <a:bodyPr/>
                    <a:lstStyle/>
                    <a:p>
                      <a:r>
                        <a:rPr sz="1300" b="0">
                          <a:solidFill>
                            <a:srgbClr val="1E1E1E"/>
                          </a:solidFill>
                        </a:rPr>
                        <a:t>La potencia depende de CD y A, no medibles desde vídeo</a:t>
                      </a:r>
                    </a:p>
                  </a:txBody>
                  <a:tcPr marL="91440" marR="91440" marT="27432" marB="27432" anchor="ctr">
                    <a:solidFill>
                      <a:srgbClr val="EEEDED"/>
                    </a:solidFill>
                  </a:tcPr>
                </a:tc>
              </a:tr>
              <a:tr h="502920">
                <a:tc>
                  <a:txBody>
                    <a:bodyPr/>
                    <a:lstStyle/>
                    <a:p>
                      <a:r>
                        <a:rPr sz="1300" b="0">
                          <a:solidFill>
                            <a:srgbClr val="1E1E1E"/>
                          </a:solidFill>
                        </a:rPr>
                        <a:t>Sensores inerciales</a:t>
                      </a:r>
                    </a:p>
                  </a:txBody>
                  <a:tcPr marL="91440" marR="91440" marT="27432" marB="27432" anchor="ctr">
                    <a:solidFill>
                      <a:srgbClr val="FFFFFF"/>
                    </a:solidFill>
                  </a:tcPr>
                </a:tc>
                <a:tc>
                  <a:txBody>
                    <a:bodyPr/>
                    <a:lstStyle/>
                    <a:p>
                      <a:r>
                        <a:rPr sz="1300" b="0">
                          <a:solidFill>
                            <a:srgbClr val="1E1E1E"/>
                          </a:solidFill>
                        </a:rPr>
                        <a:t>Solo vídeo</a:t>
                      </a:r>
                    </a:p>
                  </a:txBody>
                  <a:tcPr marL="91440" marR="91440" marT="27432" marB="27432" anchor="ctr">
                    <a:solidFill>
                      <a:srgbClr val="FFFFFF"/>
                    </a:solidFill>
                  </a:tcPr>
                </a:tc>
                <a:tc>
                  <a:txBody>
                    <a:bodyPr/>
                    <a:lstStyle/>
                    <a:p>
                      <a:r>
                        <a:rPr sz="1300" b="0">
                          <a:solidFill>
                            <a:srgbClr val="1E1E1E"/>
                          </a:solidFill>
                        </a:rPr>
                        <a:t>No se dispuso de sensores (trabajo futuro)</a:t>
                      </a:r>
                    </a:p>
                  </a:txBody>
                  <a:tcPr marL="91440" marR="91440" marT="27432" marB="2743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frontal u oblicua: indicada manualmente (en lateral, solo 2 ciclos)</a:t>
            </a:r>
          </a:p>
          <a:p>
            <a:pPr algn="l">
              <a:spcAft>
                <a:spcPts val="400"/>
              </a:spcAft>
            </a:pPr>
            <a:r>
              <a:rPr sz="1300" b="0">
                <a:solidFill>
                  <a:srgbClr val="1E1E1E"/>
                </a:solidFill>
              </a:rPr>
              <a:t>•  39 ciclos válidos · 76 s analizables de 106 s</a:t>
            </a:r>
          </a:p>
          <a:p>
            <a:pPr algn="l">
              <a:spcAft>
                <a:spcPts val="400"/>
              </a:spcAft>
            </a:pPr>
            <a:r>
              <a:rPr sz="1300" b="0">
                <a:solidFill>
                  <a:srgbClr val="1E1E1E"/>
                </a:solidFill>
              </a:rPr>
              <a:t>•  54 ciclos/min de media</a:t>
            </a:r>
          </a:p>
          <a:p>
            <a:pPr algn="l">
              <a:spcAft>
                <a:spcPts val="400"/>
              </a:spcAft>
            </a:pPr>
            <a:r>
              <a:rPr sz="1300" b="0">
                <a:solidFill>
                  <a:srgbClr val="1E1E1E"/>
                </a:solidFill>
              </a:rPr>
              <a:t>•  Sin fatiga declarada: los 2 últimos ciclos son los más anómalos del vídeo (la regla exige 3 seguidos)</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Problema y objetivo</a:t>
            </a:r>
          </a:p>
        </p:txBody>
      </p:sp>
      <p:sp>
        <p:nvSpPr>
          <p:cNvPr id="4" name="Text Placeholder 3"/>
          <p:cNvSpPr>
            <a:spLocks noGrp="1"/>
          </p:cNvSpPr>
          <p:nvPr>
            <p:ph type="body" idx="18" sz="quarter"/>
          </p:nvPr>
        </p:nvSpPr>
        <p:spPr>
          <a:xfrm>
            <a:ext cx="12344400" cy="0"/>
          </a:xfrm>
        </p:spPr>
        <p:txBody>
          <a:bodyPr/>
          <a:lstStyle/>
          <a:p>
            <a:r>
              <a:t>¿Cuándo aparece la fatiga técnica y por qué?</a:t>
            </a:r>
          </a:p>
        </p:txBody>
      </p:sp>
      <p:sp>
        <p:nvSpPr>
          <p:cNvPr id="5" name="Rectangle 4"/>
          <p:cNvSpPr/>
          <p:nvPr/>
        </p:nvSpPr>
        <p:spPr>
          <a:xfrm>
            <a:off x="905256" y="2743200"/>
            <a:ext cx="3931920" cy="2514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Observación</a:t>
            </a:r>
          </a:p>
        </p:txBody>
      </p:sp>
      <p:sp>
        <p:nvSpPr>
          <p:cNvPr id="8" name="TextBox 7"/>
          <p:cNvSpPr txBox="1"/>
          <p:nvPr/>
        </p:nvSpPr>
        <p:spPr>
          <a:xfrm>
            <a:off x="1179576" y="4297679"/>
            <a:ext cx="3383279" cy="777240"/>
          </a:xfrm>
          <a:prstGeom prst="rect">
            <a:avLst/>
          </a:prstGeom>
          <a:noFill/>
        </p:spPr>
        <p:txBody>
          <a:bodyPr wrap="square" anchor="t" lIns="0" rIns="0" tIns="0" bIns="0">
            <a:spAutoFit/>
          </a:bodyPr>
          <a:lstStyle/>
          <a:p>
            <a:pPr algn="l">
              <a:spcAft>
                <a:spcPts val="600"/>
              </a:spcAft>
            </a:pPr>
            <a:r>
              <a:rPr sz="1400" b="0">
                <a:solidFill>
                  <a:srgbClr val="1E1E1E"/>
                </a:solidFill>
              </a:rPr>
              <a:t>Depende del ojo del entrenador: no cuantifica ni deja registro comparable.</a:t>
            </a:r>
          </a:p>
        </p:txBody>
      </p:sp>
      <p:sp>
        <p:nvSpPr>
          <p:cNvPr id="9" name="Rectangle 8"/>
          <p:cNvSpPr/>
          <p:nvPr/>
        </p:nvSpPr>
        <p:spPr>
          <a:xfrm>
            <a:off x="5120640" y="2743200"/>
            <a:ext cx="3931920" cy="2514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Sistemas instrumentados</a:t>
            </a:r>
          </a:p>
        </p:txBody>
      </p:sp>
      <p:sp>
        <p:nvSpPr>
          <p:cNvPr id="12" name="TextBox 11"/>
          <p:cNvSpPr txBox="1"/>
          <p:nvPr/>
        </p:nvSpPr>
        <p:spPr>
          <a:xfrm>
            <a:off x="5394959" y="4297679"/>
            <a:ext cx="3383279" cy="777240"/>
          </a:xfrm>
          <a:prstGeom prst="rect">
            <a:avLst/>
          </a:prstGeom>
          <a:noFill/>
        </p:spPr>
        <p:txBody>
          <a:bodyPr wrap="square" anchor="t" lIns="0" rIns="0" tIns="0" bIns="0">
            <a:spAutoFit/>
          </a:bodyPr>
          <a:lstStyle/>
          <a:p>
            <a:pPr algn="l">
              <a:spcAft>
                <a:spcPts val="600"/>
              </a:spcAft>
            </a:pPr>
            <a:r>
              <a:rPr sz="1400" b="0">
                <a:solidFill>
                  <a:srgbClr val="1E1E1E"/>
                </a:solidFill>
              </a:rPr>
              <a:t>Sensores inerciales o varias cámaras: caros y de montaje complejo.</a:t>
            </a:r>
          </a:p>
        </p:txBody>
      </p:sp>
      <p:sp>
        <p:nvSpPr>
          <p:cNvPr id="13" name="Rectangle 12"/>
          <p:cNvSpPr/>
          <p:nvPr/>
        </p:nvSpPr>
        <p:spPr>
          <a:xfrm>
            <a:off x="9336024" y="2743200"/>
            <a:ext cx="3931920" cy="25146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StrokeLab</a:t>
            </a:r>
          </a:p>
        </p:txBody>
      </p:sp>
      <p:sp>
        <p:nvSpPr>
          <p:cNvPr id="16" name="TextBox 15"/>
          <p:cNvSpPr txBox="1"/>
          <p:nvPr/>
        </p:nvSpPr>
        <p:spPr>
          <a:xfrm>
            <a:off x="9610344" y="4297679"/>
            <a:ext cx="3383279" cy="777240"/>
          </a:xfrm>
          <a:prstGeom prst="rect">
            <a:avLst/>
          </a:prstGeom>
          <a:noFill/>
        </p:spPr>
        <p:txBody>
          <a:bodyPr wrap="square" anchor="t" lIns="0" rIns="0" tIns="0" bIns="0">
            <a:spAutoFit/>
          </a:bodyPr>
          <a:lstStyle/>
          <a:p>
            <a:pPr algn="l">
              <a:spcAft>
                <a:spcPts val="600"/>
              </a:spcAft>
            </a:pPr>
            <a:r>
              <a:rPr sz="1400" b="0">
                <a:solidFill>
                  <a:srgbClr val="FFFFFF"/>
                </a:solidFill>
              </a:rPr>
              <a:t>Una cámara y un portátil sin GPU: mide, detecta el inicio de la fatiga y explica su causa.</a:t>
            </a:r>
          </a:p>
        </p:txBody>
      </p:sp>
      <p:sp>
        <p:nvSpPr>
          <p:cNvPr id="17" name="Rectangle 16"/>
          <p:cNvSpPr/>
          <p:nvPr/>
        </p:nvSpPr>
        <p:spPr>
          <a:xfrm>
            <a:off x="905256" y="5486400"/>
            <a:ext cx="12362688" cy="12801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486400"/>
            <a:ext cx="11887200" cy="1280160"/>
          </a:xfrm>
          <a:prstGeom prst="rect">
            <a:avLst/>
          </a:prstGeom>
          <a:noFill/>
        </p:spPr>
        <p:txBody>
          <a:bodyPr wrap="square" anchor="ctr" lIns="0" rIns="0" tIns="0" bIns="0">
            <a:spAutoFit/>
          </a:bodyPr>
          <a:lstStyle/>
          <a:p>
            <a:pPr algn="l">
              <a:spcAft>
                <a:spcPts val="600"/>
              </a:spcAft>
            </a:pPr>
            <a:r>
              <a:rPr sz="1500" b="1">
                <a:solidFill>
                  <a:srgbClr val="FF3228"/>
                </a:solidFill>
              </a:rPr>
              <a:t>Objetivo: </a:t>
            </a:r>
            <a:r>
              <a:rPr sz="1500" b="0">
                <a:solidFill>
                  <a:srgbClr val="FFFFFF"/>
                </a:solidFill>
              </a:rPr>
              <a:t>IA explicable desde vídeo monocular en CPU. Indicaciones del director: la explicabilidad (SHAP) es lo más importante · dos verticales de IA, visión y tabular · optimizar YOLO frente a MoveNet y ViTPose.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Algoritmos: qué y por qué</a:t>
            </a:r>
          </a:p>
        </p:txBody>
      </p:sp>
      <p:sp>
        <p:nvSpPr>
          <p:cNvPr id="4" name="Text Placeholder 3"/>
          <p:cNvSpPr>
            <a:spLocks noGrp="1"/>
          </p:cNvSpPr>
          <p:nvPr>
            <p:ph type="body" idx="18" sz="quarter"/>
          </p:nvPr>
        </p:nvSpPr>
        <p:spPr>
          <a:xfrm>
            <a:ext cx="12344400" cy="0"/>
          </a:xfrm>
        </p:spPr>
        <p:txBody>
          <a:bodyPr/>
          <a:lstStyle/>
          <a:p>
            <a:r>
              <a:t>Vertical de visión (pose) → vertical tabular (ciclos, fatiga, SHAP)</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1463040"/>
                <a:gridCol w="3566160"/>
                <a:gridCol w="3291840"/>
                <a:gridCol w="4480560"/>
              </a:tblGrid>
              <a:tr h="502920">
                <a:tc>
                  <a:txBody>
                    <a:bodyPr/>
                    <a:lstStyle/>
                    <a:p>
                      <a:r>
                        <a:rPr sz="1200" b="1">
                          <a:solidFill>
                            <a:srgbClr val="FFFFFF"/>
                          </a:solidFill>
                        </a:rPr>
                        <a:t>Etapa</a:t>
                      </a:r>
                    </a:p>
                  </a:txBody>
                  <a:tcPr marL="91440" marR="91440" marT="27432" marB="27432" anchor="ctr">
                    <a:solidFill>
                      <a:srgbClr val="FF3228"/>
                    </a:solidFill>
                  </a:tcPr>
                </a:tc>
                <a:tc>
                  <a:txBody>
                    <a:bodyPr/>
                    <a:lstStyle/>
                    <a:p>
                      <a:r>
                        <a:rPr sz="1200" b="1">
                          <a:solidFill>
                            <a:srgbClr val="FFFFFF"/>
                          </a:solidFill>
                        </a:rPr>
                        <a:t>Algoritmo elegido</a:t>
                      </a:r>
                    </a:p>
                  </a:txBody>
                  <a:tcPr marL="91440" marR="91440" marT="27432" marB="27432" anchor="ctr">
                    <a:solidFill>
                      <a:srgbClr val="FF3228"/>
                    </a:solidFill>
                  </a:tcPr>
                </a:tc>
                <a:tc>
                  <a:txBody>
                    <a:bodyPr/>
                    <a:lstStyle/>
                    <a:p>
                      <a:r>
                        <a:rPr sz="1200" b="1">
                          <a:solidFill>
                            <a:srgbClr val="FFFFFF"/>
                          </a:solidFill>
                        </a:rPr>
                        <a:t>Alternativa comparada</a:t>
                      </a:r>
                    </a:p>
                  </a:txBody>
                  <a:tcPr marL="91440" marR="91440" marT="27432" marB="27432" anchor="ctr">
                    <a:solidFill>
                      <a:srgbClr val="FF3228"/>
                    </a:solidFill>
                  </a:tcPr>
                </a:tc>
                <a:tc>
                  <a:txBody>
                    <a:bodyPr/>
                    <a:lstStyle/>
                    <a:p>
                      <a:r>
                        <a:rPr sz="1200" b="1">
                          <a:solidFill>
                            <a:srgbClr val="FFFFFF"/>
                          </a:solidFill>
                        </a:rPr>
                        <a:t>Por qué</a:t>
                      </a:r>
                    </a:p>
                  </a:txBody>
                  <a:tcPr marL="91440" marR="91440" marT="27432" marB="27432" anchor="ctr">
                    <a:solidFill>
                      <a:srgbClr val="FF3228"/>
                    </a:solidFill>
                  </a:tcPr>
                </a:tc>
              </a:tr>
              <a:tr h="502920">
                <a:tc>
                  <a:txBody>
                    <a:bodyPr/>
                    <a:lstStyle/>
                    <a:p>
                      <a:r>
                        <a:rPr sz="1200" b="0">
                          <a:solidFill>
                            <a:srgbClr val="1E1E1E"/>
                          </a:solidFill>
                        </a:rPr>
                        <a:t>Pose 2D</a:t>
                      </a:r>
                    </a:p>
                  </a:txBody>
                  <a:tcPr marL="91440" marR="91440" marT="27432" marB="27432" anchor="ctr">
                    <a:solidFill>
                      <a:srgbClr val="FFFFFF"/>
                    </a:solidFill>
                  </a:tcPr>
                </a:tc>
                <a:tc>
                  <a:txBody>
                    <a:bodyPr/>
                    <a:lstStyle/>
                    <a:p>
                      <a:r>
                        <a:rPr sz="1200" b="0">
                          <a:solidFill>
                            <a:srgbClr val="1E1E1E"/>
                          </a:solidFill>
                        </a:rPr>
                        <a:t>YOLOv8n-Pose (CNN, una etapa)</a:t>
                      </a:r>
                    </a:p>
                  </a:txBody>
                  <a:tcPr marL="91440" marR="91440" marT="27432" marB="27432" anchor="ctr">
                    <a:solidFill>
                      <a:srgbClr val="FFFFFF"/>
                    </a:solidFill>
                  </a:tcPr>
                </a:tc>
                <a:tc>
                  <a:txBody>
                    <a:bodyPr/>
                    <a:lstStyle/>
                    <a:p>
                      <a:r>
                        <a:rPr sz="1200" b="0">
                          <a:solidFill>
                            <a:srgbClr val="1E1E1E"/>
                          </a:solidFill>
                        </a:rPr>
                        <a:t>YOLO11n, YOLOv8s, MoveNet, HRNet, ViTPose</a:t>
                      </a:r>
                    </a:p>
                  </a:txBody>
                  <a:tcPr marL="91440" marR="91440" marT="27432" marB="27432" anchor="ctr">
                    <a:solidFill>
                      <a:srgbClr val="FFFFFF"/>
                    </a:solidFill>
                  </a:tcPr>
                </a:tc>
                <a:tc>
                  <a:txBody>
                    <a:bodyPr/>
                    <a:lstStyle/>
                    <a:p>
                      <a:r>
                        <a:rPr sz="1200" b="0">
                          <a:solidFill>
                            <a:srgbClr val="1E1E1E"/>
                          </a:solidFill>
                        </a:rPr>
                        <a:t>Detecta como v8s (35,6 %) con 3,3 M parámetros frente a 11,6 M; doble de confianza que MoveNet</a:t>
                      </a:r>
                    </a:p>
                  </a:txBody>
                  <a:tcPr marL="91440" marR="91440" marT="27432" marB="27432" anchor="ctr">
                    <a:solidFill>
                      <a:srgbClr val="FFFFFF"/>
                    </a:solidFill>
                  </a:tcPr>
                </a:tc>
              </a:tr>
              <a:tr h="502920">
                <a:tc>
                  <a:txBody>
                    <a:bodyPr/>
                    <a:lstStyle/>
                    <a:p>
                      <a:r>
                        <a:rPr sz="1200" b="0">
                          <a:solidFill>
                            <a:srgbClr val="1E1E1E"/>
                          </a:solidFill>
                        </a:rPr>
                        <a:t>Pose 3D</a:t>
                      </a:r>
                    </a:p>
                  </a:txBody>
                  <a:tcPr marL="91440" marR="91440" marT="27432" marB="27432" anchor="ctr">
                    <a:solidFill>
                      <a:srgbClr val="EEEDED"/>
                    </a:solidFill>
                  </a:tcPr>
                </a:tc>
                <a:tc>
                  <a:txBody>
                    <a:bodyPr/>
                    <a:lstStyle/>
                    <a:p>
                      <a:r>
                        <a:rPr sz="1200" b="0">
                          <a:solidFill>
                            <a:srgbClr val="1E1E1E"/>
                          </a:solidFill>
                        </a:rPr>
                        <a:t>MotionBERT-Lite (transformer)</a:t>
                      </a:r>
                    </a:p>
                  </a:txBody>
                  <a:tcPr marL="91440" marR="91440" marT="27432" marB="27432" anchor="ctr">
                    <a:solidFill>
                      <a:srgbClr val="EEEDED"/>
                    </a:solidFill>
                  </a:tcPr>
                </a:tc>
                <a:tc>
                  <a:txBody>
                    <a:bodyPr/>
                    <a:lstStyle/>
                    <a:p>
                      <a:r>
                        <a:rPr sz="1200" b="0">
                          <a:solidFill>
                            <a:srgbClr val="1E1E1E"/>
                          </a:solidFill>
                        </a:rPr>
                        <a:t>Ángulos 2D</a:t>
                      </a:r>
                    </a:p>
                  </a:txBody>
                  <a:tcPr marL="91440" marR="91440" marT="27432" marB="27432" anchor="ctr">
                    <a:solidFill>
                      <a:srgbClr val="EEEDED"/>
                    </a:solidFill>
                  </a:tcPr>
                </a:tc>
                <a:tc>
                  <a:txBody>
                    <a:bodyPr/>
                    <a:lstStyle/>
                    <a:p>
                      <a:r>
                        <a:rPr sz="1200" b="0">
                          <a:solidFill>
                            <a:srgbClr val="1E1E1E"/>
                          </a:solidFill>
                        </a:rPr>
                        <a:t>Solo de frente: en lateral falla la rodilla (107° frente a 173°)</a:t>
                      </a:r>
                    </a:p>
                  </a:txBody>
                  <a:tcPr marL="91440" marR="91440" marT="27432" marB="27432" anchor="ctr">
                    <a:solidFill>
                      <a:srgbClr val="EEEDED"/>
                    </a:solidFill>
                  </a:tcPr>
                </a:tc>
              </a:tr>
              <a:tr h="502920">
                <a:tc>
                  <a:txBody>
                    <a:bodyPr/>
                    <a:lstStyle/>
                    <a:p>
                      <a:r>
                        <a:rPr sz="1200" b="0">
                          <a:solidFill>
                            <a:srgbClr val="1E1E1E"/>
                          </a:solidFill>
                        </a:rPr>
                        <a:t>Vista</a:t>
                      </a:r>
                    </a:p>
                  </a:txBody>
                  <a:tcPr marL="91440" marR="91440" marT="27432" marB="27432" anchor="ctr">
                    <a:solidFill>
                      <a:srgbClr val="FFFFFF"/>
                    </a:solidFill>
                  </a:tcPr>
                </a:tc>
                <a:tc>
                  <a:txBody>
                    <a:bodyPr/>
                    <a:lstStyle/>
                    <a:p>
                      <a:r>
                        <a:rPr sz="1200" b="0">
                          <a:solidFill>
                            <a:srgbClr val="1E1E1E"/>
                          </a:solidFill>
                        </a:rPr>
                        <a:t>Orientación del tronco, tramos de 60 s</a:t>
                      </a:r>
                    </a:p>
                  </a:txBody>
                  <a:tcPr marL="91440" marR="91440" marT="27432" marB="27432" anchor="ctr">
                    <a:solidFill>
                      <a:srgbClr val="FFFFFF"/>
                    </a:solidFill>
                  </a:tcPr>
                </a:tc>
                <a:tc>
                  <a:txBody>
                    <a:bodyPr/>
                    <a:lstStyle/>
                    <a:p>
                      <a:r>
                        <a:rPr sz="1200" b="0">
                          <a:solidFill>
                            <a:srgbClr val="1E1E1E"/>
                          </a:solidFill>
                        </a:rPr>
                        <a:t>Vista indicada a mano</a:t>
                      </a:r>
                    </a:p>
                  </a:txBody>
                  <a:tcPr marL="91440" marR="91440" marT="27432" marB="27432" anchor="ctr">
                    <a:solidFill>
                      <a:srgbClr val="FFFFFF"/>
                    </a:solidFill>
                  </a:tcPr>
                </a:tc>
                <a:tc>
                  <a:txBody>
                    <a:bodyPr/>
                    <a:lstStyle/>
                    <a:p>
                      <a:r>
                        <a:rPr sz="1200" b="0">
                          <a:solidFill>
                            <a:srgbClr val="1E1E1E"/>
                          </a:solidFill>
                        </a:rPr>
                        <a:t>Hay vídeos laterales y frontales, incluso en el mismo vídeo</a:t>
                      </a:r>
                    </a:p>
                  </a:txBody>
                  <a:tcPr marL="91440" marR="91440" marT="27432" marB="27432" anchor="ctr">
                    <a:solidFill>
                      <a:srgbClr val="FFFFFF"/>
                    </a:solidFill>
                  </a:tcPr>
                </a:tc>
              </a:tr>
              <a:tr h="502920">
                <a:tc>
                  <a:txBody>
                    <a:bodyPr/>
                    <a:lstStyle/>
                    <a:p>
                      <a:r>
                        <a:rPr sz="1200" b="0">
                          <a:solidFill>
                            <a:srgbClr val="1E1E1E"/>
                          </a:solidFill>
                        </a:rPr>
                        <a:t>Ciclos</a:t>
                      </a:r>
                    </a:p>
                  </a:txBody>
                  <a:tcPr marL="91440" marR="91440" marT="27432" marB="27432" anchor="ctr">
                    <a:solidFill>
                      <a:srgbClr val="EEEDED"/>
                    </a:solidFill>
                  </a:tcPr>
                </a:tc>
                <a:tc>
                  <a:txBody>
                    <a:bodyPr/>
                    <a:lstStyle/>
                    <a:p>
                      <a:r>
                        <a:rPr sz="1200" b="0">
                          <a:solidFill>
                            <a:srgbClr val="1E1E1E"/>
                          </a:solidFill>
                        </a:rPr>
                        <a:t>Picos de la mano (lateral) · PCA (frontal)</a:t>
                      </a:r>
                    </a:p>
                  </a:txBody>
                  <a:tcPr marL="91440" marR="91440" marT="27432" marB="27432" anchor="ctr">
                    <a:solidFill>
                      <a:srgbClr val="EEEDED"/>
                    </a:solidFill>
                  </a:tcPr>
                </a:tc>
                <a:tc>
                  <a:txBody>
                    <a:bodyPr/>
                    <a:lstStyle/>
                    <a:p>
                      <a:r>
                        <a:rPr sz="1200" b="0">
                          <a:solidFill>
                            <a:srgbClr val="1E1E1E"/>
                          </a:solidFill>
                        </a:rPr>
                        <a:t>Cada muñeca por separado</a:t>
                      </a:r>
                    </a:p>
                  </a:txBody>
                  <a:tcPr marL="91440" marR="91440" marT="27432" marB="27432" anchor="ctr">
                    <a:solidFill>
                      <a:srgbClr val="EEEDED"/>
                    </a:solidFill>
                  </a:tcPr>
                </a:tc>
                <a:tc>
                  <a:txBody>
                    <a:bodyPr/>
                    <a:lstStyle/>
                    <a:p>
                      <a:r>
                        <a:rPr sz="1200" b="0">
                          <a:solidFill>
                            <a:srgbClr val="1E1E1E"/>
                          </a:solidFill>
                        </a:rPr>
                        <a:t>YOLO copia el brazo visible en el oculto</a:t>
                      </a:r>
                    </a:p>
                  </a:txBody>
                  <a:tcPr marL="91440" marR="91440" marT="27432" marB="27432" anchor="ctr">
                    <a:solidFill>
                      <a:srgbClr val="EEEDED"/>
                    </a:solidFill>
                  </a:tcPr>
                </a:tc>
              </a:tr>
              <a:tr h="502920">
                <a:tc>
                  <a:txBody>
                    <a:bodyPr/>
                    <a:lstStyle/>
                    <a:p>
                      <a:r>
                        <a:rPr sz="1200" b="1">
                          <a:solidFill>
                            <a:srgbClr val="1E1E1E"/>
                          </a:solidFill>
                        </a:rPr>
                        <a:t>Fatiga</a:t>
                      </a:r>
                    </a:p>
                  </a:txBody>
                  <a:tcPr marL="91440" marR="91440" marT="27432" marB="27432" anchor="ctr">
                    <a:solidFill>
                      <a:srgbClr val="FFAFAA"/>
                    </a:solidFill>
                  </a:tcPr>
                </a:tc>
                <a:tc>
                  <a:txBody>
                    <a:bodyPr/>
                    <a:lstStyle/>
                    <a:p>
                      <a:r>
                        <a:rPr sz="1200" b="1">
                          <a:solidFill>
                            <a:srgbClr val="1E1E1E"/>
                          </a:solidFill>
                        </a:rPr>
                        <a:t>Isolation Forest + PELT</a:t>
                      </a:r>
                    </a:p>
                  </a:txBody>
                  <a:tcPr marL="91440" marR="91440" marT="27432" marB="27432" anchor="ctr">
                    <a:solidFill>
                      <a:srgbClr val="FFAFAA"/>
                    </a:solidFill>
                  </a:tcPr>
                </a:tc>
                <a:tc>
                  <a:txBody>
                    <a:bodyPr/>
                    <a:lstStyle/>
                    <a:p>
                      <a:r>
                        <a:rPr sz="1200" b="1">
                          <a:solidFill>
                            <a:srgbClr val="1E1E1E"/>
                          </a:solidFill>
                        </a:rPr>
                        <a:t>Red recurrente supervisada</a:t>
                      </a:r>
                    </a:p>
                  </a:txBody>
                  <a:tcPr marL="91440" marR="91440" marT="27432" marB="27432" anchor="ctr">
                    <a:solidFill>
                      <a:srgbClr val="FFAFAA"/>
                    </a:solidFill>
                  </a:tcPr>
                </a:tc>
                <a:tc>
                  <a:txBody>
                    <a:bodyPr/>
                    <a:lstStyle/>
                    <a:p>
                      <a:r>
                        <a:rPr sz="1200" b="1">
                          <a:solidFill>
                            <a:srgbClr val="1E1E1E"/>
                          </a:solidFill>
                        </a:rPr>
                        <a:t>No hay etiquetas de fatiga; coste lineal; SHAP exacto</a:t>
                      </a:r>
                    </a:p>
                  </a:txBody>
                  <a:tcPr marL="91440" marR="91440" marT="27432" marB="27432" anchor="ctr">
                    <a:solidFill>
                      <a:srgbClr val="FFAFAA"/>
                    </a:solidFill>
                  </a:tcPr>
                </a:tc>
              </a:tr>
              <a:tr h="502920">
                <a:tc>
                  <a:txBody>
                    <a:bodyPr/>
                    <a:lstStyle/>
                    <a:p>
                      <a:r>
                        <a:rPr sz="1200" b="0">
                          <a:solidFill>
                            <a:srgbClr val="1E1E1E"/>
                          </a:solidFill>
                        </a:rPr>
                        <a:t>Explicación</a:t>
                      </a:r>
                    </a:p>
                  </a:txBody>
                  <a:tcPr marL="91440" marR="91440" marT="27432" marB="27432" anchor="ctr">
                    <a:solidFill>
                      <a:srgbClr val="EEEDED"/>
                    </a:solidFill>
                  </a:tcPr>
                </a:tc>
                <a:tc>
                  <a:txBody>
                    <a:bodyPr/>
                    <a:lstStyle/>
                    <a:p>
                      <a:r>
                        <a:rPr sz="1200" b="0">
                          <a:solidFill>
                            <a:srgbClr val="1E1E1E"/>
                          </a:solidFill>
                        </a:rPr>
                        <a:t>TreeSHAP</a:t>
                      </a:r>
                    </a:p>
                  </a:txBody>
                  <a:tcPr marL="91440" marR="91440" marT="27432" marB="27432" anchor="ctr">
                    <a:solidFill>
                      <a:srgbClr val="EEEDED"/>
                    </a:solidFill>
                  </a:tcPr>
                </a:tc>
                <a:tc>
                  <a:txBody>
                    <a:bodyPr/>
                    <a:lstStyle/>
                    <a:p>
                      <a:r>
                        <a:rPr sz="1200" b="0">
                          <a:solidFill>
                            <a:srgbClr val="1E1E1E"/>
                          </a:solidFill>
                        </a:rPr>
                        <a:t>—</a:t>
                      </a:r>
                    </a:p>
                  </a:txBody>
                  <a:tcPr marL="91440" marR="91440" marT="27432" marB="27432" anchor="ctr">
                    <a:solidFill>
                      <a:srgbClr val="EEEDED"/>
                    </a:solidFill>
                  </a:tcPr>
                </a:tc>
                <a:tc>
                  <a:txBody>
                    <a:bodyPr/>
                    <a:lstStyle/>
                    <a:p>
                      <a:r>
                        <a:rPr sz="1200" b="0">
                          <a:solidFill>
                            <a:srgbClr val="1E1E1E"/>
                          </a:solidFill>
                        </a:rPr>
                        <a:t>Valores de Shapley exactos para modelos de árboles</a:t>
                      </a:r>
                    </a:p>
                  </a:txBody>
                  <a:tcPr marL="91440" marR="91440" marT="27432" marB="27432" anchor="ctr">
                    <a:solidFill>
                      <a:srgbClr val="EEEDED"/>
                    </a:solidFill>
                  </a:tcPr>
                </a:tc>
              </a:tr>
              <a:tr h="502920">
                <a:tc>
                  <a:txBody>
                    <a:bodyPr/>
                    <a:lstStyle/>
                    <a:p>
                      <a:r>
                        <a:rPr sz="1200" b="0">
                          <a:solidFill>
                            <a:srgbClr val="1E1E1E"/>
                          </a:solidFill>
                        </a:rPr>
                        <a:t>Estilo</a:t>
                      </a:r>
                    </a:p>
                  </a:txBody>
                  <a:tcPr marL="91440" marR="91440" marT="27432" marB="27432" anchor="ctr">
                    <a:solidFill>
                      <a:srgbClr val="FFFFFF"/>
                    </a:solidFill>
                  </a:tcPr>
                </a:tc>
                <a:tc>
                  <a:txBody>
                    <a:bodyPr/>
                    <a:lstStyle/>
                    <a:p>
                      <a:r>
                        <a:rPr sz="1200" b="0">
                          <a:solidFill>
                            <a:srgbClr val="1E1E1E"/>
                          </a:solidFill>
                        </a:rPr>
                        <a:t>Reglas biomecánicas</a:t>
                      </a:r>
                    </a:p>
                  </a:txBody>
                  <a:tcPr marL="91440" marR="91440" marT="27432" marB="27432" anchor="ctr">
                    <a:solidFill>
                      <a:srgbClr val="FFFFFF"/>
                    </a:solidFill>
                  </a:tcPr>
                </a:tc>
                <a:tc>
                  <a:txBody>
                    <a:bodyPr/>
                    <a:lstStyle/>
                    <a:p>
                      <a:r>
                        <a:rPr sz="1200" b="0">
                          <a:solidFill>
                            <a:srgbClr val="1E1E1E"/>
                          </a:solidFill>
                        </a:rPr>
                        <a:t>XGBoost, bosque aleatorio</a:t>
                      </a:r>
                    </a:p>
                  </a:txBody>
                  <a:tcPr marL="91440" marR="91440" marT="27432" marB="27432" anchor="ctr">
                    <a:solidFill>
                      <a:srgbClr val="FFFFFF"/>
                    </a:solidFill>
                  </a:tcPr>
                </a:tc>
                <a:tc>
                  <a:txBody>
                    <a:bodyPr/>
                    <a:lstStyle/>
                    <a:p>
                      <a:r>
                        <a:rPr sz="1200" b="0">
                          <a:solidFill>
                            <a:srgbClr val="1E1E1E"/>
                          </a:solidFill>
                        </a:rPr>
                        <a:t>El supervisado aprendía al nadador: 9,1 % con un nadador nuevo</a:t>
                      </a:r>
                    </a:p>
                  </a:txBody>
                  <a:tcPr marL="91440" marR="91440"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Visión: pose bajo el agua</a:t>
            </a:r>
          </a:p>
        </p:txBody>
      </p:sp>
      <p:sp>
        <p:nvSpPr>
          <p:cNvPr id="4" name="Text Placeholder 3"/>
          <p:cNvSpPr>
            <a:spLocks noGrp="1"/>
          </p:cNvSpPr>
          <p:nvPr>
            <p:ph type="body" idx="18" sz="quarter"/>
          </p:nvPr>
        </p:nvSpPr>
        <p:spPr>
          <a:xfrm>
            <a:ext cx="12344400" cy="0"/>
          </a:xfrm>
        </p:spPr>
        <p:txBody>
          <a:bodyPr/>
          <a:lstStyle/>
          <a:p>
            <a:r>
              <a:t>Modelos medidos en el vídeo real (GX011614, CPU de 4 hilos)</a:t>
            </a:r>
          </a:p>
        </p:txBody>
      </p:sp>
      <p:graphicFrame>
        <p:nvGraphicFramePr>
          <p:cNvPr id="5" name="Table 4"/>
          <p:cNvGraphicFramePr>
            <a:graphicFrameLocks noGrp="1"/>
          </p:cNvGraphicFramePr>
          <p:nvPr/>
        </p:nvGraphicFramePr>
        <p:xfrm>
          <a:off x="905256" y="2743200"/>
          <a:ext cx="7223760" cy="2286000"/>
        </p:xfrm>
        <a:graphic>
          <a:graphicData uri="http://schemas.openxmlformats.org/drawingml/2006/table">
            <a:tbl>
              <a:tblPr firstRow="1" bandRow="1">
                <a:tableStyleId>{5C22544A-7EE6-4342-B048-85BDC9FD1C3A}</a:tableStyleId>
              </a:tblPr>
              <a:tblGrid>
                <a:gridCol w="2377440"/>
                <a:gridCol w="1188720"/>
                <a:gridCol w="822960"/>
                <a:gridCol w="1371600"/>
                <a:gridCol w="1463040"/>
              </a:tblGrid>
              <a:tr h="457200">
                <a:tc>
                  <a:txBody>
                    <a:bodyPr/>
                    <a:lstStyle/>
                    <a:p>
                      <a:r>
                        <a:rPr sz="1300" b="1">
                          <a:solidFill>
                            <a:srgbClr val="FFFFFF"/>
                          </a:solidFill>
                        </a:rPr>
                        <a:t>Modelo</a:t>
                      </a:r>
                    </a:p>
                  </a:txBody>
                  <a:tcPr marL="91440" marR="91440" marT="27432" marB="27432" anchor="ctr">
                    <a:solidFill>
                      <a:srgbClr val="FF3228"/>
                    </a:solidFill>
                  </a:tcPr>
                </a:tc>
                <a:tc>
                  <a:txBody>
                    <a:bodyPr/>
                    <a:lstStyle/>
                    <a:p>
                      <a:r>
                        <a:rPr sz="1300" b="1">
                          <a:solidFill>
                            <a:srgbClr val="FFFFFF"/>
                          </a:solidFill>
                        </a:rPr>
                        <a:t>Parám. (M)</a:t>
                      </a:r>
                    </a:p>
                  </a:txBody>
                  <a:tcPr marL="91440" marR="91440" marT="27432" marB="27432" anchor="ctr">
                    <a:solidFill>
                      <a:srgbClr val="FF3228"/>
                    </a:solidFill>
                  </a:tcPr>
                </a:tc>
                <a:tc>
                  <a:txBody>
                    <a:bodyPr/>
                    <a:lstStyle/>
                    <a:p>
                      <a:r>
                        <a:rPr sz="1300" b="1">
                          <a:solidFill>
                            <a:srgbClr val="FFFFFF"/>
                          </a:solidFill>
                        </a:rPr>
                        <a:t>FPS</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Confianza</a:t>
                      </a:r>
                    </a:p>
                  </a:txBody>
                  <a:tcPr marL="91440" marR="91440" marT="27432" marB="27432" anchor="ctr">
                    <a:solidFill>
                      <a:srgbClr val="FF3228"/>
                    </a:solidFill>
                  </a:tcPr>
                </a:tc>
              </a:tr>
              <a:tr h="457200">
                <a:tc>
                  <a:txBody>
                    <a:bodyPr/>
                    <a:lstStyle/>
                    <a:p>
                      <a:r>
                        <a:rPr sz="1300" b="1">
                          <a:solidFill>
                            <a:srgbClr val="1E1E1E"/>
                          </a:solidFill>
                        </a:rPr>
                        <a:t>YOLOv8n (elegido)</a:t>
                      </a:r>
                    </a:p>
                  </a:txBody>
                  <a:tcPr marL="91440" marR="91440" marT="27432" marB="27432" anchor="ctr">
                    <a:solidFill>
                      <a:srgbClr val="FFAFAA"/>
                    </a:solidFill>
                  </a:tcPr>
                </a:tc>
                <a:tc>
                  <a:txBody>
                    <a:bodyPr/>
                    <a:lstStyle/>
                    <a:p>
                      <a:r>
                        <a:rPr sz="1300" b="1">
                          <a:solidFill>
                            <a:srgbClr val="1E1E1E"/>
                          </a:solidFill>
                        </a:rPr>
                        <a:t>3,3</a:t>
                      </a:r>
                    </a:p>
                  </a:txBody>
                  <a:tcPr marL="91440" marR="91440" marT="27432" marB="27432" anchor="ctr">
                    <a:solidFill>
                      <a:srgbClr val="FFAFAA"/>
                    </a:solidFill>
                  </a:tcPr>
                </a:tc>
                <a:tc>
                  <a:txBody>
                    <a:bodyPr/>
                    <a:lstStyle/>
                    <a:p>
                      <a:r>
                        <a:rPr sz="1300" b="1">
                          <a:solidFill>
                            <a:srgbClr val="1E1E1E"/>
                          </a:solidFill>
                        </a:rPr>
                        <a:t>6,6</a:t>
                      </a:r>
                    </a:p>
                  </a:txBody>
                  <a:tcPr marL="91440" marR="91440" marT="27432" marB="27432" anchor="ctr">
                    <a:solidFill>
                      <a:srgbClr val="FFAFAA"/>
                    </a:solidFill>
                  </a:tcPr>
                </a:tc>
                <a:tc>
                  <a:txBody>
                    <a:bodyPr/>
                    <a:lstStyle/>
                    <a:p>
                      <a:r>
                        <a:rPr sz="1300" b="1">
                          <a:solidFill>
                            <a:srgbClr val="1E1E1E"/>
                          </a:solidFill>
                        </a:rPr>
                        <a:t>35,6 %</a:t>
                      </a:r>
                    </a:p>
                  </a:txBody>
                  <a:tcPr marL="91440" marR="91440" marT="27432" marB="27432" anchor="ctr">
                    <a:solidFill>
                      <a:srgbClr val="FFAFAA"/>
                    </a:solidFill>
                  </a:tcPr>
                </a:tc>
                <a:tc>
                  <a:txBody>
                    <a:bodyPr/>
                    <a:lstStyle/>
                    <a:p>
                      <a:r>
                        <a:rPr sz="1300" b="1">
                          <a:solidFill>
                            <a:srgbClr val="1E1E1E"/>
                          </a:solidFill>
                        </a:rPr>
                        <a:t>0,76</a:t>
                      </a:r>
                    </a:p>
                  </a:txBody>
                  <a:tcPr marL="91440" marR="91440" marT="27432" marB="27432" anchor="ctr">
                    <a:solidFill>
                      <a:srgbClr val="FFAFAA"/>
                    </a:solidFill>
                  </a:tcPr>
                </a:tc>
              </a:tr>
              <a:tr h="457200">
                <a:tc>
                  <a:txBody>
                    <a:bodyPr/>
                    <a:lstStyle/>
                    <a:p>
                      <a:r>
                        <a:rPr sz="1300" b="0">
                          <a:solidFill>
                            <a:srgbClr val="1E1E1E"/>
                          </a:solidFill>
                        </a:rPr>
                        <a:t>YOLO11n</a:t>
                      </a:r>
                    </a:p>
                  </a:txBody>
                  <a:tcPr marL="91440" marR="91440" marT="27432" marB="27432" anchor="ctr">
                    <a:solidFill>
                      <a:srgbClr val="EEEDED"/>
                    </a:solidFill>
                  </a:tcPr>
                </a:tc>
                <a:tc>
                  <a:txBody>
                    <a:bodyPr/>
                    <a:lstStyle/>
                    <a:p>
                      <a:r>
                        <a:rPr sz="1300" b="0">
                          <a:solidFill>
                            <a:srgbClr val="1E1E1E"/>
                          </a:solidFill>
                        </a:rPr>
                        <a:t>2,9</a:t>
                      </a:r>
                    </a:p>
                  </a:txBody>
                  <a:tcPr marL="91440" marR="91440" marT="27432" marB="27432" anchor="ctr">
                    <a:solidFill>
                      <a:srgbClr val="EEEDED"/>
                    </a:solidFill>
                  </a:tcPr>
                </a:tc>
                <a:tc>
                  <a:txBody>
                    <a:bodyPr/>
                    <a:lstStyle/>
                    <a:p>
                      <a:r>
                        <a:rPr sz="1300" b="0">
                          <a:solidFill>
                            <a:srgbClr val="1E1E1E"/>
                          </a:solidFill>
                        </a:rPr>
                        <a:t>6,2</a:t>
                      </a:r>
                    </a:p>
                  </a:txBody>
                  <a:tcPr marL="91440" marR="91440" marT="27432" marB="27432" anchor="ctr">
                    <a:solidFill>
                      <a:srgbClr val="EEEDED"/>
                    </a:solidFill>
                  </a:tcPr>
                </a:tc>
                <a:tc>
                  <a:txBody>
                    <a:bodyPr/>
                    <a:lstStyle/>
                    <a:p>
                      <a:r>
                        <a:rPr sz="1300" b="0">
                          <a:solidFill>
                            <a:srgbClr val="1E1E1E"/>
                          </a:solidFill>
                        </a:rPr>
                        <a:t>37,6 %</a:t>
                      </a:r>
                    </a:p>
                  </a:txBody>
                  <a:tcPr marL="91440" marR="91440" marT="27432" marB="27432" anchor="ctr">
                    <a:solidFill>
                      <a:srgbClr val="EEEDED"/>
                    </a:solidFill>
                  </a:tcPr>
                </a:tc>
                <a:tc>
                  <a:txBody>
                    <a:bodyPr/>
                    <a:lstStyle/>
                    <a:p>
                      <a:r>
                        <a:rPr sz="1300" b="0">
                          <a:solidFill>
                            <a:srgbClr val="1E1E1E"/>
                          </a:solidFill>
                        </a:rPr>
                        <a:t>0,78</a:t>
                      </a:r>
                    </a:p>
                  </a:txBody>
                  <a:tcPr marL="91440" marR="91440" marT="27432" marB="27432" anchor="ctr">
                    <a:solidFill>
                      <a:srgbClr val="EEEDED"/>
                    </a:solidFill>
                  </a:tcPr>
                </a:tc>
              </a:tr>
              <a:tr h="457200">
                <a:tc>
                  <a:txBody>
                    <a:bodyPr/>
                    <a:lstStyle/>
                    <a:p>
                      <a:r>
                        <a:rPr sz="1300" b="0">
                          <a:solidFill>
                            <a:srgbClr val="1E1E1E"/>
                          </a:solidFill>
                        </a:rPr>
                        <a:t>YOLOv8s</a:t>
                      </a:r>
                    </a:p>
                  </a:txBody>
                  <a:tcPr marL="91440" marR="91440" marT="27432" marB="27432" anchor="ctr">
                    <a:solidFill>
                      <a:srgbClr val="FFFFFF"/>
                    </a:solidFill>
                  </a:tcPr>
                </a:tc>
                <a:tc>
                  <a:txBody>
                    <a:bodyPr/>
                    <a:lstStyle/>
                    <a:p>
                      <a:r>
                        <a:rPr sz="1300" b="0">
                          <a:solidFill>
                            <a:srgbClr val="1E1E1E"/>
                          </a:solidFill>
                        </a:rPr>
                        <a:t>11,6</a:t>
                      </a:r>
                    </a:p>
                  </a:txBody>
                  <a:tcPr marL="91440" marR="91440" marT="27432" marB="27432" anchor="ctr">
                    <a:solidFill>
                      <a:srgbClr val="FFFFFF"/>
                    </a:solidFill>
                  </a:tcPr>
                </a:tc>
                <a:tc>
                  <a:txBody>
                    <a:bodyPr/>
                    <a:lstStyle/>
                    <a:p>
                      <a:r>
                        <a:rPr sz="1300" b="0">
                          <a:solidFill>
                            <a:srgbClr val="1E1E1E"/>
                          </a:solidFill>
                        </a:rPr>
                        <a:t>3,3</a:t>
                      </a:r>
                    </a:p>
                  </a:txBody>
                  <a:tcPr marL="91440" marR="91440" marT="27432" marB="27432" anchor="ctr">
                    <a:solidFill>
                      <a:srgbClr val="FFFFFF"/>
                    </a:solidFill>
                  </a:tcPr>
                </a:tc>
                <a:tc>
                  <a:txBody>
                    <a:bodyPr/>
                    <a:lstStyle/>
                    <a:p>
                      <a:r>
                        <a:rPr sz="1300" b="0">
                          <a:solidFill>
                            <a:srgbClr val="1E1E1E"/>
                          </a:solidFill>
                        </a:rPr>
                        <a:t>35,6 %</a:t>
                      </a:r>
                    </a:p>
                  </a:txBody>
                  <a:tcPr marL="91440" marR="91440" marT="27432" marB="27432" anchor="ctr">
                    <a:solidFill>
                      <a:srgbClr val="FFFFFF"/>
                    </a:solidFill>
                  </a:tcPr>
                </a:tc>
                <a:tc>
                  <a:txBody>
                    <a:bodyPr/>
                    <a:lstStyle/>
                    <a:p>
                      <a:r>
                        <a:rPr sz="1300" b="0">
                          <a:solidFill>
                            <a:srgbClr val="1E1E1E"/>
                          </a:solidFill>
                        </a:rPr>
                        <a:t>0,74</a:t>
                      </a:r>
                    </a:p>
                  </a:txBody>
                  <a:tcPr marL="91440" marR="91440" marT="27432" marB="27432" anchor="ctr">
                    <a:solidFill>
                      <a:srgbClr val="FFFFFF"/>
                    </a:solidFill>
                  </a:tcPr>
                </a:tc>
              </a:tr>
              <a:tr h="457200">
                <a:tc>
                  <a:txBody>
                    <a:bodyPr/>
                    <a:lstStyle/>
                    <a:p>
                      <a:r>
                        <a:rPr sz="1300" b="0">
                          <a:solidFill>
                            <a:srgbClr val="1E1E1E"/>
                          </a:solidFill>
                        </a:rPr>
                        <a:t>MoveNet Lightning</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35-48 %*</a:t>
                      </a:r>
                    </a:p>
                  </a:txBody>
                  <a:tcPr marL="91440" marR="91440" marT="27432" marB="27432" anchor="ctr">
                    <a:solidFill>
                      <a:srgbClr val="EEEDED"/>
                    </a:solidFill>
                  </a:tcPr>
                </a:tc>
                <a:tc>
                  <a:txBody>
                    <a:bodyPr/>
                    <a:lstStyle/>
                    <a:p>
                      <a:r>
                        <a:rPr sz="1300" b="0">
                          <a:solidFill>
                            <a:srgbClr val="1E1E1E"/>
                          </a:solidFill>
                        </a:rPr>
                        <a:t>0,34-0,37*</a:t>
                      </a:r>
                    </a:p>
                  </a:txBody>
                  <a:tcPr marL="91440" marR="91440" marT="27432" marB="27432" anchor="ctr">
                    <a:solidFill>
                      <a:srgbClr val="EEEDED"/>
                    </a:solidFill>
                  </a:tcPr>
                </a:tc>
              </a:tr>
            </a:tbl>
          </a:graphicData>
        </a:graphic>
      </p:graphicFrame>
      <p:sp>
        <p:nvSpPr>
          <p:cNvPr id="6" name="TextBox 5"/>
          <p:cNvSpPr txBox="1"/>
          <p:nvPr/>
        </p:nvSpPr>
        <p:spPr>
          <a:xfrm>
            <a:off x="905256" y="5120640"/>
            <a:ext cx="7223760" cy="1645920"/>
          </a:xfrm>
          <a:prstGeom prst="rect">
            <a:avLst/>
          </a:prstGeom>
          <a:noFill/>
        </p:spPr>
        <p:txBody>
          <a:bodyPr wrap="square" anchor="t" lIns="0" rIns="0" tIns="0" bIns="0">
            <a:spAutoFit/>
          </a:bodyPr>
          <a:lstStyle/>
          <a:p>
            <a:pPr algn="l">
              <a:spcAft>
                <a:spcPts val="500"/>
              </a:spcAft>
            </a:pPr>
            <a:r>
              <a:rPr sz="1300" b="0">
                <a:solidFill>
                  <a:srgbClr val="1E1E1E"/>
                </a:solidFill>
              </a:rPr>
              <a:t>•  Frente a MoveNet (vídeo subacuático): doble de confianza y 15 ciclos válidos frente a 3</a:t>
            </a:r>
          </a:p>
          <a:p>
            <a:pPr algn="l">
              <a:spcAft>
                <a:spcPts val="500"/>
              </a:spcAft>
            </a:pPr>
            <a:r>
              <a:rPr sz="1300" b="0">
                <a:solidFill>
                  <a:srgbClr val="1E1E1E"/>
                </a:solidFill>
              </a:rPr>
              <a:t>•  HRNet (AP 75,5) y ViTPose (80,9): más precisos en COCO, coste elevado en CPU</a:t>
            </a:r>
          </a:p>
        </p:txBody>
      </p:sp>
      <p:sp>
        <p:nvSpPr>
          <p:cNvPr id="7" name="Rectangle 6"/>
          <p:cNvSpPr/>
          <p:nvPr/>
        </p:nvSpPr>
        <p:spPr>
          <a:xfrm>
            <a:off x="8503920" y="2743200"/>
            <a:ext cx="521208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Adaptación al agua</a:t>
            </a:r>
          </a:p>
        </p:txBody>
      </p:sp>
      <p:sp>
        <p:nvSpPr>
          <p:cNvPr id="9" name="TextBox 8"/>
          <p:cNvSpPr txBox="1"/>
          <p:nvPr/>
        </p:nvSpPr>
        <p:spPr>
          <a:xfrm>
            <a:off x="8778240" y="3474720"/>
            <a:ext cx="4663440" cy="3200400"/>
          </a:xfrm>
          <a:prstGeom prst="rect">
            <a:avLst/>
          </a:prstGeom>
          <a:noFill/>
        </p:spPr>
        <p:txBody>
          <a:bodyPr wrap="square" anchor="t" lIns="0" rIns="0" tIns="0" bIns="0">
            <a:spAutoFit/>
          </a:bodyPr>
          <a:lstStyle/>
          <a:p>
            <a:pPr algn="l">
              <a:spcAft>
                <a:spcPts val="700"/>
              </a:spcAft>
            </a:pPr>
            <a:r>
              <a:rPr sz="1300" b="0">
                <a:solidFill>
                  <a:srgbClr val="1E1E1E"/>
                </a:solidFill>
              </a:rPr>
              <a:t>•  Giro ±90° del fotograma si detecta mejor (YOLO se entrenó con personas de pie)</a:t>
            </a:r>
          </a:p>
          <a:p>
            <a:pPr algn="l">
              <a:spcAft>
                <a:spcPts val="700"/>
              </a:spcAft>
            </a:pPr>
            <a:r>
              <a:rPr sz="1300" b="0">
                <a:solidFill>
                  <a:srgbClr val="1E1E1E"/>
                </a:solidFill>
              </a:rPr>
              <a:t>•  Filtros anatómicos: tronco girado o vertical, segmentos imposibles, codos &lt; 25°</a:t>
            </a:r>
          </a:p>
          <a:p>
            <a:pPr algn="l">
              <a:spcAft>
                <a:spcPts val="700"/>
              </a:spcAft>
            </a:pPr>
            <a:r>
              <a:rPr sz="1300" b="0">
                <a:solidFill>
                  <a:srgbClr val="1E1E1E"/>
                </a:solidFill>
              </a:rPr>
              <a:t>•  Savitzky-Golay: suaviza sin aplastar los picos (frente a una media móvil)</a:t>
            </a:r>
          </a:p>
          <a:p>
            <a:pPr algn="l">
              <a:spcAft>
                <a:spcPts val="700"/>
              </a:spcAft>
            </a:pPr>
            <a:r>
              <a:rPr sz="1300" b="0">
                <a:solidFill>
                  <a:srgbClr val="1E1E1E"/>
                </a:solidFill>
              </a:rPr>
              <a:t>•  3D con MotionBERT solo de frente: en lateral la rodilla sale a 107° frente a 173° en 2D</a:t>
            </a:r>
          </a:p>
        </p:txBody>
      </p:sp>
      <p:sp>
        <p:nvSpPr>
          <p:cNvPr id="10" name="TextBox 9"/>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MoveNet: valores medidos con GPU (memoria, Tabla 2). AP: precisión media en COCO según las publicaciones originales (Tabla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ciclos en dos vistas</a:t>
            </a:r>
          </a:p>
        </p:txBody>
      </p:sp>
      <p:sp>
        <p:nvSpPr>
          <p:cNvPr id="4" name="Text Placeholder 3"/>
          <p:cNvSpPr>
            <a:spLocks noGrp="1"/>
          </p:cNvSpPr>
          <p:nvPr>
            <p:ph type="body" idx="18" sz="quarter"/>
          </p:nvPr>
        </p:nvSpPr>
        <p:spPr>
          <a:xfrm>
            <a:ext cx="12344400" cy="0"/>
          </a:xfrm>
        </p:spPr>
        <p:txBody>
          <a:bodyPr/>
          <a:lstStyle/>
          <a:p>
            <a:r>
              <a:t>Cada vista usa la señal de brazada que puede ver</a:t>
            </a:r>
          </a:p>
        </p:txBody>
      </p:sp>
      <p:pic>
        <p:nvPicPr>
          <p:cNvPr id="5" name="Picture 4" descr="aaron_brazadas.png"/>
          <p:cNvPicPr>
            <a:picLocks noChangeAspect="1"/>
          </p:cNvPicPr>
          <p:nvPr/>
        </p:nvPicPr>
        <p:blipFill>
          <a:blip r:embed="rId3"/>
          <a:stretch>
            <a:fillRect/>
          </a:stretch>
        </p:blipFill>
        <p:spPr>
          <a:xfrm>
            <a:off x="905256" y="2931566"/>
            <a:ext cx="7680960" cy="2457907"/>
          </a:xfrm>
          <a:prstGeom prst="rect">
            <a:avLst/>
          </a:prstGeom>
        </p:spPr>
      </p:pic>
      <p:sp>
        <p:nvSpPr>
          <p:cNvPr id="6" name="TextBox 5"/>
          <p:cNvSpPr txBox="1"/>
          <p:nvPr/>
        </p:nvSpPr>
        <p:spPr>
          <a:xfrm>
            <a:off x="905256" y="5760720"/>
            <a:ext cx="7680960" cy="1188720"/>
          </a:xfrm>
          <a:prstGeom prst="rect">
            <a:avLst/>
          </a:prstGeom>
          <a:noFill/>
        </p:spPr>
        <p:txBody>
          <a:bodyPr wrap="square" anchor="t" lIns="0" rIns="0" tIns="0" bIns="0">
            <a:spAutoFit/>
          </a:bodyPr>
          <a:lstStyle/>
          <a:p>
            <a:pPr algn="l">
              <a:spcAft>
                <a:spcPts val="600"/>
              </a:spcAft>
            </a:pPr>
            <a:r>
              <a:rPr sz="1300" b="1">
                <a:solidFill>
                  <a:srgbClr val="1E1E1E"/>
                </a:solidFill>
              </a:rPr>
              <a:t>Lateral: </a:t>
            </a:r>
            <a:r>
              <a:rPr sz="1300" b="0">
                <a:solidFill>
                  <a:srgbClr val="1E1E1E"/>
                </a:solidFill>
              </a:rPr>
              <a:t>profundidad de la mano más profunda (YOLO copia el brazo oculto); cada pico, una brazada.</a:t>
            </a:r>
          </a:p>
          <a:p>
            <a:pPr algn="l">
              <a:spcAft>
                <a:spcPts val="600"/>
              </a:spcAft>
            </a:pPr>
            <a:r>
              <a:rPr sz="1300" b="1">
                <a:solidFill>
                  <a:srgbClr val="1E1E1E"/>
                </a:solidFill>
              </a:rPr>
              <a:t>Frontal: </a:t>
            </a:r>
            <a:r>
              <a:rPr sz="1300" b="0">
                <a:solidFill>
                  <a:srgbClr val="1E1E1E"/>
                </a:solidFill>
              </a:rPr>
              <a:t>recorrido de la muñeca en su dirección principal (PCA), en anchos de hombros.</a:t>
            </a:r>
          </a:p>
        </p:txBody>
      </p:sp>
      <p:graphicFrame>
        <p:nvGraphicFramePr>
          <p:cNvPr id="7" name="Table 6"/>
          <p:cNvGraphicFramePr>
            <a:graphicFrameLocks noGrp="1"/>
          </p:cNvGraphicFramePr>
          <p:nvPr/>
        </p:nvGraphicFramePr>
        <p:xfrm>
          <a:off x="8961120" y="274320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8" name="TextBox 7"/>
          <p:cNvSpPr txBox="1"/>
          <p:nvPr/>
        </p:nvSpPr>
        <p:spPr>
          <a:xfrm>
            <a:off x="8961120" y="4663440"/>
            <a:ext cx="4754880" cy="365760"/>
          </a:xfrm>
          <a:prstGeom prst="rect">
            <a:avLst/>
          </a:prstGeom>
          <a:noFill/>
        </p:spPr>
        <p:txBody>
          <a:bodyPr wrap="square" anchor="t" lIns="0" rIns="0" tIns="0" bIns="0">
            <a:spAutoFit/>
          </a:bodyPr>
          <a:lstStyle/>
          <a:p>
            <a:pPr algn="l">
              <a:spcAft>
                <a:spcPts val="600"/>
              </a:spcAft>
            </a:pPr>
            <a:r>
              <a:rPr sz="1100" b="0">
                <a:solidFill>
                  <a:srgbClr val="504B4B"/>
                </a:solidFill>
              </a:rPr>
              <a:t>Frecuencia (ciclos/min) frente al conteo manual</a:t>
            </a:r>
          </a:p>
        </p:txBody>
      </p:sp>
      <p:sp>
        <p:nvSpPr>
          <p:cNvPr id="9" name="Rectangle 8"/>
          <p:cNvSpPr/>
          <p:nvPr/>
        </p:nvSpPr>
        <p:spPr>
          <a:xfrm>
            <a:off x="8961120" y="5166360"/>
            <a:ext cx="4754880" cy="1600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89720" y="5166360"/>
            <a:ext cx="4297680" cy="1600200"/>
          </a:xfrm>
          <a:prstGeom prst="rect">
            <a:avLst/>
          </a:prstGeom>
          <a:noFill/>
        </p:spPr>
        <p:txBody>
          <a:bodyPr wrap="square" anchor="ctr" lIns="0" rIns="0" tIns="0" bIns="0">
            <a:spAutoFit/>
          </a:bodyPr>
          <a:lstStyle/>
          <a:p>
            <a:pPr algn="l">
              <a:spcAft>
                <a:spcPts val="600"/>
              </a:spcAft>
            </a:pPr>
            <a:r>
              <a:rPr sz="1300" b="1">
                <a:solidFill>
                  <a:srgbClr val="FF3228"/>
                </a:solidFill>
              </a:rPr>
              <a:t>Vista automática: </a:t>
            </a:r>
            <a:r>
              <a:rPr sz="1300" b="0">
                <a:solidFill>
                  <a:srgbClr val="FFFFFF"/>
                </a:solidFill>
              </a:rPr>
              <a:t>tramo frontal si ≥ 65 % de fotogramas con el tronco a &gt; 55° de la horizontal.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con Isolation Forest</a:t>
            </a:r>
          </a:p>
        </p:txBody>
      </p:sp>
      <p:sp>
        <p:nvSpPr>
          <p:cNvPr id="4" name="Text Placeholder 3"/>
          <p:cNvSpPr>
            <a:spLocks noGrp="1"/>
          </p:cNvSpPr>
          <p:nvPr>
            <p:ph type="body" idx="18" sz="quarter"/>
          </p:nvPr>
        </p:nvSpPr>
        <p:spPr>
          <a:xfrm>
            <a:ext cx="12344400" cy="0"/>
          </a:xfrm>
        </p:spPr>
        <p:txBody>
          <a:bodyPr/>
          <a:lstStyle/>
          <a:p>
            <a:r>
              <a:t>Sin etiquetas: cuánto se aparta cada ciclo del nadador fresco</a:t>
            </a:r>
          </a:p>
        </p:txBody>
      </p:sp>
      <p:sp>
        <p:nvSpPr>
          <p:cNvPr id="5" name="Rectangle 4"/>
          <p:cNvSpPr/>
          <p:nvPr/>
        </p:nvSpPr>
        <p:spPr>
          <a:xfrm>
            <a:off x="905256" y="2743200"/>
            <a:ext cx="5486400" cy="9601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743200"/>
            <a:ext cx="5029200" cy="960120"/>
          </a:xfrm>
          <a:prstGeom prst="rect">
            <a:avLst/>
          </a:prstGeom>
          <a:noFill/>
        </p:spPr>
        <p:txBody>
          <a:bodyPr wrap="square" anchor="ctr" lIns="0" rIns="0" tIns="0" bIns="0">
            <a:spAutoFit/>
          </a:bodyPr>
          <a:lstStyle/>
          <a:p>
            <a:pPr algn="l">
              <a:spcAft>
                <a:spcPts val="600"/>
              </a:spcAft>
            </a:pPr>
            <a:r>
              <a:rPr sz="1300" b="1">
                <a:solidFill>
                  <a:srgbClr val="504B4B"/>
                </a:solidFill>
              </a:rPr>
              <a:t>Descartada: red recurrente supervisada. </a:t>
            </a:r>
            <a:r>
              <a:rPr sz="1300" b="0">
                <a:solidFill>
                  <a:srgbClr val="1E1E1E"/>
                </a:solidFill>
              </a:rPr>
              <a:t>Necesita ciclos etiquetados como fatigados: no existen.</a:t>
            </a:r>
          </a:p>
        </p:txBody>
      </p:sp>
      <p:sp>
        <p:nvSpPr>
          <p:cNvPr id="7" name="Rectangle 6"/>
          <p:cNvSpPr/>
          <p:nvPr/>
        </p:nvSpPr>
        <p:spPr>
          <a:xfrm>
            <a:off x="905256" y="3886200"/>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3886200"/>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1</a:t>
            </a:r>
          </a:p>
        </p:txBody>
      </p:sp>
      <p:sp>
        <p:nvSpPr>
          <p:cNvPr id="9" name="TextBox 8"/>
          <p:cNvSpPr txBox="1"/>
          <p:nvPr/>
        </p:nvSpPr>
        <p:spPr>
          <a:xfrm>
            <a:off x="1645920" y="3867912"/>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Fase fresca</a:t>
            </a:r>
          </a:p>
        </p:txBody>
      </p:sp>
      <p:sp>
        <p:nvSpPr>
          <p:cNvPr id="10" name="TextBox 9"/>
          <p:cNvSpPr txBox="1"/>
          <p:nvPr/>
        </p:nvSpPr>
        <p:spPr>
          <a:xfrm>
            <a:off x="1645920" y="4187952"/>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Primer 30 % de los ciclos (mín. 5); variables estandarizadas con ella</a:t>
            </a:r>
          </a:p>
        </p:txBody>
      </p:sp>
      <p:sp>
        <p:nvSpPr>
          <p:cNvPr id="11" name="Rectangle 10"/>
          <p:cNvSpPr/>
          <p:nvPr/>
        </p:nvSpPr>
        <p:spPr>
          <a:xfrm>
            <a:off x="905256" y="4645152"/>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4645152"/>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2</a:t>
            </a:r>
          </a:p>
        </p:txBody>
      </p:sp>
      <p:sp>
        <p:nvSpPr>
          <p:cNvPr id="13" name="TextBox 12"/>
          <p:cNvSpPr txBox="1"/>
          <p:nvPr/>
        </p:nvSpPr>
        <p:spPr>
          <a:xfrm>
            <a:off x="1645920" y="4626864"/>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Isolation Forest</a:t>
            </a:r>
          </a:p>
        </p:txBody>
      </p:sp>
      <p:sp>
        <p:nvSpPr>
          <p:cNvPr id="14" name="TextBox 13"/>
          <p:cNvSpPr txBox="1"/>
          <p:nvPr/>
        </p:nvSpPr>
        <p:spPr>
          <a:xfrm>
            <a:off x="1645920" y="4946904"/>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500 árboles; lo anómalo se aísla con menos cortes aleatorios</a:t>
            </a:r>
          </a:p>
        </p:txBody>
      </p:sp>
      <p:sp>
        <p:nvSpPr>
          <p:cNvPr id="15" name="Rectangle 14"/>
          <p:cNvSpPr/>
          <p:nvPr/>
        </p:nvSpPr>
        <p:spPr>
          <a:xfrm>
            <a:off x="905256" y="5404104"/>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5404104"/>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3</a:t>
            </a:r>
          </a:p>
        </p:txBody>
      </p:sp>
      <p:sp>
        <p:nvSpPr>
          <p:cNvPr id="17" name="TextBox 16"/>
          <p:cNvSpPr txBox="1"/>
          <p:nvPr/>
        </p:nvSpPr>
        <p:spPr>
          <a:xfrm>
            <a:off x="1645920" y="5385816"/>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Inicio</a:t>
            </a:r>
          </a:p>
        </p:txBody>
      </p:sp>
      <p:sp>
        <p:nvSpPr>
          <p:cNvPr id="18" name="TextBox 17"/>
          <p:cNvSpPr txBox="1"/>
          <p:nvPr/>
        </p:nvSpPr>
        <p:spPr>
          <a:xfrm>
            <a:off x="1645920" y="5705856"/>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3 ciclos seguidos sobre el percentil 95 fresco; PELT de contraste</a:t>
            </a:r>
          </a:p>
        </p:txBody>
      </p:sp>
      <p:sp>
        <p:nvSpPr>
          <p:cNvPr id="19" name="Rectangle 18"/>
          <p:cNvSpPr/>
          <p:nvPr/>
        </p:nvSpPr>
        <p:spPr>
          <a:xfrm>
            <a:off x="905256" y="6163056"/>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6163056"/>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4</a:t>
            </a:r>
          </a:p>
        </p:txBody>
      </p:sp>
      <p:sp>
        <p:nvSpPr>
          <p:cNvPr id="21" name="TextBox 20"/>
          <p:cNvSpPr txBox="1"/>
          <p:nvPr/>
        </p:nvSpPr>
        <p:spPr>
          <a:xfrm>
            <a:off x="1645920" y="6144768"/>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TreeSHAP</a:t>
            </a:r>
          </a:p>
        </p:txBody>
      </p:sp>
      <p:sp>
        <p:nvSpPr>
          <p:cNvPr id="22" name="TextBox 21"/>
          <p:cNvSpPr txBox="1"/>
          <p:nvPr/>
        </p:nvSpPr>
        <p:spPr>
          <a:xfrm>
            <a:off x="1645920" y="6464808"/>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Qué variable acerca cada ciclo a la fatiga</a:t>
            </a:r>
          </a:p>
        </p:txBody>
      </p:sp>
      <p:pic>
        <p:nvPicPr>
          <p:cNvPr id="23" name="Picture 22" descr="sintetico_fatiga_timeline.png"/>
          <p:cNvPicPr>
            <a:picLocks noChangeAspect="1"/>
          </p:cNvPicPr>
          <p:nvPr/>
        </p:nvPicPr>
        <p:blipFill>
          <a:blip r:embed="rId3"/>
          <a:stretch>
            <a:fillRect/>
          </a:stretch>
        </p:blipFill>
        <p:spPr>
          <a:xfrm>
            <a:off x="6903720" y="2697480"/>
            <a:ext cx="6583680" cy="3291840"/>
          </a:xfrm>
          <a:prstGeom prst="rect">
            <a:avLst/>
          </a:prstGeom>
        </p:spPr>
      </p:pic>
      <p:graphicFrame>
        <p:nvGraphicFramePr>
          <p:cNvPr id="24" name="Table 23"/>
          <p:cNvGraphicFramePr>
            <a:graphicFrameLocks noGrp="1"/>
          </p:cNvGraphicFramePr>
          <p:nvPr/>
        </p:nvGraphicFramePr>
        <p:xfrm>
          <a:off x="6675120" y="6035040"/>
          <a:ext cx="7040880" cy="731520"/>
        </p:xfrm>
        <a:graphic>
          <a:graphicData uri="http://schemas.openxmlformats.org/drawingml/2006/table">
            <a:tbl>
              <a:tblPr firstRow="1" bandRow="1">
                <a:tableStyleId>{5C22544A-7EE6-4342-B048-85BDC9FD1C3A}</a:tableStyleId>
              </a:tblPr>
              <a:tblGrid>
                <a:gridCol w="1463040"/>
                <a:gridCol w="1828800"/>
                <a:gridCol w="1737360"/>
                <a:gridCol w="2011680"/>
              </a:tblGrid>
              <a:tr h="365760">
                <a:tc>
                  <a:txBody>
                    <a:bodyPr/>
                    <a:lstStyle/>
                    <a:p>
                      <a:r>
                        <a:rPr sz="1100" b="1">
                          <a:solidFill>
                            <a:srgbClr val="FFFFFF"/>
                          </a:solidFill>
                        </a:rPr>
                        <a:t>Percentil</a:t>
                      </a:r>
                    </a:p>
                  </a:txBody>
                  <a:tcPr marL="91440" marR="91440" marT="27432" marB="27432" anchor="ctr">
                    <a:solidFill>
                      <a:srgbClr val="FF3228"/>
                    </a:solidFill>
                  </a:tcPr>
                </a:tc>
                <a:tc>
                  <a:txBody>
                    <a:bodyPr/>
                    <a:lstStyle/>
                    <a:p>
                      <a:r>
                        <a:rPr sz="1100" b="1">
                          <a:solidFill>
                            <a:srgbClr val="FFFFFF"/>
                          </a:solidFill>
                        </a:rPr>
                        <a:t>Detección</a:t>
                      </a:r>
                    </a:p>
                  </a:txBody>
                  <a:tcPr marL="91440" marR="91440" marT="27432" marB="27432" anchor="ctr">
                    <a:solidFill>
                      <a:srgbClr val="FF3228"/>
                    </a:solidFill>
                  </a:tcPr>
                </a:tc>
                <a:tc>
                  <a:txBody>
                    <a:bodyPr/>
                    <a:lstStyle/>
                    <a:p>
                      <a:r>
                        <a:rPr sz="1100" b="1">
                          <a:solidFill>
                            <a:srgbClr val="FFFFFF"/>
                          </a:solidFill>
                        </a:rPr>
                        <a:t>Falsas alarmas</a:t>
                      </a:r>
                    </a:p>
                  </a:txBody>
                  <a:tcPr marL="91440" marR="91440" marT="27432" marB="27432" anchor="ctr">
                    <a:solidFill>
                      <a:srgbClr val="FF3228"/>
                    </a:solidFill>
                  </a:tcPr>
                </a:tc>
                <a:tc>
                  <a:txBody>
                    <a:bodyPr/>
                    <a:lstStyle/>
                    <a:p>
                      <a:r>
                        <a:rPr sz="1100" b="1">
                          <a:solidFill>
                            <a:srgbClr val="FFFFFF"/>
                          </a:solidFill>
                        </a:rPr>
                        <a:t>Inicio (59-81 s)</a:t>
                      </a:r>
                    </a:p>
                  </a:txBody>
                  <a:tcPr marL="91440" marR="91440" marT="27432" marB="27432" anchor="ctr">
                    <a:solidFill>
                      <a:srgbClr val="FF3228"/>
                    </a:solidFill>
                  </a:tcPr>
                </a:tc>
              </a:tr>
              <a:tr h="365760">
                <a:tc>
                  <a:txBody>
                    <a:bodyPr/>
                    <a:lstStyle/>
                    <a:p>
                      <a:r>
                        <a:rPr sz="1100" b="0">
                          <a:solidFill>
                            <a:srgbClr val="1E1E1E"/>
                          </a:solidFill>
                        </a:rPr>
                        <a:t>90 · 95 · 99</a:t>
                      </a:r>
                    </a:p>
                  </a:txBody>
                  <a:tcPr marL="91440" marR="91440" marT="27432" marB="27432" anchor="ctr">
                    <a:solidFill>
                      <a:srgbClr val="FFFFFF"/>
                    </a:solidFill>
                  </a:tcPr>
                </a:tc>
                <a:tc>
                  <a:txBody>
                    <a:bodyPr/>
                    <a:lstStyle/>
                    <a:p>
                      <a:r>
                        <a:rPr sz="1100" b="0">
                          <a:solidFill>
                            <a:srgbClr val="1E1E1E"/>
                          </a:solidFill>
                        </a:rPr>
                        <a:t>100 · 100 · 60 %</a:t>
                      </a:r>
                    </a:p>
                  </a:txBody>
                  <a:tcPr marL="91440" marR="91440" marT="27432" marB="27432" anchor="ctr">
                    <a:solidFill>
                      <a:srgbClr val="FFFFFF"/>
                    </a:solidFill>
                  </a:tcPr>
                </a:tc>
                <a:tc>
                  <a:txBody>
                    <a:bodyPr/>
                    <a:lstStyle/>
                    <a:p>
                      <a:r>
                        <a:rPr sz="1100" b="0">
                          <a:solidFill>
                            <a:srgbClr val="1E1E1E"/>
                          </a:solidFill>
                        </a:rPr>
                        <a:t>30 · 10 · 0 %</a:t>
                      </a:r>
                    </a:p>
                  </a:txBody>
                  <a:tcPr marL="91440" marR="91440" marT="27432" marB="27432" anchor="ctr">
                    <a:solidFill>
                      <a:srgbClr val="FFFFFF"/>
                    </a:solidFill>
                  </a:tcPr>
                </a:tc>
                <a:tc>
                  <a:txBody>
                    <a:bodyPr/>
                    <a:lstStyle/>
                    <a:p>
                      <a:r>
                        <a:rPr sz="1100" b="0">
                          <a:solidFill>
                            <a:srgbClr val="1E1E1E"/>
                          </a:solidFill>
                        </a:rPr>
                        <a:t>64,1 · 70,5 · 80,5 s</a:t>
                      </a:r>
                    </a:p>
                  </a:txBody>
                  <a:tcPr marL="91440" marR="91440" marT="27432" marB="27432" anchor="ctr">
                    <a:solidFill>
                      <a:srgbClr val="FFFFFF"/>
                    </a:solidFill>
                  </a:tcPr>
                </a:tc>
              </a:tr>
            </a:tbl>
          </a:graphicData>
        </a:graphic>
      </p:graphicFrame>
      <p:sp>
        <p:nvSpPr>
          <p:cNvPr id="25" name="TextBox 24"/>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y sensibilidad: datos sintéticos con fatiga programada (referencia conocida), no un nadador real.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a:t>
            </a:r>
          </a:p>
        </p:txBody>
      </p:sp>
      <p:sp>
        <p:nvSpPr>
          <p:cNvPr id="4" name="Text Placeholder 3"/>
          <p:cNvSpPr>
            <a:spLocks noGrp="1"/>
          </p:cNvSpPr>
          <p:nvPr>
            <p:ph type="body" idx="18" sz="quarter"/>
          </p:nvPr>
        </p:nvSpPr>
        <p:spPr>
          <a:xfrm>
            <a:ext cx="12344400" cy="0"/>
          </a:xfrm>
        </p:spPr>
        <p:txBody>
          <a:bodyPr/>
          <a:lstStyle/>
          <a:p>
            <a:r>
              <a:t>Nadadores reales y datos sintéticos, por separado</a:t>
            </a:r>
          </a:p>
        </p:txBody>
      </p:sp>
      <p:sp>
        <p:nvSpPr>
          <p:cNvPr id="5" name="TextBox 4"/>
          <p:cNvSpPr txBox="1"/>
          <p:nvPr/>
        </p:nvSpPr>
        <p:spPr>
          <a:xfrm>
            <a:off x="905256" y="2697480"/>
            <a:ext cx="12801600" cy="365760"/>
          </a:xfrm>
          <a:prstGeom prst="rect">
            <a:avLst/>
          </a:prstGeom>
          <a:noFill/>
        </p:spPr>
        <p:txBody>
          <a:bodyPr wrap="square" anchor="t" lIns="0" rIns="0" tIns="0" bIns="0">
            <a:spAutoFit/>
          </a:bodyPr>
          <a:lstStyle/>
          <a:p>
            <a:pPr algn="l">
              <a:spcAft>
                <a:spcPts val="600"/>
              </a:spcAft>
            </a:pPr>
            <a:r>
              <a:rPr sz="1500" b="1">
                <a:solidFill>
                  <a:srgbClr val="FF3228"/>
                </a:solidFill>
              </a:rPr>
              <a:t>Nadadores reales · 17 secuencias, 4 participantes, 4 estilos</a:t>
            </a:r>
          </a:p>
        </p:txBody>
      </p:sp>
      <p:sp>
        <p:nvSpPr>
          <p:cNvPr id="6" name="Rectangle 5"/>
          <p:cNvSpPr/>
          <p:nvPr/>
        </p:nvSpPr>
        <p:spPr>
          <a:xfrm>
            <a:off x="90525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95</a:t>
            </a:r>
          </a:p>
        </p:txBody>
      </p:sp>
      <p:sp>
        <p:nvSpPr>
          <p:cNvPr id="8" name="TextBox 7"/>
          <p:cNvSpPr txBox="1"/>
          <p:nvPr/>
        </p:nvSpPr>
        <p:spPr>
          <a:xfrm>
            <a:off x="113385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ciclos válidos (2,2 de 6,6 min analizables)</a:t>
            </a:r>
          </a:p>
        </p:txBody>
      </p:sp>
      <p:sp>
        <p:nvSpPr>
          <p:cNvPr id="9" name="Rectangle 8"/>
          <p:cNvSpPr/>
          <p:nvPr/>
        </p:nvSpPr>
        <p:spPr>
          <a:xfrm>
            <a:off x="415137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6,5-8,2 %</a:t>
            </a:r>
          </a:p>
        </p:txBody>
      </p:sp>
      <p:sp>
        <p:nvSpPr>
          <p:cNvPr id="11" name="TextBox 10"/>
          <p:cNvSpPr txBox="1"/>
          <p:nvPr/>
        </p:nvSpPr>
        <p:spPr>
          <a:xfrm>
            <a:off x="437997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frecuencia frente al conteo manual</a:t>
            </a:r>
          </a:p>
        </p:txBody>
      </p:sp>
      <p:sp>
        <p:nvSpPr>
          <p:cNvPr id="12" name="Rectangle 11"/>
          <p:cNvSpPr/>
          <p:nvPr/>
        </p:nvSpPr>
        <p:spPr>
          <a:xfrm>
            <a:off x="739749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609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12/13</a:t>
            </a:r>
          </a:p>
        </p:txBody>
      </p:sp>
      <p:sp>
        <p:nvSpPr>
          <p:cNvPr id="14" name="TextBox 13"/>
          <p:cNvSpPr txBox="1"/>
          <p:nvPr/>
        </p:nvSpPr>
        <p:spPr>
          <a:xfrm>
            <a:off x="762609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familia del estilo correcta (reglas)</a:t>
            </a:r>
          </a:p>
        </p:txBody>
      </p:sp>
      <p:sp>
        <p:nvSpPr>
          <p:cNvPr id="15" name="Rectangle 14"/>
          <p:cNvSpPr/>
          <p:nvPr/>
        </p:nvSpPr>
        <p:spPr>
          <a:xfrm>
            <a:off x="10643615"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72215"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0</a:t>
            </a:r>
          </a:p>
        </p:txBody>
      </p:sp>
      <p:sp>
        <p:nvSpPr>
          <p:cNvPr id="17" name="TextBox 16"/>
          <p:cNvSpPr txBox="1"/>
          <p:nvPr/>
        </p:nvSpPr>
        <p:spPr>
          <a:xfrm>
            <a:off x="10872215"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en 3 sesiones de pasadas cortas</a:t>
            </a:r>
          </a:p>
        </p:txBody>
      </p:sp>
      <p:sp>
        <p:nvSpPr>
          <p:cNvPr id="18" name="TextBox 17"/>
          <p:cNvSpPr txBox="1"/>
          <p:nvPr/>
        </p:nvSpPr>
        <p:spPr>
          <a:xfrm>
            <a:off x="905256" y="4846320"/>
            <a:ext cx="12801600" cy="365760"/>
          </a:xfrm>
          <a:prstGeom prst="rect">
            <a:avLst/>
          </a:prstGeom>
          <a:noFill/>
        </p:spPr>
        <p:txBody>
          <a:bodyPr wrap="square" anchor="t" lIns="0" rIns="0" tIns="0" bIns="0">
            <a:spAutoFit/>
          </a:bodyPr>
          <a:lstStyle/>
          <a:p>
            <a:pPr algn="l">
              <a:spcAft>
                <a:spcPts val="600"/>
              </a:spcAft>
            </a:pPr>
            <a:r>
              <a:rPr sz="1500" b="1">
                <a:solidFill>
                  <a:srgbClr val="1E1E1E"/>
                </a:solidFill>
              </a:rPr>
              <a:t>Datos sintéticos · referencia conocida</a:t>
            </a:r>
          </a:p>
        </p:txBody>
      </p:sp>
      <p:sp>
        <p:nvSpPr>
          <p:cNvPr id="19" name="Rectangle 18"/>
          <p:cNvSpPr/>
          <p:nvPr/>
        </p:nvSpPr>
        <p:spPr>
          <a:xfrm>
            <a:off x="90525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4,7 %</a:t>
            </a:r>
          </a:p>
        </p:txBody>
      </p:sp>
      <p:sp>
        <p:nvSpPr>
          <p:cNvPr id="21" name="TextBox 20"/>
          <p:cNvSpPr txBox="1"/>
          <p:nvPr/>
        </p:nvSpPr>
        <p:spPr>
          <a:xfrm>
            <a:off x="113385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22" name="Rectangle 21"/>
          <p:cNvSpPr/>
          <p:nvPr/>
        </p:nvSpPr>
        <p:spPr>
          <a:xfrm>
            <a:off x="415137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100 %</a:t>
            </a:r>
          </a:p>
        </p:txBody>
      </p:sp>
      <p:sp>
        <p:nvSpPr>
          <p:cNvPr id="24" name="TextBox 23"/>
          <p:cNvSpPr txBox="1"/>
          <p:nvPr/>
        </p:nvSpPr>
        <p:spPr>
          <a:xfrm>
            <a:off x="437997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fatigas detectadas</a:t>
            </a:r>
          </a:p>
        </p:txBody>
      </p:sp>
      <p:sp>
        <p:nvSpPr>
          <p:cNvPr id="25" name="Rectangle 24"/>
          <p:cNvSpPr/>
          <p:nvPr/>
        </p:nvSpPr>
        <p:spPr>
          <a:xfrm>
            <a:off x="739749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609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10 %</a:t>
            </a:r>
          </a:p>
        </p:txBody>
      </p:sp>
      <p:sp>
        <p:nvSpPr>
          <p:cNvPr id="27" name="TextBox 26"/>
          <p:cNvSpPr txBox="1"/>
          <p:nvPr/>
        </p:nvSpPr>
        <p:spPr>
          <a:xfrm>
            <a:off x="762609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a:t>
            </a:r>
          </a:p>
        </p:txBody>
      </p:sp>
      <p:sp>
        <p:nvSpPr>
          <p:cNvPr id="28" name="Rectangle 27"/>
          <p:cNvSpPr/>
          <p:nvPr/>
        </p:nvSpPr>
        <p:spPr>
          <a:xfrm>
            <a:off x="10643615"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872215"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10/10</a:t>
            </a:r>
          </a:p>
        </p:txBody>
      </p:sp>
      <p:sp>
        <p:nvSpPr>
          <p:cNvPr id="30" name="TextBox 29"/>
          <p:cNvSpPr txBox="1"/>
          <p:nvPr/>
        </p:nvSpPr>
        <p:spPr>
          <a:xfrm>
            <a:off x="10872215"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detectadas en tiempo real, sin falsas alarmas</a:t>
            </a:r>
          </a:p>
        </p:txBody>
      </p:sp>
      <p:sp>
        <p:nvSpPr>
          <p:cNvPr id="31" name="TextBox 30"/>
          <p:cNvSpPr txBox="1"/>
          <p:nvPr/>
        </p:nvSpPr>
        <p:spPr>
          <a:xfrm>
            <a:off x="905256" y="70408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Limitación principal: el nadador fue analizable el 34 % del tiempo grabado (detección bajo el agua).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Conclusiones y trabajo futuro</a:t>
            </a:r>
          </a:p>
        </p:txBody>
      </p:sp>
      <p:sp>
        <p:nvSpPr>
          <p:cNvPr id="4" name="Text Placeholder 3"/>
          <p:cNvSpPr>
            <a:spLocks noGrp="1"/>
          </p:cNvSpPr>
          <p:nvPr>
            <p:ph type="body" idx="18" sz="quarter"/>
          </p:nvPr>
        </p:nvSpPr>
        <p:spPr>
          <a:xfrm>
            <a:ext cx="12344400" cy="0"/>
          </a:xfrm>
        </p:spPr>
        <p:txBody>
          <a:bodyPr/>
          <a:lstStyle/>
          <a:p>
            <a:r>
              <a:t>7 objetivos cumplidos y 2 parciales</a:t>
            </a:r>
          </a:p>
        </p:txBody>
      </p:sp>
      <p:sp>
        <p:nvSpPr>
          <p:cNvPr id="5" name="Rectangle 4"/>
          <p:cNvSpPr/>
          <p:nvPr/>
        </p:nvSpPr>
        <p:spPr>
          <a:xfrm>
            <a:off x="905256" y="274320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83464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OE1 · Cumplido</a:t>
            </a:r>
          </a:p>
        </p:txBody>
      </p:sp>
      <p:sp>
        <p:nvSpPr>
          <p:cNvPr id="7" name="TextBox 6"/>
          <p:cNvSpPr txBox="1"/>
          <p:nvPr/>
        </p:nvSpPr>
        <p:spPr>
          <a:xfrm>
            <a:off x="1042415" y="318211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Modelo de pose</a:t>
            </a:r>
          </a:p>
        </p:txBody>
      </p:sp>
      <p:sp>
        <p:nvSpPr>
          <p:cNvPr id="8" name="Rectangle 7"/>
          <p:cNvSpPr/>
          <p:nvPr/>
        </p:nvSpPr>
        <p:spPr>
          <a:xfrm>
            <a:off x="3419856" y="274320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57016" y="283464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OE2 · Cumplido*</a:t>
            </a:r>
          </a:p>
        </p:txBody>
      </p:sp>
      <p:sp>
        <p:nvSpPr>
          <p:cNvPr id="10" name="TextBox 9"/>
          <p:cNvSpPr txBox="1"/>
          <p:nvPr/>
        </p:nvSpPr>
        <p:spPr>
          <a:xfrm>
            <a:off x="3557016" y="318211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Elevación a 3D</a:t>
            </a:r>
          </a:p>
        </p:txBody>
      </p:sp>
      <p:sp>
        <p:nvSpPr>
          <p:cNvPr id="11" name="Rectangle 10"/>
          <p:cNvSpPr/>
          <p:nvPr/>
        </p:nvSpPr>
        <p:spPr>
          <a:xfrm>
            <a:off x="5934456" y="274320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1616" y="283464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OE3 · Cumplido</a:t>
            </a:r>
          </a:p>
        </p:txBody>
      </p:sp>
      <p:sp>
        <p:nvSpPr>
          <p:cNvPr id="13" name="TextBox 12"/>
          <p:cNvSpPr txBox="1"/>
          <p:nvPr/>
        </p:nvSpPr>
        <p:spPr>
          <a:xfrm>
            <a:off x="6071616" y="318211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Ciclos de brazada</a:t>
            </a:r>
          </a:p>
        </p:txBody>
      </p:sp>
      <p:sp>
        <p:nvSpPr>
          <p:cNvPr id="14" name="Rectangle 13"/>
          <p:cNvSpPr/>
          <p:nvPr/>
        </p:nvSpPr>
        <p:spPr>
          <a:xfrm>
            <a:off x="905256" y="379476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88620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OE4 · Cumplido</a:t>
            </a:r>
          </a:p>
        </p:txBody>
      </p:sp>
      <p:sp>
        <p:nvSpPr>
          <p:cNvPr id="16" name="TextBox 15"/>
          <p:cNvSpPr txBox="1"/>
          <p:nvPr/>
        </p:nvSpPr>
        <p:spPr>
          <a:xfrm>
            <a:off x="1042415" y="423367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Variables por ciclo</a:t>
            </a:r>
          </a:p>
        </p:txBody>
      </p:sp>
      <p:sp>
        <p:nvSpPr>
          <p:cNvPr id="17" name="Rectangle 16"/>
          <p:cNvSpPr/>
          <p:nvPr/>
        </p:nvSpPr>
        <p:spPr>
          <a:xfrm>
            <a:off x="3419856" y="3794760"/>
            <a:ext cx="237744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57016" y="388620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OE5 · Parcial</a:t>
            </a:r>
          </a:p>
        </p:txBody>
      </p:sp>
      <p:sp>
        <p:nvSpPr>
          <p:cNvPr id="19" name="TextBox 18"/>
          <p:cNvSpPr txBox="1"/>
          <p:nvPr/>
        </p:nvSpPr>
        <p:spPr>
          <a:xfrm>
            <a:off x="3557016" y="423367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Inicio de la fatiga</a:t>
            </a:r>
          </a:p>
        </p:txBody>
      </p:sp>
      <p:sp>
        <p:nvSpPr>
          <p:cNvPr id="20" name="Rectangle 19"/>
          <p:cNvSpPr/>
          <p:nvPr/>
        </p:nvSpPr>
        <p:spPr>
          <a:xfrm>
            <a:off x="5934456" y="379476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71616" y="388620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OE6 · Cumplido</a:t>
            </a:r>
          </a:p>
        </p:txBody>
      </p:sp>
      <p:sp>
        <p:nvSpPr>
          <p:cNvPr id="22" name="TextBox 21"/>
          <p:cNvSpPr txBox="1"/>
          <p:nvPr/>
        </p:nvSpPr>
        <p:spPr>
          <a:xfrm>
            <a:off x="6071616" y="423367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Atribución SHAP</a:t>
            </a:r>
          </a:p>
        </p:txBody>
      </p:sp>
      <p:sp>
        <p:nvSpPr>
          <p:cNvPr id="23" name="Rectangle 22"/>
          <p:cNvSpPr/>
          <p:nvPr/>
        </p:nvSpPr>
        <p:spPr>
          <a:xfrm>
            <a:off x="905256" y="4846320"/>
            <a:ext cx="237744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5" y="4937759"/>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OE7 · Parcial</a:t>
            </a:r>
          </a:p>
        </p:txBody>
      </p:sp>
      <p:sp>
        <p:nvSpPr>
          <p:cNvPr id="25" name="TextBox 24"/>
          <p:cNvSpPr txBox="1"/>
          <p:nvPr/>
        </p:nvSpPr>
        <p:spPr>
          <a:xfrm>
            <a:off x="1042415" y="5285231"/>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Estilo de nado</a:t>
            </a:r>
          </a:p>
        </p:txBody>
      </p:sp>
      <p:sp>
        <p:nvSpPr>
          <p:cNvPr id="26" name="Rectangle 25"/>
          <p:cNvSpPr/>
          <p:nvPr/>
        </p:nvSpPr>
        <p:spPr>
          <a:xfrm>
            <a:off x="3419856" y="484632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57016" y="4937759"/>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OE8 · Cumplido</a:t>
            </a:r>
          </a:p>
        </p:txBody>
      </p:sp>
      <p:sp>
        <p:nvSpPr>
          <p:cNvPr id="28" name="TextBox 27"/>
          <p:cNvSpPr txBox="1"/>
          <p:nvPr/>
        </p:nvSpPr>
        <p:spPr>
          <a:xfrm>
            <a:off x="3557016" y="5285231"/>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Vídeo y tiempo real</a:t>
            </a:r>
          </a:p>
        </p:txBody>
      </p:sp>
      <p:sp>
        <p:nvSpPr>
          <p:cNvPr id="29" name="Rectangle 28"/>
          <p:cNvSpPr/>
          <p:nvPr/>
        </p:nvSpPr>
        <p:spPr>
          <a:xfrm>
            <a:off x="5934456" y="484632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71616" y="4937759"/>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OE9 · Cumplido</a:t>
            </a:r>
          </a:p>
        </p:txBody>
      </p:sp>
      <p:sp>
        <p:nvSpPr>
          <p:cNvPr id="31" name="TextBox 30"/>
          <p:cNvSpPr txBox="1"/>
          <p:nvPr/>
        </p:nvSpPr>
        <p:spPr>
          <a:xfrm>
            <a:off x="6071616" y="5285231"/>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Datos sintéticos</a:t>
            </a:r>
          </a:p>
        </p:txBody>
      </p:sp>
      <p:sp>
        <p:nvSpPr>
          <p:cNvPr id="32" name="TextBox 31"/>
          <p:cNvSpPr txBox="1"/>
          <p:nvPr/>
        </p:nvSpPr>
        <p:spPr>
          <a:xfrm>
            <a:off x="905256" y="5989320"/>
            <a:ext cx="7406640" cy="822960"/>
          </a:xfrm>
          <a:prstGeom prst="rect">
            <a:avLst/>
          </a:prstGeom>
          <a:noFill/>
        </p:spPr>
        <p:txBody>
          <a:bodyPr wrap="square" anchor="t" lIns="0" rIns="0" tIns="0" bIns="0">
            <a:spAutoFit/>
          </a:bodyPr>
          <a:lstStyle/>
          <a:p>
            <a:pPr algn="l">
              <a:spcAft>
                <a:spcPts val="600"/>
              </a:spcAft>
            </a:pPr>
            <a:r>
              <a:rPr sz="1400" b="1">
                <a:solidFill>
                  <a:srgbClr val="FF3228"/>
                </a:solidFill>
              </a:rPr>
              <a:t>La calidad de los datos pesa más que el modelo: </a:t>
            </a:r>
            <a:r>
              <a:rPr sz="1400" b="0">
                <a:solidFill>
                  <a:srgbClr val="1E1E1E"/>
                </a:solidFill>
              </a:rPr>
              <a:t>cada resultado se contrastó con una referencia.</a:t>
            </a:r>
          </a:p>
        </p:txBody>
      </p:sp>
      <p:sp>
        <p:nvSpPr>
          <p:cNvPr id="33" name="Rectangle 32"/>
          <p:cNvSpPr/>
          <p:nvPr/>
        </p:nvSpPr>
        <p:spPr>
          <a:xfrm>
            <a:off x="8686800" y="2743200"/>
            <a:ext cx="502920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0" y="2926080"/>
            <a:ext cx="4572000" cy="365760"/>
          </a:xfrm>
          <a:prstGeom prst="rect">
            <a:avLst/>
          </a:prstGeom>
          <a:noFill/>
        </p:spPr>
        <p:txBody>
          <a:bodyPr wrap="square" anchor="t" lIns="0" rIns="0" tIns="0" bIns="0">
            <a:spAutoFit/>
          </a:bodyPr>
          <a:lstStyle/>
          <a:p>
            <a:pPr algn="l">
              <a:spcAft>
                <a:spcPts val="600"/>
              </a:spcAft>
            </a:pPr>
            <a:r>
              <a:rPr sz="1600" b="1">
                <a:solidFill>
                  <a:srgbClr val="FF3228"/>
                </a:solidFill>
              </a:rPr>
              <a:t>Limitaciones → trabajo futuro</a:t>
            </a:r>
          </a:p>
        </p:txBody>
      </p:sp>
      <p:sp>
        <p:nvSpPr>
          <p:cNvPr id="35" name="TextBox 34"/>
          <p:cNvSpPr txBox="1"/>
          <p:nvPr/>
        </p:nvSpPr>
        <p:spPr>
          <a:xfrm>
            <a:off x="8961120" y="3429000"/>
            <a:ext cx="4572000" cy="3291840"/>
          </a:xfrm>
          <a:prstGeom prst="rect">
            <a:avLst/>
          </a:prstGeom>
          <a:noFill/>
        </p:spPr>
        <p:txBody>
          <a:bodyPr wrap="square" anchor="t" lIns="0" rIns="0" tIns="0" bIns="0">
            <a:spAutoFit/>
          </a:bodyPr>
          <a:lstStyle/>
          <a:p>
            <a:pPr algn="l">
              <a:spcAft>
                <a:spcPts val="600"/>
              </a:spcAft>
            </a:pPr>
            <a:r>
              <a:rPr sz="1200" b="0">
                <a:solidFill>
                  <a:srgbClr val="1E1E1E"/>
                </a:solidFill>
              </a:rPr>
              <a:t>•  Sin referencia fisiológica de la fatiga → series largas con lactato, esfuerzo percibido y valoración experta</a:t>
            </a:r>
          </a:p>
          <a:p>
            <a:pPr algn="l">
              <a:spcAft>
                <a:spcPts val="600"/>
              </a:spcAft>
            </a:pPr>
            <a:r>
              <a:rPr sz="1200" b="0">
                <a:solidFill>
                  <a:srgbClr val="1E1E1E"/>
                </a:solidFill>
              </a:rPr>
              <a:t>•  Detección parcial (34 %) → anotar fotogramas propios (OKS, PCK, mAP) y ajustar la pose con SwimXYZ</a:t>
            </a:r>
          </a:p>
          <a:p>
            <a:pPr algn="l">
              <a:spcAft>
                <a:spcPts val="600"/>
              </a:spcAft>
            </a:pPr>
            <a:r>
              <a:rPr sz="1200" b="0">
                <a:solidFill>
                  <a:srgbClr val="1E1E1E"/>
                </a:solidFill>
              </a:rPr>
              <a:t>•  3D poco fiable en piernas → adaptar MotionBERT a nadadores; ViTPose con GPU</a:t>
            </a:r>
          </a:p>
          <a:p>
            <a:pPr algn="l">
              <a:spcAft>
                <a:spcPts val="600"/>
              </a:spcAft>
            </a:pPr>
            <a:r>
              <a:rPr sz="1200" b="0">
                <a:solidFill>
                  <a:srgbClr val="1E1E1E"/>
                </a:solidFill>
              </a:rPr>
              <a:t>•  Umbrales fijados con los mismos vídeos → validar con nadadores nuevos</a:t>
            </a:r>
          </a:p>
        </p:txBody>
      </p:sp>
      <p:sp>
        <p:nvSpPr>
          <p:cNvPr id="36" name="TextBox 35"/>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Cumplido con limitaciones (3D válido en codo y cadera, no en rodilla).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