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50" r:id="rId42"/>
    <p:sldId id="351" r:id="rId43"/>
    <p:sldId id="344" r:id="rId36"/>
    <p:sldId id="345" r:id="rId37"/>
    <p:sldId id="346" r:id="rId38"/>
    <p:sldId id="347" r:id="rId39"/>
    <p:sldId id="333" r:id="rId25"/>
    <p:sldId id="334" r:id="rId26"/>
    <p:sldId id="337" r:id="rId29"/>
    <p:sldId id="352" r:id="rId44"/>
    <p:sldId id="339" r:id="rId31"/>
    <p:sldId id="353" r:id="rId45"/>
    <p:sldId id="354" r:id="rId46"/>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25" Type="http://schemas.openxmlformats.org/officeDocument/2006/relationships/slide" Target="slides/slide16.xml"/><Relationship Id="rId26" Type="http://schemas.openxmlformats.org/officeDocument/2006/relationships/slide" Target="slides/slide17.xml"/><Relationship Id="rId29" Type="http://schemas.openxmlformats.org/officeDocument/2006/relationships/slide" Target="slides/slide20.xml"/><Relationship Id="rId31" Type="http://schemas.openxmlformats.org/officeDocument/2006/relationships/slide" Target="slides/slide22.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30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guion: el problema y el objetivo, el método y los algoritmos, la validación, una demostración con dos grabaciones de 100 m libre y el alcance con las conclusiones. [≈ 25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55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 10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55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25 s] Los vídeos no llevan nada dibujado sobre el nadador: solo el panel con tiempo, ciclo, frecuencia y estado.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Los datos: 17 secuencias reales de 4 participantes, sin ningún fotograma anotado, así que valido con mi conteo manual y con datos sintéticos donde conozco la verdad. No entrené un modelo de pose propio: no había fotogramas anotados, no había GPU y los modelos preentrenados ya saben cómo es un cuerpo.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3,3 millones de parámetros frente a 11,6 y a 6,6 FPS frente a 3,3;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50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fatiga, la técnica se degrada: sube la frecuencia, baja la distancia por ciclo y cambia la coordinación de los brazos. Hoy el entrenador lo valora a ojo, y así no puede saber en qué momento empieza ni qué variable cambia primero. Los sistemas comerciales necesitan sensores inerciales, varias cámaras o marcadores, y dan métricas sin explicar su relación con el estado del nadador. Los trabajos existentes miden la técnica o detectan la fatiga, pero no combinan las dos cosas con una explicación, en algo barato que funcione en un portátil. De ahí salen mis tres preguntas de investigación; la tercera es la central: sin etiquetas de fatiga, ¿en qué ciclo se degrada la técnica y qué variables lo explican? [≈ 1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un vídeo y en un portátil sin GPU, cuantifique la eficiencia de la técnica, detecte el inicio de la fatiga y atribuya sus causas a variables biomecánicas con valores de Shapley. Lo concreté en nueve objetivos específicos que agrupo en cuatro bloques: visión, ciclos y variables, fatiga explicable, y entrega y validación. La aportación no está en el detector de pose, que es preentrenado, sino en lo que construyo encima: la adaptación a la natación y la vertical tabular explicable. Es lo que pidió el director: la explicabilidad como eje y dos verticales de IA. [≈ 55 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quedan los nueve objetivos. Con vídeo real: la frecuencia de ciclo con un error del 6,5 al 8,2 % frente al conteo manual, 95 ciclos válidos en 17 secuencias y la familia del estilo en 12 de 13; con datos sintéticos, lo que acabo de mostrar. Los dos parciales son honestos: a la fatiga le falta una referencia fisiológica real, y el estilo supervisado no generalizaba, por eso pasé a reglas. [≈ 40 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ser clara con el alcance. La fatiga está validada con datos sintéticos; con nadadores reales solo tengo pasadas cortas, que no producen fatiga. El nadador es analizable un tercio del tiempo. Y los umbrales de vista y estilo los fijé con los mismos vídeos. La debilidad está en los datos, no en la arquitectura: el sistema está preparado para validarse en cuanto haya series largas con una referencia fisiológica. La lección que me llevo es que la calidad de los datos pesa más que el modelo: un 99,99 % de una versión anterior era fuga de datos, y desde entonces contrasté cada resultado con una referencia. Muchas gracias. [≈ 55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Guion</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Método y algoritmos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Alcance y conclusiones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Estilo: del modelo supervisado a reglas</a:t>
            </a:r>
          </a:p>
        </p:txBody>
      </p:sp>
      <p:sp>
        <p:nvSpPr>
          <p:cNvPr id="4" name="Text Placeholder 3"/>
          <p:cNvSpPr>
            <a:spLocks noGrp="1"/>
          </p:cNvSpPr>
          <p:nvPr>
            <p:ph type="body" idx="18" sz="quarter"/>
          </p:nvPr>
        </p:nvSpPr>
        <p:spPr>
          <a:xfrm>
            <a:ext cx="12344400" cy="0"/>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Método: un algoritmo por etapa</a:t>
            </a:r>
          </a:p>
        </p:txBody>
      </p:sp>
      <p:sp>
        <p:nvSpPr>
          <p:cNvPr id="4" name="Text Placeholder 3"/>
          <p:cNvSpPr>
            <a:spLocks noGrp="1"/>
          </p:cNvSpPr>
          <p:nvPr>
            <p:ph type="body" idx="18" sz="quarter"/>
          </p:nvPr>
        </p:nvSpPr>
        <p:spPr>
          <a:xfrm>
            <a:ext cx="12344400" cy="0"/>
          </a:xfrm>
        </p:spPr>
        <p:txBody>
          <a:bodyPr/>
          <a:lstStyle/>
          <a:p>
            <a:r>
              <a:t>Vertical de visión (pose) → vertical tabular (ciclos, fatiga, SHAP)</a:t>
            </a:r>
          </a:p>
        </p:txBody>
      </p:sp>
      <p:sp>
        <p:nvSpPr>
          <p:cNvPr id="5" name="Rectangle 4"/>
          <p:cNvSpPr/>
          <p:nvPr/>
        </p:nvSpPr>
        <p:spPr>
          <a:xfrm>
            <a:off x="905256" y="2743200"/>
            <a:ext cx="1280160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685800"/>
          </a:xfrm>
          <a:prstGeom prst="rect">
            <a:avLst/>
          </a:prstGeom>
          <a:noFill/>
        </p:spPr>
        <p:txBody>
          <a:bodyPr wrap="square" anchor="ctr" lIns="0" rIns="0" tIns="0" bIns="0">
            <a:spAutoFit/>
          </a:bodyPr>
          <a:lstStyle/>
          <a:p>
            <a:pPr algn="l">
              <a:spcAft>
                <a:spcPts val="600"/>
              </a:spcAft>
            </a:pPr>
            <a:r>
              <a:rPr sz="1300" b="1">
                <a:solidFill>
                  <a:srgbClr val="FF3228"/>
                </a:solidFill>
              </a:rPr>
              <a:t>Datos: </a:t>
            </a:r>
            <a:r>
              <a:rPr sz="1300" b="0">
                <a:solidFill>
                  <a:srgbClr val="FFFFFF"/>
                </a:solidFill>
              </a:rPr>
              <a:t>17 secuencias reales · 4 participantes · 4 estilos · 6,6 min (GoPro 5K lateral y móvil desde el borde) · sin fotogramas anotados → validación con conteo manual y datos sintéticos de referencia conocida</a:t>
            </a:r>
          </a:p>
        </p:txBody>
      </p:sp>
      <p:graphicFrame>
        <p:nvGraphicFramePr>
          <p:cNvPr id="7" name="Table 6"/>
          <p:cNvGraphicFramePr>
            <a:graphicFrameLocks noGrp="1"/>
          </p:cNvGraphicFramePr>
          <p:nvPr/>
        </p:nvGraphicFramePr>
        <p:xfrm>
          <a:off x="905256" y="3611880"/>
          <a:ext cx="12801600" cy="3364992"/>
        </p:xfrm>
        <a:graphic>
          <a:graphicData uri="http://schemas.openxmlformats.org/drawingml/2006/table">
            <a:tbl>
              <a:tblPr firstRow="1" bandRow="1">
                <a:tableStyleId>{5C22544A-7EE6-4342-B048-85BDC9FD1C3A}</a:tableStyleId>
              </a:tblPr>
              <a:tblGrid>
                <a:gridCol w="1463040"/>
                <a:gridCol w="3566160"/>
                <a:gridCol w="3291840"/>
                <a:gridCol w="4480560"/>
              </a:tblGrid>
              <a:tr h="420624">
                <a:tc>
                  <a:txBody>
                    <a:bodyPr/>
                    <a:lstStyle/>
                    <a:p>
                      <a:r>
                        <a:rPr sz="1100" b="1">
                          <a:solidFill>
                            <a:srgbClr val="FFFFFF"/>
                          </a:solidFill>
                        </a:rPr>
                        <a:t>Etapa</a:t>
                      </a:r>
                    </a:p>
                  </a:txBody>
                  <a:tcPr marL="91440" marR="91440" marT="27432" marB="27432" anchor="ctr">
                    <a:solidFill>
                      <a:srgbClr val="FF3228"/>
                    </a:solidFill>
                  </a:tcPr>
                </a:tc>
                <a:tc>
                  <a:txBody>
                    <a:bodyPr/>
                    <a:lstStyle/>
                    <a:p>
                      <a:r>
                        <a:rPr sz="1100" b="1">
                          <a:solidFill>
                            <a:srgbClr val="FFFFFF"/>
                          </a:solidFill>
                        </a:rPr>
                        <a:t>Algoritmo elegido</a:t>
                      </a:r>
                    </a:p>
                  </a:txBody>
                  <a:tcPr marL="91440" marR="91440" marT="27432" marB="27432" anchor="ctr">
                    <a:solidFill>
                      <a:srgbClr val="FF3228"/>
                    </a:solidFill>
                  </a:tcPr>
                </a:tc>
                <a:tc>
                  <a:txBody>
                    <a:bodyPr/>
                    <a:lstStyle/>
                    <a:p>
                      <a:r>
                        <a:rPr sz="1100" b="1">
                          <a:solidFill>
                            <a:srgbClr val="FFFFFF"/>
                          </a:solidFill>
                        </a:rPr>
                        <a:t>Alternativa comparada</a:t>
                      </a:r>
                    </a:p>
                  </a:txBody>
                  <a:tcPr marL="91440" marR="91440" marT="27432" marB="27432" anchor="ctr">
                    <a:solidFill>
                      <a:srgbClr val="FF3228"/>
                    </a:solidFill>
                  </a:tcPr>
                </a:tc>
                <a:tc>
                  <a:txBody>
                    <a:bodyPr/>
                    <a:lstStyle/>
                    <a:p>
                      <a:r>
                        <a:rPr sz="1100" b="1">
                          <a:solidFill>
                            <a:srgbClr val="FFFFFF"/>
                          </a:solidFill>
                        </a:rPr>
                        <a:t>Por qué</a:t>
                      </a:r>
                    </a:p>
                  </a:txBody>
                  <a:tcPr marL="91440" marR="91440" marT="27432" marB="27432" anchor="ctr">
                    <a:solidFill>
                      <a:srgbClr val="FF3228"/>
                    </a:solidFill>
                  </a:tcPr>
                </a:tc>
              </a:tr>
              <a:tr h="420624">
                <a:tc>
                  <a:txBody>
                    <a:bodyPr/>
                    <a:lstStyle/>
                    <a:p>
                      <a:r>
                        <a:rPr sz="1100" b="0">
                          <a:solidFill>
                            <a:srgbClr val="1E1E1E"/>
                          </a:solidFill>
                        </a:rPr>
                        <a:t>Pose 2D</a:t>
                      </a:r>
                    </a:p>
                  </a:txBody>
                  <a:tcPr marL="91440" marR="91440" marT="27432" marB="27432" anchor="ctr">
                    <a:solidFill>
                      <a:srgbClr val="FFFFFF"/>
                    </a:solidFill>
                  </a:tcPr>
                </a:tc>
                <a:tc>
                  <a:txBody>
                    <a:bodyPr/>
                    <a:lstStyle/>
                    <a:p>
                      <a:r>
                        <a:rPr sz="1100" b="0">
                          <a:solidFill>
                            <a:srgbClr val="1E1E1E"/>
                          </a:solidFill>
                        </a:rPr>
                        <a:t>YOLOv8n-Pose (CNN, una etapa)</a:t>
                      </a:r>
                    </a:p>
                  </a:txBody>
                  <a:tcPr marL="91440" marR="91440" marT="27432" marB="27432" anchor="ctr">
                    <a:solidFill>
                      <a:srgbClr val="FFFFFF"/>
                    </a:solidFill>
                  </a:tcPr>
                </a:tc>
                <a:tc>
                  <a:txBody>
                    <a:bodyPr/>
                    <a:lstStyle/>
                    <a:p>
                      <a:r>
                        <a:rPr sz="1100" b="0">
                          <a:solidFill>
                            <a:srgbClr val="1E1E1E"/>
                          </a:solidFill>
                        </a:rPr>
                        <a:t>YOLO11n, YOLOv8s, MoveNet, HRNet, ViTPose</a:t>
                      </a:r>
                    </a:p>
                  </a:txBody>
                  <a:tcPr marL="91440" marR="91440" marT="27432" marB="27432" anchor="ctr">
                    <a:solidFill>
                      <a:srgbClr val="FFFFFF"/>
                    </a:solidFill>
                  </a:tcPr>
                </a:tc>
                <a:tc>
                  <a:txBody>
                    <a:bodyPr/>
                    <a:lstStyle/>
                    <a:p>
                      <a:r>
                        <a:rPr sz="1100" b="0">
                          <a:solidFill>
                            <a:srgbClr val="1E1E1E"/>
                          </a:solidFill>
                        </a:rPr>
                        <a:t>Detecta como v8s (35,6 %) con 3,3 M parámetros frente a 11,6 M; doble de confianza que MoveNet</a:t>
                      </a:r>
                    </a:p>
                  </a:txBody>
                  <a:tcPr marL="91440" marR="91440" marT="27432" marB="27432" anchor="ctr">
                    <a:solidFill>
                      <a:srgbClr val="FFFFFF"/>
                    </a:solidFill>
                  </a:tcPr>
                </a:tc>
              </a:tr>
              <a:tr h="420624">
                <a:tc>
                  <a:txBody>
                    <a:bodyPr/>
                    <a:lstStyle/>
                    <a:p>
                      <a:r>
                        <a:rPr sz="1100" b="0">
                          <a:solidFill>
                            <a:srgbClr val="1E1E1E"/>
                          </a:solidFill>
                        </a:rPr>
                        <a:t>Pose 3D</a:t>
                      </a:r>
                    </a:p>
                  </a:txBody>
                  <a:tcPr marL="91440" marR="91440" marT="27432" marB="27432" anchor="ctr">
                    <a:solidFill>
                      <a:srgbClr val="EEEDED"/>
                    </a:solidFill>
                  </a:tcPr>
                </a:tc>
                <a:tc>
                  <a:txBody>
                    <a:bodyPr/>
                    <a:lstStyle/>
                    <a:p>
                      <a:r>
                        <a:rPr sz="1100" b="0">
                          <a:solidFill>
                            <a:srgbClr val="1E1E1E"/>
                          </a:solidFill>
                        </a:rPr>
                        <a:t>MotionBERT-Lite (transformer)</a:t>
                      </a:r>
                    </a:p>
                  </a:txBody>
                  <a:tcPr marL="91440" marR="91440" marT="27432" marB="27432" anchor="ctr">
                    <a:solidFill>
                      <a:srgbClr val="EEEDED"/>
                    </a:solidFill>
                  </a:tcPr>
                </a:tc>
                <a:tc>
                  <a:txBody>
                    <a:bodyPr/>
                    <a:lstStyle/>
                    <a:p>
                      <a:r>
                        <a:rPr sz="1100" b="0">
                          <a:solidFill>
                            <a:srgbClr val="1E1E1E"/>
                          </a:solidFill>
                        </a:rPr>
                        <a:t>Ángulos 2D</a:t>
                      </a:r>
                    </a:p>
                  </a:txBody>
                  <a:tcPr marL="91440" marR="91440" marT="27432" marB="27432" anchor="ctr">
                    <a:solidFill>
                      <a:srgbClr val="EEEDED"/>
                    </a:solidFill>
                  </a:tcPr>
                </a:tc>
                <a:tc>
                  <a:txBody>
                    <a:bodyPr/>
                    <a:lstStyle/>
                    <a:p>
                      <a:r>
                        <a:rPr sz="1100" b="0">
                          <a:solidFill>
                            <a:srgbClr val="1E1E1E"/>
                          </a:solidFill>
                        </a:rPr>
                        <a:t>Solo de frente: en lateral falla la rodilla (107° frente a 173°)</a:t>
                      </a:r>
                    </a:p>
                  </a:txBody>
                  <a:tcPr marL="91440" marR="91440" marT="27432" marB="27432" anchor="ctr">
                    <a:solidFill>
                      <a:srgbClr val="EEEDED"/>
                    </a:solidFill>
                  </a:tcPr>
                </a:tc>
              </a:tr>
              <a:tr h="420624">
                <a:tc>
                  <a:txBody>
                    <a:bodyPr/>
                    <a:lstStyle/>
                    <a:p>
                      <a:r>
                        <a:rPr sz="1100" b="0">
                          <a:solidFill>
                            <a:srgbClr val="1E1E1E"/>
                          </a:solidFill>
                        </a:rPr>
                        <a:t>Vista</a:t>
                      </a:r>
                    </a:p>
                  </a:txBody>
                  <a:tcPr marL="91440" marR="91440" marT="27432" marB="27432" anchor="ctr">
                    <a:solidFill>
                      <a:srgbClr val="FFFFFF"/>
                    </a:solidFill>
                  </a:tcPr>
                </a:tc>
                <a:tc>
                  <a:txBody>
                    <a:bodyPr/>
                    <a:lstStyle/>
                    <a:p>
                      <a:r>
                        <a:rPr sz="1100" b="0">
                          <a:solidFill>
                            <a:srgbClr val="1E1E1E"/>
                          </a:solidFill>
                        </a:rPr>
                        <a:t>Orientación del tronco, tramos de 60 s</a:t>
                      </a:r>
                    </a:p>
                  </a:txBody>
                  <a:tcPr marL="91440" marR="91440" marT="27432" marB="27432" anchor="ctr">
                    <a:solidFill>
                      <a:srgbClr val="FFFFFF"/>
                    </a:solidFill>
                  </a:tcPr>
                </a:tc>
                <a:tc>
                  <a:txBody>
                    <a:bodyPr/>
                    <a:lstStyle/>
                    <a:p>
                      <a:r>
                        <a:rPr sz="1100" b="0">
                          <a:solidFill>
                            <a:srgbClr val="1E1E1E"/>
                          </a:solidFill>
                        </a:rPr>
                        <a:t>Vista indicada a mano</a:t>
                      </a:r>
                    </a:p>
                  </a:txBody>
                  <a:tcPr marL="91440" marR="91440" marT="27432" marB="27432" anchor="ctr">
                    <a:solidFill>
                      <a:srgbClr val="FFFFFF"/>
                    </a:solidFill>
                  </a:tcPr>
                </a:tc>
                <a:tc>
                  <a:txBody>
                    <a:bodyPr/>
                    <a:lstStyle/>
                    <a:p>
                      <a:r>
                        <a:rPr sz="1100" b="0">
                          <a:solidFill>
                            <a:srgbClr val="1E1E1E"/>
                          </a:solidFill>
                        </a:rPr>
                        <a:t>Hay vídeos laterales y frontales, incluso en el mismo vídeo</a:t>
                      </a:r>
                    </a:p>
                  </a:txBody>
                  <a:tcPr marL="91440" marR="91440" marT="27432" marB="27432" anchor="ctr">
                    <a:solidFill>
                      <a:srgbClr val="FFFFFF"/>
                    </a:solidFill>
                  </a:tcPr>
                </a:tc>
              </a:tr>
              <a:tr h="420624">
                <a:tc>
                  <a:txBody>
                    <a:bodyPr/>
                    <a:lstStyle/>
                    <a:p>
                      <a:r>
                        <a:rPr sz="1100" b="0">
                          <a:solidFill>
                            <a:srgbClr val="1E1E1E"/>
                          </a:solidFill>
                        </a:rPr>
                        <a:t>Ciclos</a:t>
                      </a:r>
                    </a:p>
                  </a:txBody>
                  <a:tcPr marL="91440" marR="91440" marT="27432" marB="27432" anchor="ctr">
                    <a:solidFill>
                      <a:srgbClr val="EEEDED"/>
                    </a:solidFill>
                  </a:tcPr>
                </a:tc>
                <a:tc>
                  <a:txBody>
                    <a:bodyPr/>
                    <a:lstStyle/>
                    <a:p>
                      <a:r>
                        <a:rPr sz="1100" b="0">
                          <a:solidFill>
                            <a:srgbClr val="1E1E1E"/>
                          </a:solidFill>
                        </a:rPr>
                        <a:t>Picos de la mano (lateral) · PCA (frontal)</a:t>
                      </a:r>
                    </a:p>
                  </a:txBody>
                  <a:tcPr marL="91440" marR="91440" marT="27432" marB="27432" anchor="ctr">
                    <a:solidFill>
                      <a:srgbClr val="EEEDED"/>
                    </a:solidFill>
                  </a:tcPr>
                </a:tc>
                <a:tc>
                  <a:txBody>
                    <a:bodyPr/>
                    <a:lstStyle/>
                    <a:p>
                      <a:r>
                        <a:rPr sz="1100" b="0">
                          <a:solidFill>
                            <a:srgbClr val="1E1E1E"/>
                          </a:solidFill>
                        </a:rPr>
                        <a:t>Cada muñeca por separado</a:t>
                      </a:r>
                    </a:p>
                  </a:txBody>
                  <a:tcPr marL="91440" marR="91440" marT="27432" marB="27432" anchor="ctr">
                    <a:solidFill>
                      <a:srgbClr val="EEEDED"/>
                    </a:solidFill>
                  </a:tcPr>
                </a:tc>
                <a:tc>
                  <a:txBody>
                    <a:bodyPr/>
                    <a:lstStyle/>
                    <a:p>
                      <a:r>
                        <a:rPr sz="1100" b="0">
                          <a:solidFill>
                            <a:srgbClr val="1E1E1E"/>
                          </a:solidFill>
                        </a:rPr>
                        <a:t>YOLO copia el brazo visible en el oculto</a:t>
                      </a:r>
                    </a:p>
                  </a:txBody>
                  <a:tcPr marL="91440" marR="91440" marT="27432" marB="27432" anchor="ctr">
                    <a:solidFill>
                      <a:srgbClr val="EEEDED"/>
                    </a:solidFill>
                  </a:tcPr>
                </a:tc>
              </a:tr>
              <a:tr h="420624">
                <a:tc>
                  <a:txBody>
                    <a:bodyPr/>
                    <a:lstStyle/>
                    <a:p>
                      <a:r>
                        <a:rPr sz="1100" b="1">
                          <a:solidFill>
                            <a:srgbClr val="1E1E1E"/>
                          </a:solidFill>
                        </a:rPr>
                        <a:t>Fatiga</a:t>
                      </a:r>
                    </a:p>
                  </a:txBody>
                  <a:tcPr marL="91440" marR="91440" marT="27432" marB="27432" anchor="ctr">
                    <a:solidFill>
                      <a:srgbClr val="FFAFAA"/>
                    </a:solidFill>
                  </a:tcPr>
                </a:tc>
                <a:tc>
                  <a:txBody>
                    <a:bodyPr/>
                    <a:lstStyle/>
                    <a:p>
                      <a:r>
                        <a:rPr sz="1100" b="1">
                          <a:solidFill>
                            <a:srgbClr val="1E1E1E"/>
                          </a:solidFill>
                        </a:rPr>
                        <a:t>Isolation Forest + PELT</a:t>
                      </a:r>
                    </a:p>
                  </a:txBody>
                  <a:tcPr marL="91440" marR="91440" marT="27432" marB="27432" anchor="ctr">
                    <a:solidFill>
                      <a:srgbClr val="FFAFAA"/>
                    </a:solidFill>
                  </a:tcPr>
                </a:tc>
                <a:tc>
                  <a:txBody>
                    <a:bodyPr/>
                    <a:lstStyle/>
                    <a:p>
                      <a:r>
                        <a:rPr sz="1100" b="1">
                          <a:solidFill>
                            <a:srgbClr val="1E1E1E"/>
                          </a:solidFill>
                        </a:rPr>
                        <a:t>Red recurrente supervisada</a:t>
                      </a:r>
                    </a:p>
                  </a:txBody>
                  <a:tcPr marL="91440" marR="91440" marT="27432" marB="27432" anchor="ctr">
                    <a:solidFill>
                      <a:srgbClr val="FFAFAA"/>
                    </a:solidFill>
                  </a:tcPr>
                </a:tc>
                <a:tc>
                  <a:txBody>
                    <a:bodyPr/>
                    <a:lstStyle/>
                    <a:p>
                      <a:r>
                        <a:rPr sz="1100" b="1">
                          <a:solidFill>
                            <a:srgbClr val="1E1E1E"/>
                          </a:solidFill>
                        </a:rPr>
                        <a:t>No hay etiquetas de fatiga; coste lineal; SHAP exacto</a:t>
                      </a:r>
                    </a:p>
                  </a:txBody>
                  <a:tcPr marL="91440" marR="91440" marT="27432" marB="27432" anchor="ctr">
                    <a:solidFill>
                      <a:srgbClr val="FFAFAA"/>
                    </a:solidFill>
                  </a:tcPr>
                </a:tc>
              </a:tr>
              <a:tr h="420624">
                <a:tc>
                  <a:txBody>
                    <a:bodyPr/>
                    <a:lstStyle/>
                    <a:p>
                      <a:r>
                        <a:rPr sz="1100" b="0">
                          <a:solidFill>
                            <a:srgbClr val="1E1E1E"/>
                          </a:solidFill>
                        </a:rPr>
                        <a:t>Explicación</a:t>
                      </a:r>
                    </a:p>
                  </a:txBody>
                  <a:tcPr marL="91440" marR="91440" marT="27432" marB="27432" anchor="ctr">
                    <a:solidFill>
                      <a:srgbClr val="EEEDED"/>
                    </a:solidFill>
                  </a:tcPr>
                </a:tc>
                <a:tc>
                  <a:txBody>
                    <a:bodyPr/>
                    <a:lstStyle/>
                    <a:p>
                      <a:r>
                        <a:rPr sz="1100" b="0">
                          <a:solidFill>
                            <a:srgbClr val="1E1E1E"/>
                          </a:solidFill>
                        </a:rPr>
                        <a:t>TreeSHAP</a:t>
                      </a:r>
                    </a:p>
                  </a:txBody>
                  <a:tcPr marL="91440" marR="91440" marT="27432" marB="27432" anchor="ctr">
                    <a:solidFill>
                      <a:srgbClr val="EEEDED"/>
                    </a:solidFill>
                  </a:tcPr>
                </a:tc>
                <a:tc>
                  <a:txBody>
                    <a:bodyPr/>
                    <a:lstStyle/>
                    <a:p>
                      <a:r>
                        <a:rPr sz="1100" b="0">
                          <a:solidFill>
                            <a:srgbClr val="1E1E1E"/>
                          </a:solidFill>
                        </a:rPr>
                        <a:t>—</a:t>
                      </a:r>
                    </a:p>
                  </a:txBody>
                  <a:tcPr marL="91440" marR="91440" marT="27432" marB="27432" anchor="ctr">
                    <a:solidFill>
                      <a:srgbClr val="EEEDED"/>
                    </a:solidFill>
                  </a:tcPr>
                </a:tc>
                <a:tc>
                  <a:txBody>
                    <a:bodyPr/>
                    <a:lstStyle/>
                    <a:p>
                      <a:r>
                        <a:rPr sz="1100" b="0">
                          <a:solidFill>
                            <a:srgbClr val="1E1E1E"/>
                          </a:solidFill>
                        </a:rPr>
                        <a:t>Valores de Shapley exactos para modelos de árboles</a:t>
                      </a:r>
                    </a:p>
                  </a:txBody>
                  <a:tcPr marL="91440" marR="91440" marT="27432" marB="27432" anchor="ctr">
                    <a:solidFill>
                      <a:srgbClr val="EEEDED"/>
                    </a:solidFill>
                  </a:tcPr>
                </a:tc>
              </a:tr>
              <a:tr h="420624">
                <a:tc>
                  <a:txBody>
                    <a:bodyPr/>
                    <a:lstStyle/>
                    <a:p>
                      <a:r>
                        <a:rPr sz="1100" b="0">
                          <a:solidFill>
                            <a:srgbClr val="1E1E1E"/>
                          </a:solidFill>
                        </a:rPr>
                        <a:t>Estilo</a:t>
                      </a:r>
                    </a:p>
                  </a:txBody>
                  <a:tcPr marL="91440" marR="91440" marT="27432" marB="27432" anchor="ctr">
                    <a:solidFill>
                      <a:srgbClr val="FFFFFF"/>
                    </a:solidFill>
                  </a:tcPr>
                </a:tc>
                <a:tc>
                  <a:txBody>
                    <a:bodyPr/>
                    <a:lstStyle/>
                    <a:p>
                      <a:r>
                        <a:rPr sz="1100" b="0">
                          <a:solidFill>
                            <a:srgbClr val="1E1E1E"/>
                          </a:solidFill>
                        </a:rPr>
                        <a:t>Reglas biomecánicas</a:t>
                      </a:r>
                    </a:p>
                  </a:txBody>
                  <a:tcPr marL="91440" marR="91440" marT="27432" marB="27432" anchor="ctr">
                    <a:solidFill>
                      <a:srgbClr val="FFFFFF"/>
                    </a:solidFill>
                  </a:tcPr>
                </a:tc>
                <a:tc>
                  <a:txBody>
                    <a:bodyPr/>
                    <a:lstStyle/>
                    <a:p>
                      <a:r>
                        <a:rPr sz="1100" b="0">
                          <a:solidFill>
                            <a:srgbClr val="1E1E1E"/>
                          </a:solidFill>
                        </a:rPr>
                        <a:t>XGBoost, bosque aleatorio</a:t>
                      </a:r>
                    </a:p>
                  </a:txBody>
                  <a:tcPr marL="91440" marR="91440" marT="27432" marB="27432" anchor="ctr">
                    <a:solidFill>
                      <a:srgbClr val="FFFFFF"/>
                    </a:solidFill>
                  </a:tcPr>
                </a:tc>
                <a:tc>
                  <a:txBody>
                    <a:bodyPr/>
                    <a:lstStyle/>
                    <a:p>
                      <a:r>
                        <a:rPr sz="11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Visión: pose bajo el agua</a:t>
            </a:r>
          </a:p>
        </p:txBody>
      </p:sp>
      <p:sp>
        <p:nvSpPr>
          <p:cNvPr id="4" name="Text Placeholder 3"/>
          <p:cNvSpPr>
            <a:spLocks noGrp="1"/>
          </p:cNvSpPr>
          <p:nvPr>
            <p:ph type="body" idx="18" sz="quarter"/>
          </p:nvPr>
        </p:nvSpPr>
        <p:spPr>
          <a:xfrm>
            <a:ext cx="12344400" cy="0"/>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(vídeo subacuático): doble de confianza y 15 ciclos válidos frente a 3</a:t>
            </a:r>
          </a:p>
          <a:p>
            <a:pPr algn="l">
              <a:spcAft>
                <a:spcPts val="500"/>
              </a:spcAft>
            </a:pPr>
            <a:r>
              <a:rPr sz="1300" b="0">
                <a:solidFill>
                  <a:srgbClr val="1E1E1E"/>
                </a:solidFill>
              </a:rPr>
              <a:t>•  HRNet (AP 75,5) y ViTPose (80,9): más precisos en COCO, coste elevado en CPU</a:t>
            </a:r>
          </a:p>
          <a:p>
            <a:pPr algn="l">
              <a:spcAft>
                <a:spcPts val="500"/>
              </a:spcAft>
            </a:pPr>
            <a:r>
              <a:rPr sz="1300" b="0">
                <a:solidFill>
                  <a:srgbClr val="1E1E1E"/>
                </a:solidFill>
              </a:rPr>
              <a:t>•  Sin modelo propio: ningún fotograma subacuático anotado y sin GPU; se reutiliza un modelo preentrenado</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valores medidos con GPU (memoria, Tabla 2). AP: precisión media en COCO según las publicaciones originales (Tabla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ciclos en dos vistas</a:t>
            </a:r>
          </a:p>
        </p:txBody>
      </p:sp>
      <p:sp>
        <p:nvSpPr>
          <p:cNvPr id="4" name="Text Placeholder 3"/>
          <p:cNvSpPr>
            <a:spLocks noGrp="1"/>
          </p:cNvSpPr>
          <p:nvPr>
            <p:ph type="body" idx="18" sz="quarter"/>
          </p:nvPr>
        </p:nvSpPr>
        <p:spPr>
          <a:xfrm>
            <a:ext cx="12344400" cy="0"/>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con Isolation Forest</a:t>
            </a:r>
          </a:p>
        </p:txBody>
      </p:sp>
      <p:sp>
        <p:nvSpPr>
          <p:cNvPr id="4" name="Text Placeholder 3"/>
          <p:cNvSpPr>
            <a:spLocks noGrp="1"/>
          </p:cNvSpPr>
          <p:nvPr>
            <p:ph type="body" idx="18" sz="quarter"/>
          </p:nvPr>
        </p:nvSpPr>
        <p:spPr>
          <a:xfrm>
            <a:ext cx="12344400" cy="0"/>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El problema y el estado del arte</a:t>
            </a:r>
          </a:p>
        </p:txBody>
      </p:sp>
      <p:sp>
        <p:nvSpPr>
          <p:cNvPr id="4" name="Text Placeholder 3"/>
          <p:cNvSpPr>
            <a:spLocks noGrp="1"/>
          </p:cNvSpPr>
          <p:nvPr>
            <p:ph type="body" idx="18" sz="quarter"/>
          </p:nvPr>
        </p:nvSpPr>
        <p:spPr>
          <a:xfrm>
            <a:ext cx="12344400" cy="0"/>
          </a:xfrm>
        </p:spPr>
        <p:txBody>
          <a:bodyPr/>
          <a:lstStyle/>
          <a:p>
            <a:r>
              <a:t>Falta una herramienta accesible que mida, detecte y explique la fatiga</a:t>
            </a:r>
          </a:p>
        </p:txBody>
      </p:sp>
      <p:graphicFrame>
        <p:nvGraphicFramePr>
          <p:cNvPr id="5" name="Table 4"/>
          <p:cNvGraphicFramePr>
            <a:graphicFrameLocks noGrp="1"/>
          </p:cNvGraphicFramePr>
          <p:nvPr/>
        </p:nvGraphicFramePr>
        <p:xfrm>
          <a:off x="905256" y="2743200"/>
          <a:ext cx="12801600" cy="2514600"/>
        </p:xfrm>
        <a:graphic>
          <a:graphicData uri="http://schemas.openxmlformats.org/drawingml/2006/table">
            <a:tbl>
              <a:tblPr firstRow="1" bandRow="1">
                <a:tableStyleId>{5C22544A-7EE6-4342-B048-85BDC9FD1C3A}</a:tableStyleId>
              </a:tblPr>
              <a:tblGrid>
                <a:gridCol w="2651760"/>
                <a:gridCol w="3108960"/>
                <a:gridCol w="3657600"/>
                <a:gridCol w="3383280"/>
              </a:tblGrid>
              <a:tr h="502920">
                <a:tc>
                  <a:txBody>
                    <a:bodyPr/>
                    <a:lstStyle/>
                    <a:p/>
                  </a:txBody>
                  <a:tcPr marL="91440" marR="91440" marT="27432" marB="27432" anchor="ctr">
                    <a:solidFill>
                      <a:srgbClr val="FF3228"/>
                    </a:solidFill>
                  </a:tcPr>
                </a:tc>
                <a:tc>
                  <a:txBody>
                    <a:bodyPr/>
                    <a:lstStyle/>
                    <a:p>
                      <a:r>
                        <a:rPr sz="1200" b="1">
                          <a:solidFill>
                            <a:srgbClr val="FFFFFF"/>
                          </a:solidFill>
                        </a:rPr>
                        <a:t>Observación del entrenador</a:t>
                      </a:r>
                    </a:p>
                  </a:txBody>
                  <a:tcPr marL="91440" marR="91440" marT="27432" marB="27432" anchor="ctr">
                    <a:solidFill>
                      <a:srgbClr val="FF3228"/>
                    </a:solidFill>
                  </a:tcPr>
                </a:tc>
                <a:tc>
                  <a:txBody>
                    <a:bodyPr/>
                    <a:lstStyle/>
                    <a:p>
                      <a:r>
                        <a:rPr sz="1200" b="1">
                          <a:solidFill>
                            <a:srgbClr val="FFFFFF"/>
                          </a:solidFill>
                        </a:rPr>
                        <a:t>Sistemas instrumentados</a:t>
                      </a:r>
                    </a:p>
                  </a:txBody>
                  <a:tcPr marL="91440" marR="91440" marT="27432" marB="27432" anchor="ctr">
                    <a:solidFill>
                      <a:srgbClr val="FF3228"/>
                    </a:solidFill>
                  </a:tcPr>
                </a:tc>
                <a:tc>
                  <a:txBody>
                    <a:bodyPr/>
                    <a:lstStyle/>
                    <a:p>
                      <a:r>
                        <a:rPr sz="1200" b="1">
                          <a:solidFill>
                            <a:srgbClr val="FFFFFF"/>
                          </a:solidFill>
                        </a:rPr>
                        <a:t>StrokeLab</a:t>
                      </a:r>
                    </a:p>
                  </a:txBody>
                  <a:tcPr marL="91440" marR="91440" marT="27432" marB="27432" anchor="ctr">
                    <a:solidFill>
                      <a:srgbClr val="FF3228"/>
                    </a:solidFill>
                  </a:tcPr>
                </a:tc>
              </a:tr>
              <a:tr h="502920">
                <a:tc>
                  <a:txBody>
                    <a:bodyPr/>
                    <a:lstStyle/>
                    <a:p>
                      <a:r>
                        <a:rPr sz="1200" b="0">
                          <a:solidFill>
                            <a:srgbClr val="1E1E1E"/>
                          </a:solidFill>
                        </a:rPr>
                        <a:t>Entrada</a:t>
                      </a:r>
                    </a:p>
                  </a:txBody>
                  <a:tcPr marL="91440" marR="91440" marT="27432" marB="27432" anchor="ctr">
                    <a:solidFill>
                      <a:srgbClr val="FFFFFF"/>
                    </a:solidFill>
                  </a:tcPr>
                </a:tc>
                <a:tc>
                  <a:txBody>
                    <a:bodyPr/>
                    <a:lstStyle/>
                    <a:p>
                      <a:r>
                        <a:rPr sz="1200" b="0">
                          <a:solidFill>
                            <a:srgbClr val="1E1E1E"/>
                          </a:solidFill>
                        </a:rPr>
                        <a:t>El ojo del entrenador</a:t>
                      </a:r>
                    </a:p>
                  </a:txBody>
                  <a:tcPr marL="91440" marR="91440" marT="27432" marB="27432" anchor="ctr">
                    <a:solidFill>
                      <a:srgbClr val="FFFFFF"/>
                    </a:solidFill>
                  </a:tcPr>
                </a:tc>
                <a:tc>
                  <a:txBody>
                    <a:bodyPr/>
                    <a:lstStyle/>
                    <a:p>
                      <a:r>
                        <a:rPr sz="1200" b="0">
                          <a:solidFill>
                            <a:srgbClr val="1E1E1E"/>
                          </a:solidFill>
                        </a:rPr>
                        <a:t>Sensores inerciales, varias cámaras o marcadores</a:t>
                      </a:r>
                    </a:p>
                  </a:txBody>
                  <a:tcPr marL="91440" marR="91440" marT="27432" marB="27432" anchor="ctr">
                    <a:solidFill>
                      <a:srgbClr val="FFFFFF"/>
                    </a:solidFill>
                  </a:tcPr>
                </a:tc>
                <a:tc>
                  <a:txBody>
                    <a:bodyPr/>
                    <a:lstStyle/>
                    <a:p>
                      <a:r>
                        <a:rPr sz="1200" b="0">
                          <a:solidFill>
                            <a:srgbClr val="1E1E1E"/>
                          </a:solidFill>
                        </a:rPr>
                        <a:t>Un único vídeo convencional</a:t>
                      </a:r>
                    </a:p>
                  </a:txBody>
                  <a:tcPr marL="91440" marR="91440" marT="27432" marB="27432" anchor="ctr">
                    <a:solidFill>
                      <a:srgbClr val="FFFFFF"/>
                    </a:solidFill>
                  </a:tcPr>
                </a:tc>
              </a:tr>
              <a:tr h="502920">
                <a:tc>
                  <a:txBody>
                    <a:bodyPr/>
                    <a:lstStyle/>
                    <a:p>
                      <a:r>
                        <a:rPr sz="1200" b="0">
                          <a:solidFill>
                            <a:srgbClr val="1E1E1E"/>
                          </a:solidFill>
                        </a:rPr>
                        <a:t>Coste y equipo</a:t>
                      </a:r>
                    </a:p>
                  </a:txBody>
                  <a:tcPr marL="91440" marR="91440" marT="27432" marB="27432" anchor="ctr">
                    <a:solidFill>
                      <a:srgbClr val="EEEDED"/>
                    </a:solidFill>
                  </a:tcPr>
                </a:tc>
                <a:tc>
                  <a:txBody>
                    <a:bodyPr/>
                    <a:lstStyle/>
                    <a:p>
                      <a:r>
                        <a:rPr sz="1200" b="0">
                          <a:solidFill>
                            <a:srgbClr val="1E1E1E"/>
                          </a:solidFill>
                        </a:rPr>
                        <a:t>Ninguno</a:t>
                      </a:r>
                    </a:p>
                  </a:txBody>
                  <a:tcPr marL="91440" marR="91440" marT="27432" marB="27432" anchor="ctr">
                    <a:solidFill>
                      <a:srgbClr val="EEEDED"/>
                    </a:solidFill>
                  </a:tcPr>
                </a:tc>
                <a:tc>
                  <a:txBody>
                    <a:bodyPr/>
                    <a:lstStyle/>
                    <a:p>
                      <a:r>
                        <a:rPr sz="1200" b="0">
                          <a:solidFill>
                            <a:srgbClr val="1E1E1E"/>
                          </a:solidFill>
                        </a:rPr>
                        <a:t>Coste elevado</a:t>
                      </a:r>
                    </a:p>
                  </a:txBody>
                  <a:tcPr marL="91440" marR="91440" marT="27432" marB="27432" anchor="ctr">
                    <a:solidFill>
                      <a:srgbClr val="EEEDED"/>
                    </a:solidFill>
                  </a:tcPr>
                </a:tc>
                <a:tc>
                  <a:txBody>
                    <a:bodyPr/>
                    <a:lstStyle/>
                    <a:p>
                      <a:r>
                        <a:rPr sz="1200" b="0">
                          <a:solidFill>
                            <a:srgbClr val="1E1E1E"/>
                          </a:solidFill>
                        </a:rPr>
                        <a:t>Portátil sin GPU, ejecución local</a:t>
                      </a:r>
                    </a:p>
                  </a:txBody>
                  <a:tcPr marL="91440" marR="91440" marT="27432" marB="27432" anchor="ctr">
                    <a:solidFill>
                      <a:srgbClr val="EEEDED"/>
                    </a:solidFill>
                  </a:tcPr>
                </a:tc>
              </a:tr>
              <a:tr h="502920">
                <a:tc>
                  <a:txBody>
                    <a:bodyPr/>
                    <a:lstStyle/>
                    <a:p>
                      <a:r>
                        <a:rPr sz="1200" b="0">
                          <a:solidFill>
                            <a:srgbClr val="1E1E1E"/>
                          </a:solidFill>
                        </a:rPr>
                        <a:t>¿Cuándo empieza la fatiga?</a:t>
                      </a:r>
                    </a:p>
                  </a:txBody>
                  <a:tcPr marL="91440" marR="91440" marT="27432" marB="27432" anchor="ctr">
                    <a:solidFill>
                      <a:srgbClr val="FFFFFF"/>
                    </a:solidFill>
                  </a:tcPr>
                </a:tc>
                <a:tc>
                  <a:txBody>
                    <a:bodyPr/>
                    <a:lstStyle/>
                    <a:p>
                      <a:r>
                        <a:rPr sz="1200" b="0">
                          <a:solidFill>
                            <a:srgbClr val="1E1E1E"/>
                          </a:solidFill>
                        </a:rPr>
                        <a:t>No se fija con precisión</a:t>
                      </a:r>
                    </a:p>
                  </a:txBody>
                  <a:tcPr marL="91440" marR="91440" marT="27432" marB="27432" anchor="ctr">
                    <a:solidFill>
                      <a:srgbClr val="FFFFFF"/>
                    </a:solidFill>
                  </a:tcPr>
                </a:tc>
                <a:tc>
                  <a:txBody>
                    <a:bodyPr/>
                    <a:lstStyle/>
                    <a:p>
                      <a:r>
                        <a:rPr sz="1200" b="0">
                          <a:solidFill>
                            <a:srgbClr val="1E1E1E"/>
                          </a:solidFill>
                        </a:rPr>
                        <a:t>Miden la técnica o la fatiga por separado</a:t>
                      </a:r>
                    </a:p>
                  </a:txBody>
                  <a:tcPr marL="91440" marR="91440" marT="27432" marB="27432" anchor="ctr">
                    <a:solidFill>
                      <a:srgbClr val="FFFFFF"/>
                    </a:solidFill>
                  </a:tcPr>
                </a:tc>
                <a:tc>
                  <a:txBody>
                    <a:bodyPr/>
                    <a:lstStyle/>
                    <a:p>
                      <a:r>
                        <a:rPr sz="1200" b="0">
                          <a:solidFill>
                            <a:srgbClr val="1E1E1E"/>
                          </a:solidFill>
                        </a:rPr>
                        <a:t>Ciclo de inicio, sin etiquetas</a:t>
                      </a:r>
                    </a:p>
                  </a:txBody>
                  <a:tcPr marL="91440" marR="91440" marT="27432" marB="27432" anchor="ctr">
                    <a:solidFill>
                      <a:srgbClr val="FFFFFF"/>
                    </a:solidFill>
                  </a:tcPr>
                </a:tc>
              </a:tr>
              <a:tr h="502920">
                <a:tc>
                  <a:txBody>
                    <a:bodyPr/>
                    <a:lstStyle/>
                    <a:p>
                      <a:r>
                        <a:rPr sz="1200" b="0">
                          <a:solidFill>
                            <a:srgbClr val="1E1E1E"/>
                          </a:solidFill>
                        </a:rPr>
                        <a:t>¿Por qué? (qué variable)</a:t>
                      </a:r>
                    </a:p>
                  </a:txBody>
                  <a:tcPr marL="91440" marR="91440" marT="27432" marB="27432" anchor="ctr">
                    <a:solidFill>
                      <a:srgbClr val="EEEDED"/>
                    </a:solidFill>
                  </a:tcPr>
                </a:tc>
                <a:tc>
                  <a:txBody>
                    <a:bodyPr/>
                    <a:lstStyle/>
                    <a:p>
                      <a:r>
                        <a:rPr sz="1200" b="0">
                          <a:solidFill>
                            <a:srgbClr val="1E1E1E"/>
                          </a:solidFill>
                        </a:rPr>
                        <a:t>No se sabe cuál cambia primero</a:t>
                      </a:r>
                    </a:p>
                  </a:txBody>
                  <a:tcPr marL="91440" marR="91440" marT="27432" marB="27432" anchor="ctr">
                    <a:solidFill>
                      <a:srgbClr val="EEEDED"/>
                    </a:solidFill>
                  </a:tcPr>
                </a:tc>
                <a:tc>
                  <a:txBody>
                    <a:bodyPr/>
                    <a:lstStyle/>
                    <a:p>
                      <a:r>
                        <a:rPr sz="1200" b="0">
                          <a:solidFill>
                            <a:srgbClr val="1E1E1E"/>
                          </a:solidFill>
                        </a:rPr>
                        <a:t>Métricas sin explicar su relación con el estado</a:t>
                      </a:r>
                    </a:p>
                  </a:txBody>
                  <a:tcPr marL="91440" marR="91440" marT="27432" marB="27432" anchor="ctr">
                    <a:solidFill>
                      <a:srgbClr val="EEEDED"/>
                    </a:solidFill>
                  </a:tcPr>
                </a:tc>
                <a:tc>
                  <a:txBody>
                    <a:bodyPr/>
                    <a:lstStyle/>
                    <a:p>
                      <a:r>
                        <a:rPr sz="1200" b="0">
                          <a:solidFill>
                            <a:srgbClr val="1E1E1E"/>
                          </a:solidFill>
                        </a:rPr>
                        <a:t>SHAP por variable y texto para el entrenador</a:t>
                      </a:r>
                    </a:p>
                  </a:txBody>
                  <a:tcPr marL="91440" marR="91440" marT="27432" marB="27432" anchor="ctr">
                    <a:solidFill>
                      <a:srgbClr val="EEEDED"/>
                    </a:solidFill>
                  </a:tcPr>
                </a:tc>
              </a:tr>
            </a:tbl>
          </a:graphicData>
        </a:graphic>
      </p:graphicFrame>
      <p:sp>
        <p:nvSpPr>
          <p:cNvPr id="6" name="Rectangle 5"/>
          <p:cNvSpPr/>
          <p:nvPr/>
        </p:nvSpPr>
        <p:spPr>
          <a:xfrm>
            <a:off x="905256" y="5486400"/>
            <a:ext cx="12801600" cy="9601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5486400"/>
            <a:ext cx="12252960" cy="960120"/>
          </a:xfrm>
          <a:prstGeom prst="rect">
            <a:avLst/>
          </a:prstGeom>
          <a:noFill/>
        </p:spPr>
        <p:txBody>
          <a:bodyPr wrap="square" anchor="ctr" lIns="0" rIns="0" tIns="0" bIns="0">
            <a:spAutoFit/>
          </a:bodyPr>
          <a:lstStyle/>
          <a:p>
            <a:pPr algn="l">
              <a:spcAft>
                <a:spcPts val="600"/>
              </a:spcAft>
            </a:pPr>
            <a:r>
              <a:rPr sz="1400" b="1">
                <a:solidFill>
                  <a:srgbClr val="FF3228"/>
                </a:solidFill>
              </a:rPr>
              <a:t>Preguntas de investigación: </a:t>
            </a:r>
            <a:r>
              <a:rPr sz="1400" b="0">
                <a:solidFill>
                  <a:srgbClr val="FFFFFF"/>
                </a:solidFill>
              </a:rPr>
              <a:t>(1) pose bajo el agua en CPU · (2) de la pose a ciclos y variables biomecánicas · (3, la central) sin etiquetas, en qué ciclo se degrada la técnica y qué variables lo explican.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y aportación</a:t>
            </a:r>
          </a:p>
        </p:txBody>
      </p:sp>
      <p:sp>
        <p:nvSpPr>
          <p:cNvPr id="4" name="Text Placeholder 3"/>
          <p:cNvSpPr>
            <a:spLocks noGrp="1"/>
          </p:cNvSpPr>
          <p:nvPr>
            <p:ph type="body" idx="18" sz="quarter"/>
          </p:nvPr>
        </p:nvSpPr>
        <p:spPr>
          <a:xfrm>
            <a:ext cx="12344400" cy="0"/>
          </a:xfrm>
        </p:spPr>
        <p:txBody>
          <a:bodyPr/>
          <a:lstStyle/>
          <a:p>
            <a:r>
              <a:t>IA explicable desde un vídeo, en un portátil sin GPU</a:t>
            </a:r>
          </a:p>
        </p:txBody>
      </p:sp>
      <p:sp>
        <p:nvSpPr>
          <p:cNvPr id="5" name="Rectangle 4"/>
          <p:cNvSpPr/>
          <p:nvPr/>
        </p:nvSpPr>
        <p:spPr>
          <a:xfrm>
            <a:off x="905256" y="274320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914400"/>
          </a:xfrm>
          <a:prstGeom prst="rect">
            <a:avLst/>
          </a:prstGeom>
          <a:noFill/>
        </p:spPr>
        <p:txBody>
          <a:bodyPr wrap="square" anchor="ctr" lIns="0" rIns="0" tIns="0" bIns="0">
            <a:spAutoFit/>
          </a:bodyPr>
          <a:lstStyle/>
          <a:p>
            <a:pPr algn="l">
              <a:spcAft>
                <a:spcPts val="600"/>
              </a:spcAft>
            </a:pPr>
            <a:r>
              <a:rPr sz="1400" b="1">
                <a:solidFill>
                  <a:srgbClr val="FF3228"/>
                </a:solidFill>
              </a:rPr>
              <a:t>Objetivo general: </a:t>
            </a:r>
            <a:r>
              <a:rPr sz="1400" b="0">
                <a:solidFill>
                  <a:srgbClr val="FFFFFF"/>
                </a:solidFill>
              </a:rPr>
              <a:t>cuantificar la eficiencia de la técnica, detectar el inicio de la fatiga técnica y atribuir sus causas a variables biomecánicas con valores de Shapley, a partir de un vídeo y sin GPU.</a:t>
            </a:r>
          </a:p>
        </p:txBody>
      </p:sp>
      <p:sp>
        <p:nvSpPr>
          <p:cNvPr id="7" name="Rectangle 6"/>
          <p:cNvSpPr/>
          <p:nvPr/>
        </p:nvSpPr>
        <p:spPr>
          <a:xfrm>
            <a:off x="90525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3385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Visión</a:t>
            </a:r>
          </a:p>
        </p:txBody>
      </p:sp>
      <p:sp>
        <p:nvSpPr>
          <p:cNvPr id="9" name="TextBox 8"/>
          <p:cNvSpPr txBox="1"/>
          <p:nvPr/>
        </p:nvSpPr>
        <p:spPr>
          <a:xfrm>
            <a:off x="113385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OE1 · elegir el modelo de pose en CPU</a:t>
            </a:r>
          </a:p>
          <a:p>
            <a:pPr algn="l">
              <a:spcAft>
                <a:spcPts val="400"/>
              </a:spcAft>
            </a:pPr>
            <a:r>
              <a:rPr sz="1200" b="0">
                <a:solidFill>
                  <a:srgbClr val="1E1E1E"/>
                </a:solidFill>
              </a:rPr>
              <a:t>OE2 · elevar a 3D y evaluarlo</a:t>
            </a:r>
          </a:p>
        </p:txBody>
      </p:sp>
      <p:sp>
        <p:nvSpPr>
          <p:cNvPr id="10" name="TextBox 9"/>
          <p:cNvSpPr txBox="1"/>
          <p:nvPr/>
        </p:nvSpPr>
        <p:spPr>
          <a:xfrm>
            <a:off x="113385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de visión</a:t>
            </a:r>
          </a:p>
        </p:txBody>
      </p:sp>
      <p:sp>
        <p:nvSpPr>
          <p:cNvPr id="11" name="Rectangle 10"/>
          <p:cNvSpPr/>
          <p:nvPr/>
        </p:nvSpPr>
        <p:spPr>
          <a:xfrm>
            <a:off x="415137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997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Ciclos y variables</a:t>
            </a:r>
          </a:p>
        </p:txBody>
      </p:sp>
      <p:sp>
        <p:nvSpPr>
          <p:cNvPr id="13" name="TextBox 12"/>
          <p:cNvSpPr txBox="1"/>
          <p:nvPr/>
        </p:nvSpPr>
        <p:spPr>
          <a:xfrm>
            <a:off x="437997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OE3 · ciclos validados con conteo manual</a:t>
            </a:r>
          </a:p>
          <a:p>
            <a:pPr algn="l">
              <a:spcAft>
                <a:spcPts val="400"/>
              </a:spcAft>
            </a:pPr>
            <a:r>
              <a:rPr sz="1200" b="0">
                <a:solidFill>
                  <a:srgbClr val="1E1E1E"/>
                </a:solidFill>
              </a:rPr>
              <a:t>OE4 · eficiencia y ángulos por ciclo</a:t>
            </a:r>
          </a:p>
          <a:p>
            <a:pPr algn="l">
              <a:spcAft>
                <a:spcPts val="400"/>
              </a:spcAft>
            </a:pPr>
            <a:r>
              <a:rPr sz="1200" b="0">
                <a:solidFill>
                  <a:srgbClr val="1E1E1E"/>
                </a:solidFill>
              </a:rPr>
              <a:t>OE7 · estilo de nado</a:t>
            </a:r>
          </a:p>
        </p:txBody>
      </p:sp>
      <p:sp>
        <p:nvSpPr>
          <p:cNvPr id="14" name="TextBox 13"/>
          <p:cNvSpPr txBox="1"/>
          <p:nvPr/>
        </p:nvSpPr>
        <p:spPr>
          <a:xfrm>
            <a:off x="437997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tabular</a:t>
            </a:r>
          </a:p>
        </p:txBody>
      </p:sp>
      <p:sp>
        <p:nvSpPr>
          <p:cNvPr id="15" name="Rectangle 14"/>
          <p:cNvSpPr/>
          <p:nvPr/>
        </p:nvSpPr>
        <p:spPr>
          <a:xfrm>
            <a:off x="7397496" y="3840480"/>
            <a:ext cx="3063240" cy="22402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6" y="3977639"/>
            <a:ext cx="2651760" cy="365760"/>
          </a:xfrm>
          <a:prstGeom prst="rect">
            <a:avLst/>
          </a:prstGeom>
          <a:noFill/>
        </p:spPr>
        <p:txBody>
          <a:bodyPr wrap="square" anchor="t" lIns="0" rIns="0" tIns="0" bIns="0">
            <a:spAutoFit/>
          </a:bodyPr>
          <a:lstStyle/>
          <a:p>
            <a:pPr algn="l">
              <a:spcAft>
                <a:spcPts val="600"/>
              </a:spcAft>
            </a:pPr>
            <a:r>
              <a:rPr sz="1600" b="1">
                <a:solidFill>
                  <a:srgbClr val="FFFFFF"/>
                </a:solidFill>
              </a:rPr>
              <a:t>Fatiga explicable</a:t>
            </a:r>
          </a:p>
        </p:txBody>
      </p:sp>
      <p:sp>
        <p:nvSpPr>
          <p:cNvPr id="17" name="TextBox 16"/>
          <p:cNvSpPr txBox="1"/>
          <p:nvPr/>
        </p:nvSpPr>
        <p:spPr>
          <a:xfrm>
            <a:off x="7626096" y="4434840"/>
            <a:ext cx="2651760" cy="1280160"/>
          </a:xfrm>
          <a:prstGeom prst="rect">
            <a:avLst/>
          </a:prstGeom>
          <a:noFill/>
        </p:spPr>
        <p:txBody>
          <a:bodyPr wrap="square" anchor="t" lIns="0" rIns="0" tIns="0" bIns="0">
            <a:spAutoFit/>
          </a:bodyPr>
          <a:lstStyle/>
          <a:p>
            <a:pPr algn="l">
              <a:spcAft>
                <a:spcPts val="400"/>
              </a:spcAft>
            </a:pPr>
            <a:r>
              <a:rPr sz="1200" b="0">
                <a:solidFill>
                  <a:srgbClr val="FFFFFF"/>
                </a:solidFill>
              </a:rPr>
              <a:t>OE5 · inicio respecto al propio nadador</a:t>
            </a:r>
          </a:p>
          <a:p>
            <a:pPr algn="l">
              <a:spcAft>
                <a:spcPts val="400"/>
              </a:spcAft>
            </a:pPr>
            <a:r>
              <a:rPr sz="1200" b="0">
                <a:solidFill>
                  <a:srgbClr val="FFFFFF"/>
                </a:solidFill>
              </a:rPr>
              <a:t>OE6 · causas con SHAP y en texto</a:t>
            </a:r>
          </a:p>
        </p:txBody>
      </p:sp>
      <p:sp>
        <p:nvSpPr>
          <p:cNvPr id="18" name="TextBox 17"/>
          <p:cNvSpPr txBox="1"/>
          <p:nvPr/>
        </p:nvSpPr>
        <p:spPr>
          <a:xfrm>
            <a:off x="7626096" y="5715000"/>
            <a:ext cx="2651760" cy="274320"/>
          </a:xfrm>
          <a:prstGeom prst="rect">
            <a:avLst/>
          </a:prstGeom>
          <a:noFill/>
        </p:spPr>
        <p:txBody>
          <a:bodyPr wrap="square" anchor="t" lIns="0" rIns="0" tIns="0" bIns="0">
            <a:spAutoFit/>
          </a:bodyPr>
          <a:lstStyle/>
          <a:p>
            <a:pPr algn="l">
              <a:spcAft>
                <a:spcPts val="600"/>
              </a:spcAft>
            </a:pPr>
            <a:r>
              <a:rPr sz="1000" b="0">
                <a:solidFill>
                  <a:srgbClr val="FFFFFF"/>
                </a:solidFill>
              </a:rPr>
              <a:t>Vertical tabular + XAI</a:t>
            </a:r>
          </a:p>
        </p:txBody>
      </p:sp>
      <p:sp>
        <p:nvSpPr>
          <p:cNvPr id="19" name="Rectangle 18"/>
          <p:cNvSpPr/>
          <p:nvPr/>
        </p:nvSpPr>
        <p:spPr>
          <a:xfrm>
            <a:off x="10643615"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872215"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Entrega y validación</a:t>
            </a:r>
          </a:p>
        </p:txBody>
      </p:sp>
      <p:sp>
        <p:nvSpPr>
          <p:cNvPr id="21" name="TextBox 20"/>
          <p:cNvSpPr txBox="1"/>
          <p:nvPr/>
        </p:nvSpPr>
        <p:spPr>
          <a:xfrm>
            <a:off x="10872215"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OE8 · vídeo anotado y tiempo real</a:t>
            </a:r>
          </a:p>
          <a:p>
            <a:pPr algn="l">
              <a:spcAft>
                <a:spcPts val="400"/>
              </a:spcAft>
            </a:pPr>
            <a:r>
              <a:rPr sz="1200" b="0">
                <a:solidFill>
                  <a:srgbClr val="1E1E1E"/>
                </a:solidFill>
              </a:rPr>
              <a:t>OE9 · datos sintéticos de referencia conocida</a:t>
            </a:r>
          </a:p>
        </p:txBody>
      </p:sp>
      <p:sp>
        <p:nvSpPr>
          <p:cNvPr id="22" name="TextBox 21"/>
          <p:cNvSpPr txBox="1"/>
          <p:nvPr/>
        </p:nvSpPr>
        <p:spPr>
          <a:xfrm>
            <a:off x="10872215"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Producto y evaluación</a:t>
            </a:r>
          </a:p>
        </p:txBody>
      </p:sp>
      <p:sp>
        <p:nvSpPr>
          <p:cNvPr id="23" name="TextBox 22"/>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300" b="1">
                <a:solidFill>
                  <a:srgbClr val="FF3228"/>
                </a:solidFill>
              </a:rPr>
              <a:t>Aportación: </a:t>
            </a:r>
            <a:r>
              <a:rPr sz="1300" b="0">
                <a:solidFill>
                  <a:srgbClr val="1E1E1E"/>
                </a:solidFill>
              </a:rPr>
              <a:t>detección no supervisada del inicio de la fatiga y atribución por variable interpretable, en un sistema de bajo coste. No está en el detector de pose, sino en lo que se construye sobre él.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frente a los objetivos</a:t>
            </a:r>
          </a:p>
        </p:txBody>
      </p:sp>
      <p:sp>
        <p:nvSpPr>
          <p:cNvPr id="4" name="Text Placeholder 3"/>
          <p:cNvSpPr>
            <a:spLocks noGrp="1"/>
          </p:cNvSpPr>
          <p:nvPr>
            <p:ph type="body" idx="18" sz="quarter"/>
          </p:nvPr>
        </p:nvSpPr>
        <p:spPr>
          <a:xfrm>
            <a:ext cx="12344400" cy="0"/>
          </a:xfrm>
        </p:spPr>
        <p:txBody>
          <a:bodyPr/>
          <a:lstStyle/>
          <a:p>
            <a:r>
              <a:t>7 cumplidos y 2 parciales · reales y sintéticos, por separado</a:t>
            </a:r>
          </a:p>
        </p:txBody>
      </p:sp>
      <p:graphicFrame>
        <p:nvGraphicFramePr>
          <p:cNvPr id="5" name="Table 4"/>
          <p:cNvGraphicFramePr>
            <a:graphicFrameLocks noGrp="1"/>
          </p:cNvGraphicFramePr>
          <p:nvPr/>
        </p:nvGraphicFramePr>
        <p:xfrm>
          <a:off x="905256" y="2743200"/>
          <a:ext cx="12801600" cy="3840480"/>
        </p:xfrm>
        <a:graphic>
          <a:graphicData uri="http://schemas.openxmlformats.org/drawingml/2006/table">
            <a:tbl>
              <a:tblPr firstRow="1" bandRow="1">
                <a:tableStyleId>{5C22544A-7EE6-4342-B048-85BDC9FD1C3A}</a:tableStyleId>
              </a:tblPr>
              <a:tblGrid>
                <a:gridCol w="2926080"/>
                <a:gridCol w="7589520"/>
                <a:gridCol w="2286000"/>
              </a:tblGrid>
              <a:tr h="384048">
                <a:tc>
                  <a:txBody>
                    <a:bodyPr/>
                    <a:lstStyle/>
                    <a:p>
                      <a:r>
                        <a:rPr sz="1100" b="1">
                          <a:solidFill>
                            <a:srgbClr val="FFFFFF"/>
                          </a:solidFill>
                        </a:rPr>
                        <a:t>Objetivo</a:t>
                      </a:r>
                    </a:p>
                  </a:txBody>
                  <a:tcPr marL="91440" marR="91440" marT="27432" marB="27432" anchor="ctr">
                    <a:solidFill>
                      <a:srgbClr val="FF3228"/>
                    </a:solidFill>
                  </a:tcPr>
                </a:tc>
                <a:tc>
                  <a:txBody>
                    <a:bodyPr/>
                    <a:lstStyle/>
                    <a:p>
                      <a:r>
                        <a:rPr sz="1100" b="1">
                          <a:solidFill>
                            <a:srgbClr val="FFFFFF"/>
                          </a:solidFill>
                        </a:rPr>
                        <a:t>Resultado medido</a:t>
                      </a:r>
                    </a:p>
                  </a:txBody>
                  <a:tcPr marL="91440" marR="91440" marT="27432" marB="27432" anchor="ctr">
                    <a:solidFill>
                      <a:srgbClr val="FF3228"/>
                    </a:solidFill>
                  </a:tcPr>
                </a:tc>
                <a:tc>
                  <a:txBody>
                    <a:bodyPr/>
                    <a:lstStyle/>
                    <a:p>
                      <a:r>
                        <a:rPr sz="1100" b="1">
                          <a:solidFill>
                            <a:srgbClr val="FFFFFF"/>
                          </a:solidFill>
                        </a:rPr>
                        <a:t>Estado</a:t>
                      </a:r>
                    </a:p>
                  </a:txBody>
                  <a:tcPr marL="91440" marR="91440" marT="27432" marB="27432" anchor="ctr">
                    <a:solidFill>
                      <a:srgbClr val="FF3228"/>
                    </a:solidFill>
                  </a:tcPr>
                </a:tc>
              </a:tr>
              <a:tr h="384048">
                <a:tc>
                  <a:txBody>
                    <a:bodyPr/>
                    <a:lstStyle/>
                    <a:p>
                      <a:r>
                        <a:rPr sz="1100" b="0">
                          <a:solidFill>
                            <a:srgbClr val="1E1E1E"/>
                          </a:solidFill>
                        </a:rPr>
                        <a:t>OE1 · Modelo de pose</a:t>
                      </a:r>
                    </a:p>
                  </a:txBody>
                  <a:tcPr marL="91440" marR="91440" marT="27432" marB="27432" anchor="ctr">
                    <a:solidFill>
                      <a:srgbClr val="FFFFFF"/>
                    </a:solidFill>
                  </a:tcPr>
                </a:tc>
                <a:tc>
                  <a:txBody>
                    <a:bodyPr/>
                    <a:lstStyle/>
                    <a:p>
                      <a:r>
                        <a:rPr sz="1100" b="0">
                          <a:solidFill>
                            <a:srgbClr val="1E1E1E"/>
                          </a:solidFill>
                        </a:rPr>
                        <a:t>Comparativa en CPU; YOLOv8n-Pose elegido y justificado</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OE2 · Elevación a 3D</a:t>
                      </a:r>
                    </a:p>
                  </a:txBody>
                  <a:tcPr marL="91440" marR="91440" marT="27432" marB="27432" anchor="ctr">
                    <a:solidFill>
                      <a:srgbClr val="EEEDED"/>
                    </a:solidFill>
                  </a:tcPr>
                </a:tc>
                <a:tc>
                  <a:txBody>
                    <a:bodyPr/>
                    <a:lstStyle/>
                    <a:p>
                      <a:r>
                        <a:rPr sz="1100" b="0">
                          <a:solidFill>
                            <a:srgbClr val="1E1E1E"/>
                          </a:solidFill>
                        </a:rPr>
                        <a:t>Implementada y evaluada; válida en codo y cadera, no en rodilla</a:t>
                      </a:r>
                    </a:p>
                  </a:txBody>
                  <a:tcPr marL="91440" marR="91440" marT="27432" marB="27432" anchor="ctr">
                    <a:solidFill>
                      <a:srgbClr val="EEEDED"/>
                    </a:solidFill>
                  </a:tcPr>
                </a:tc>
                <a:tc>
                  <a:txBody>
                    <a:bodyPr/>
                    <a:lstStyle/>
                    <a:p>
                      <a:r>
                        <a:rPr sz="1100" b="0">
                          <a:solidFill>
                            <a:srgbClr val="1E1E1E"/>
                          </a:solidFill>
                        </a:rPr>
                        <a:t>Cumplido con limitaciones</a:t>
                      </a:r>
                    </a:p>
                  </a:txBody>
                  <a:tcPr marL="91440" marR="91440" marT="27432" marB="27432" anchor="ctr">
                    <a:solidFill>
                      <a:srgbClr val="EEEDED"/>
                    </a:solidFill>
                  </a:tcPr>
                </a:tc>
              </a:tr>
              <a:tr h="384048">
                <a:tc>
                  <a:txBody>
                    <a:bodyPr/>
                    <a:lstStyle/>
                    <a:p>
                      <a:r>
                        <a:rPr sz="1100" b="0">
                          <a:solidFill>
                            <a:srgbClr val="1E1E1E"/>
                          </a:solidFill>
                        </a:rPr>
                        <a:t>OE3 · Ciclos de brazada</a:t>
                      </a:r>
                    </a:p>
                  </a:txBody>
                  <a:tcPr marL="91440" marR="91440" marT="27432" marB="27432" anchor="ctr">
                    <a:solidFill>
                      <a:srgbClr val="FFFFFF"/>
                    </a:solidFill>
                  </a:tcPr>
                </a:tc>
                <a:tc>
                  <a:txBody>
                    <a:bodyPr/>
                    <a:lstStyle/>
                    <a:p>
                      <a:r>
                        <a:rPr sz="1100" b="0">
                          <a:solidFill>
                            <a:srgbClr val="1E1E1E"/>
                          </a:solidFill>
                        </a:rPr>
                        <a:t>Error de la frecuencia del 6,5 % al 8,2 % frente al conteo manual; vista automática</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OE4 · Variables por ciclo</a:t>
                      </a:r>
                    </a:p>
                  </a:txBody>
                  <a:tcPr marL="91440" marR="91440" marT="27432" marB="27432" anchor="ctr">
                    <a:solidFill>
                      <a:srgbClr val="EEEDED"/>
                    </a:solidFill>
                  </a:tcPr>
                </a:tc>
                <a:tc>
                  <a:txBody>
                    <a:bodyPr/>
                    <a:lstStyle/>
                    <a:p>
                      <a:r>
                        <a:rPr sz="1100" b="0">
                          <a:solidFill>
                            <a:srgbClr val="1E1E1E"/>
                          </a:solidFill>
                        </a:rPr>
                        <a:t>17 secuencias reales, 95 ciclos válidos; eficiencia y ángulos de codo, hombro, cadera, rodilla y pies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OE5 · Inicio de la fatiga</a:t>
                      </a:r>
                    </a:p>
                  </a:txBody>
                  <a:tcPr marL="91440" marR="91440" marT="27432" marB="27432" anchor="ctr">
                    <a:solidFill>
                      <a:srgbClr val="FFAFAA"/>
                    </a:solidFill>
                  </a:tcPr>
                </a:tc>
                <a:tc>
                  <a:txBody>
                    <a:bodyPr/>
                    <a:lstStyle/>
                    <a:p>
                      <a:r>
                        <a:rPr sz="1100" b="1">
                          <a:solidFill>
                            <a:srgbClr val="1E1E1E"/>
                          </a:solidFill>
                        </a:rPr>
                        <a:t>Sintéticos: detección 100 %, falsas alarmas 10 %; tiempo real 10/10; sin referencia fisiológica</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OE6 · Atribución SHAP</a:t>
                      </a:r>
                    </a:p>
                  </a:txBody>
                  <a:tcPr marL="91440" marR="91440" marT="27432" marB="27432" anchor="ctr">
                    <a:solidFill>
                      <a:srgbClr val="EEEDED"/>
                    </a:solidFill>
                  </a:tcPr>
                </a:tc>
                <a:tc>
                  <a:txBody>
                    <a:bodyPr/>
                    <a:lstStyle/>
                    <a:p>
                      <a:r>
                        <a:rPr sz="1100" b="0">
                          <a:solidFill>
                            <a:srgbClr val="1E1E1E"/>
                          </a:solidFill>
                        </a:rPr>
                        <a:t>Global, local y en texto; coincide con las variables alteradas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OE7 · Estilo de nado</a:t>
                      </a:r>
                    </a:p>
                  </a:txBody>
                  <a:tcPr marL="91440" marR="91440" marT="27432" marB="27432" anchor="ctr">
                    <a:solidFill>
                      <a:srgbClr val="FFAFAA"/>
                    </a:solidFill>
                  </a:tcPr>
                </a:tc>
                <a:tc>
                  <a:txBody>
                    <a:bodyPr/>
                    <a:lstStyle/>
                    <a:p>
                      <a:r>
                        <a:rPr sz="1100" b="1">
                          <a:solidFill>
                            <a:srgbClr val="1E1E1E"/>
                          </a:solidFill>
                        </a:rPr>
                        <a:t>Supervisado: 100 % sintético, no generaliza; reglas: familia correcta en 12 de 13 vídeos reales</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OE8 · Vídeo y tiempo real</a:t>
                      </a:r>
                    </a:p>
                  </a:txBody>
                  <a:tcPr marL="91440" marR="91440" marT="27432" marB="27432" anchor="ctr">
                    <a:solidFill>
                      <a:srgbClr val="EEEDED"/>
                    </a:solidFill>
                  </a:tcPr>
                </a:tc>
                <a:tc>
                  <a:txBody>
                    <a:bodyPr/>
                    <a:lstStyle/>
                    <a:p>
                      <a:r>
                        <a:rPr sz="1100" b="0">
                          <a:solidFill>
                            <a:srgbClr val="1E1E1E"/>
                          </a:solidFill>
                        </a:rPr>
                        <a:t>Panel de fatiga por ciclo en el vídeo anotado y en tiempo real</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0">
                          <a:solidFill>
                            <a:srgbClr val="1E1E1E"/>
                          </a:solidFill>
                        </a:rPr>
                        <a:t>OE9 · Datos sintéticos</a:t>
                      </a:r>
                    </a:p>
                  </a:txBody>
                  <a:tcPr marL="91440" marR="91440" marT="27432" marB="27432" anchor="ctr">
                    <a:solidFill>
                      <a:srgbClr val="FFFFFF"/>
                    </a:solidFill>
                  </a:tcPr>
                </a:tc>
                <a:tc>
                  <a:txBody>
                    <a:bodyPr/>
                    <a:lstStyle/>
                    <a:p>
                      <a:r>
                        <a:rPr sz="1100" b="0">
                          <a:solidFill>
                            <a:srgbClr val="1E1E1E"/>
                          </a:solidFill>
                        </a:rPr>
                        <a:t>Referencia conocida: errores medianos 4,7 % (SR), 1,3 % (velocidad), 4,3 % (DPS)</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bl>
          </a:graphicData>
        </a:graphic>
      </p:graphicFrame>
      <p:sp>
        <p:nvSpPr>
          <p:cNvPr id="6" name="TextBox 5"/>
          <p:cNvSpPr txBox="1"/>
          <p:nvPr/>
        </p:nvSpPr>
        <p:spPr>
          <a:xfrm>
            <a:off x="905256" y="67208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Reales: nadador analizable el 34 % del tiempo grabado; 0 falsas alarmas en 3 sesiones de pasadas cortas (sin fatiga, como se esperaba).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Alcance y conclusiones</a:t>
            </a:r>
          </a:p>
        </p:txBody>
      </p:sp>
      <p:sp>
        <p:nvSpPr>
          <p:cNvPr id="4" name="Text Placeholder 3"/>
          <p:cNvSpPr>
            <a:spLocks noGrp="1"/>
          </p:cNvSpPr>
          <p:nvPr>
            <p:ph type="body" idx="18" sz="quarter"/>
          </p:nvPr>
        </p:nvSpPr>
        <p:spPr>
          <a:xfrm>
            <a:ext cx="12344400" cy="0"/>
          </a:xfrm>
        </p:spPr>
        <p:txBody>
          <a:bodyPr/>
          <a:lstStyle/>
          <a:p>
            <a:r>
              <a:t>Dónde terminan las cifras y dónde empieza el trabajo futuro</a:t>
            </a:r>
          </a:p>
        </p:txBody>
      </p:sp>
      <p:sp>
        <p:nvSpPr>
          <p:cNvPr id="5" name="Rectangle 4"/>
          <p:cNvSpPr/>
          <p:nvPr/>
        </p:nvSpPr>
        <p:spPr>
          <a:xfrm>
            <a:off x="90525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Fatiga sin referencia real</a:t>
            </a:r>
          </a:p>
        </p:txBody>
      </p:sp>
      <p:sp>
        <p:nvSpPr>
          <p:cNvPr id="7" name="TextBox 6"/>
          <p:cNvSpPr txBox="1"/>
          <p:nvPr/>
        </p:nvSpPr>
        <p:spPr>
          <a:xfrm>
            <a:off x="113385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Validada con datos sintéticos; las sesiones reales son pasadas cortas, sin fatiga.</a:t>
            </a:r>
          </a:p>
        </p:txBody>
      </p:sp>
      <p:sp>
        <p:nvSpPr>
          <p:cNvPr id="8" name="Rectangle 7"/>
          <p:cNvSpPr/>
          <p:nvPr/>
        </p:nvSpPr>
        <p:spPr>
          <a:xfrm>
            <a:off x="520293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3153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Detección parcial</a:t>
            </a:r>
          </a:p>
        </p:txBody>
      </p:sp>
      <p:sp>
        <p:nvSpPr>
          <p:cNvPr id="10" name="TextBox 9"/>
          <p:cNvSpPr txBox="1"/>
          <p:nvPr/>
        </p:nvSpPr>
        <p:spPr>
          <a:xfrm>
            <a:off x="543153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Nadador analizable el 34 % del tiempo; en lateral el modelo copia el brazo oculto.</a:t>
            </a:r>
          </a:p>
        </p:txBody>
      </p:sp>
      <p:sp>
        <p:nvSpPr>
          <p:cNvPr id="11" name="Rectangle 10"/>
          <p:cNvSpPr/>
          <p:nvPr/>
        </p:nvSpPr>
        <p:spPr>
          <a:xfrm>
            <a:off x="950061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2921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Umbrales optimistas</a:t>
            </a:r>
          </a:p>
        </p:txBody>
      </p:sp>
      <p:sp>
        <p:nvSpPr>
          <p:cNvPr id="13" name="TextBox 12"/>
          <p:cNvSpPr txBox="1"/>
          <p:nvPr/>
        </p:nvSpPr>
        <p:spPr>
          <a:xfrm>
            <a:off x="972921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Vista y estilo se fijaron con los mismos vídeos; falta validar con nadadores nuevos.</a:t>
            </a:r>
          </a:p>
        </p:txBody>
      </p:sp>
      <p:sp>
        <p:nvSpPr>
          <p:cNvPr id="14" name="TextBox 13"/>
          <p:cNvSpPr txBox="1"/>
          <p:nvPr/>
        </p:nvSpPr>
        <p:spPr>
          <a:xfrm>
            <a:off x="905256" y="4572000"/>
            <a:ext cx="6217920" cy="365760"/>
          </a:xfrm>
          <a:prstGeom prst="rect">
            <a:avLst/>
          </a:prstGeom>
          <a:noFill/>
        </p:spPr>
        <p:txBody>
          <a:bodyPr wrap="square" anchor="t" lIns="0" rIns="0" tIns="0" bIns="0">
            <a:spAutoFit/>
          </a:bodyPr>
          <a:lstStyle/>
          <a:p>
            <a:pPr algn="l">
              <a:spcAft>
                <a:spcPts val="600"/>
              </a:spcAft>
            </a:pPr>
            <a:r>
              <a:rPr sz="1700" b="1">
                <a:solidFill>
                  <a:srgbClr val="FF3228"/>
                </a:solidFill>
              </a:rPr>
              <a:t>Conclusiones</a:t>
            </a:r>
          </a:p>
        </p:txBody>
      </p:sp>
      <p:sp>
        <p:nvSpPr>
          <p:cNvPr id="15" name="TextBox 14"/>
          <p:cNvSpPr txBox="1"/>
          <p:nvPr/>
        </p:nvSpPr>
        <p:spPr>
          <a:xfrm>
            <a:off x="905256" y="4983480"/>
            <a:ext cx="6217920" cy="1920240"/>
          </a:xfrm>
          <a:prstGeom prst="rect">
            <a:avLst/>
          </a:prstGeom>
          <a:noFill/>
        </p:spPr>
        <p:txBody>
          <a:bodyPr wrap="square" anchor="t" lIns="0" rIns="0" tIns="0" bIns="0">
            <a:spAutoFit/>
          </a:bodyPr>
          <a:lstStyle/>
          <a:p>
            <a:pPr algn="l">
              <a:spcAft>
                <a:spcPts val="600"/>
              </a:spcAft>
            </a:pPr>
            <a:r>
              <a:rPr sz="1300" b="0">
                <a:solidFill>
                  <a:srgbClr val="1E1E1E"/>
                </a:solidFill>
              </a:rPr>
              <a:t>•  Sistema completo en CPU: del vídeo a cuándo empieza la fatiga y por qué</a:t>
            </a:r>
          </a:p>
          <a:p>
            <a:pPr algn="l">
              <a:spcAft>
                <a:spcPts val="600"/>
              </a:spcAft>
            </a:pPr>
            <a:r>
              <a:rPr sz="1300" b="0">
                <a:solidFill>
                  <a:srgbClr val="1E1E1E"/>
                </a:solidFill>
              </a:rPr>
              <a:t>•  La debilidad está en los datos reales, no en el modelo ni en la arquitectura</a:t>
            </a:r>
          </a:p>
          <a:p>
            <a:pPr algn="l">
              <a:spcAft>
                <a:spcPts val="600"/>
              </a:spcAft>
            </a:pPr>
            <a:r>
              <a:rPr sz="1300" b="0">
                <a:solidFill>
                  <a:srgbClr val="1E1E1E"/>
                </a:solidFill>
              </a:rPr>
              <a:t>•  La calidad de los datos pesa más que el modelo: el 99,99 % de una versión anterior era fuga de datos</a:t>
            </a:r>
          </a:p>
        </p:txBody>
      </p:sp>
      <p:sp>
        <p:nvSpPr>
          <p:cNvPr id="16" name="Rectangle 15"/>
          <p:cNvSpPr/>
          <p:nvPr/>
        </p:nvSpPr>
        <p:spPr>
          <a:xfrm>
            <a:off x="7498079" y="4572000"/>
            <a:ext cx="6217920" cy="2286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663440"/>
            <a:ext cx="5760720" cy="365760"/>
          </a:xfrm>
          <a:prstGeom prst="rect">
            <a:avLst/>
          </a:prstGeom>
          <a:noFill/>
        </p:spPr>
        <p:txBody>
          <a:bodyPr wrap="square" anchor="t" lIns="0" rIns="0" tIns="0" bIns="0">
            <a:spAutoFit/>
          </a:bodyPr>
          <a:lstStyle/>
          <a:p>
            <a:pPr algn="l">
              <a:spcAft>
                <a:spcPts val="600"/>
              </a:spcAft>
            </a:pPr>
            <a:r>
              <a:rPr sz="1700" b="1">
                <a:solidFill>
                  <a:srgbClr val="FFFFFF"/>
                </a:solidFill>
              </a:rPr>
              <a:t>Líneas futuras</a:t>
            </a:r>
          </a:p>
        </p:txBody>
      </p:sp>
      <p:sp>
        <p:nvSpPr>
          <p:cNvPr id="18" name="TextBox 17"/>
          <p:cNvSpPr txBox="1"/>
          <p:nvPr/>
        </p:nvSpPr>
        <p:spPr>
          <a:xfrm>
            <a:off x="7726679" y="5074920"/>
            <a:ext cx="5760720" cy="1737360"/>
          </a:xfrm>
          <a:prstGeom prst="rect">
            <a:avLst/>
          </a:prstGeom>
          <a:noFill/>
        </p:spPr>
        <p:txBody>
          <a:bodyPr wrap="square" anchor="t" lIns="0" rIns="0" tIns="0" bIns="0">
            <a:spAutoFit/>
          </a:bodyPr>
          <a:lstStyle/>
          <a:p>
            <a:pPr algn="l">
              <a:spcAft>
                <a:spcPts val="400"/>
              </a:spcAft>
            </a:pPr>
            <a:r>
              <a:rPr sz="1200" b="0">
                <a:solidFill>
                  <a:srgbClr val="FFFFFF"/>
                </a:solidFill>
              </a:rPr>
              <a:t>•  Series largas de nado continuo con lactato, esfuerzo percibido y valoración experta</a:t>
            </a:r>
          </a:p>
          <a:p>
            <a:pPr algn="l">
              <a:spcAft>
                <a:spcPts val="400"/>
              </a:spcAft>
            </a:pPr>
            <a:r>
              <a:rPr sz="1200" b="0">
                <a:solidFill>
                  <a:srgbClr val="FFFFFF"/>
                </a:solidFill>
              </a:rPr>
              <a:t>•  Anotar fotogramas propios: OKS, PCK y mAP; ajuste fino con SwimXYZ</a:t>
            </a:r>
          </a:p>
          <a:p>
            <a:pPr algn="l">
              <a:spcAft>
                <a:spcPts val="400"/>
              </a:spcAft>
            </a:pPr>
            <a:r>
              <a:rPr sz="1200" b="0">
                <a:solidFill>
                  <a:srgbClr val="FFFFFF"/>
                </a:solidFill>
              </a:rPr>
              <a:t>•  Adaptar MotionBERT a nadadores; ViTPose con GPU</a:t>
            </a:r>
          </a:p>
          <a:p>
            <a:pPr algn="l">
              <a:spcAft>
                <a:spcPts val="400"/>
              </a:spcAft>
            </a:pPr>
            <a:r>
              <a:rPr sz="1200" b="0">
                <a:solidFill>
                  <a:srgbClr val="FFFFFF"/>
                </a:solidFill>
              </a:rPr>
              <a:t>•  Modo audio y sensores inerciales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