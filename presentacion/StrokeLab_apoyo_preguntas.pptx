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21.xml" ContentType="application/vnd.openxmlformats-officedocument.presentationml.notesSlide+xml"/>
  <Override PartName="/ppt/notesSlides/notesSlide31.xml" ContentType="application/vnd.openxmlformats-officedocument.presentationml.notesSlide+xml"/>
  <Override PartName="/ppt/notesSlides/notesSlide38.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8.xml" ContentType="application/vnd.openxmlformats-officedocument.presentationml.slide+xml"/>
  <Override PartName="/ppt/slides/slide21.xml" ContentType="application/vnd.openxmlformats-officedocument.presentationml.slide+xml"/>
  <Override PartName="/ppt/slides/slide3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55" r:id="rId47"/>
    <p:sldId id="322" r:id="rId14"/>
    <p:sldId id="335" r:id="rId27"/>
    <p:sldId id="348" r:id="rId40"/>
    <p:sldId id="324" r:id="rId16"/>
    <p:sldId id="326" r:id="rId18"/>
    <p:sldId id="327" r:id="rId19"/>
    <p:sldId id="329" r:id="rId21"/>
    <p:sldId id="331" r:id="rId23"/>
    <p:sldId id="332" r:id="rId24"/>
    <p:sldId id="338" r:id="rId30"/>
    <p:sldId id="356" r:id="rId48"/>
    <p:sldId id="360" r:id="rId52"/>
    <p:sldId id="361" r:id="rId53"/>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4" Type="http://schemas.openxmlformats.org/officeDocument/2006/relationships/slide" Target="slides/slide5.xml"/><Relationship Id="rId16" Type="http://schemas.openxmlformats.org/officeDocument/2006/relationships/slide" Target="slides/slide7.xml"/><Relationship Id="rId18" Type="http://schemas.openxmlformats.org/officeDocument/2006/relationships/slide" Target="slides/slide9.xml"/><Relationship Id="rId19" Type="http://schemas.openxmlformats.org/officeDocument/2006/relationships/slide" Target="slides/slide10.xml"/><Relationship Id="rId21" Type="http://schemas.openxmlformats.org/officeDocument/2006/relationships/slide" Target="slides/slide12.xml"/><Relationship Id="rId23" Type="http://schemas.openxmlformats.org/officeDocument/2006/relationships/slide" Target="slides/slide14.xml"/><Relationship Id="rId24" Type="http://schemas.openxmlformats.org/officeDocument/2006/relationships/slide" Target="slides/slide15.xml"/><Relationship Id="rId27" Type="http://schemas.openxmlformats.org/officeDocument/2006/relationships/slide" Target="slides/slide18.xml"/><Relationship Id="rId30" Type="http://schemas.openxmlformats.org/officeDocument/2006/relationships/slide" Target="slides/slide21.xml"/><Relationship Id="rId40" Type="http://schemas.openxmlformats.org/officeDocument/2006/relationships/slide" Target="slides/slide31.xml"/><Relationship Id="rId47" Type="http://schemas.openxmlformats.org/officeDocument/2006/relationships/slide" Target="slides/slide38.xml"/><Relationship Id="rId48" Type="http://schemas.openxmlformats.org/officeDocument/2006/relationships/slide" Target="slides/slide39.xml"/><Relationship Id="rId52" Type="http://schemas.openxmlformats.org/officeDocument/2006/relationships/slide" Target="slides/slide43.xml"/><Relationship Id="rId53" Type="http://schemas.openxmlformats.org/officeDocument/2006/relationships/slide" Target="slides/slide4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30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arquitectura. La vertical de visión estima la pose: 17 puntos del cuerpo por fotograma con YOLOv8n en 2D y MotionBERT en 3D, y los limpia con filtros anatómicos. La vertical tabular divide el nado en ciclos de brazada, calcula por ciclo la frecuencia, la distancia por ciclo y los ángulos de codo, hombro, cadera, rodilla y tronco, aprende el patrón fresco del propio nadador con Isolation Forest y explica cada desviación con SHAP. El resultado llega al entrenador como vídeo anotado, tablas y un texto. [≈ 50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tres familias. Los descendentes, como HRNet o ViTPose, detectan primero a la persona y después sus puntos: son los más precisos en COCO, pero caros en CPU. Los ascendentes, como OpenPose, detectan todos los puntos y luego los agrupan. Y los de una etapa, como YOLO-Pose, sacan la caja y los 17 puntos en una sola pasada. La precisión en COCO está medida con personas en tierra, así que no decide sola: medí los candidatos en mi vídeo subacuático. YOLOv8n detecta igual que YOLOv8s con 3,3 millones de parámetros frente a 11,6 y a 6,6 FPS frente a 3,3, el doble de velocidad; YOLO11n da resultados equivalentes sin ser más rápido; y frente a MoveNet, que fue mi primera elección por fluidez, YOLO detecta con el doble de confianza y da 15 ciclos válidos frente a 3. Como el vídeo anotado se genera después del análisis, la fluidez de MoveNet dejó de importar.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cámara, infinitas posturas 3D dan la misma imagen, así que la profundidad se predice con un modelo que ha aprendido cómo se mueve el cuerpo: MotionBERT, un transformer preentrenado con Human3.6M, actores de pie en un laboratorio. Para acercar el nadador a lo que conoce, centro cada fotograma en la pelvis, giro el tronco a vertical y normalizo la escala; los ángulos no cambian con ese giro. Lo validé comparando con el 2D en vista lateral: codo, hombro y cadera son coherentes, pero la rodilla sale a 107 grados, como sentado, cuando la imagen la muestra casi extendida. Decisión: en lateral uso el 2D y guardo el 3D aparte; de frente o en diagonal, donde el 2D se deforma por la perspectiva, uso el 3D. [≈ 1 min 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Parte de mis vídeos son laterales y parte frontales, y la señal que sirve en uno no sirve en el otro. Primero, la vista se decide sola: divido el vídeo en tramos de 60 segundos y miro la orientación del tronco; de lado es casi horizontal y de frente casi vertical. Un fotograma suelto no basta porque YOLO a veces pone un esqueleto de pie. En lateral cuento brazadas con la profundidad de la mano más profunda: cada máximo es una brazada. Uso la más profunda porque YOLO copia el brazo visible en el oculto. De frente esa profundidad no se ve, así que uso el recorrido de cada muñeca en la dirección en que más se mueve, que saco con PCA, medido en anchos de hombros. El ritmo es la mediana de los intervalos dentro del rango fisiológico de cada estilo, lo que lo hace robusto a los huecos.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para entrenarla hacen falta ciclos etiquetados como fatigados, y no los hay. Isolation Forest no los necesita: se entrena solo con la fase fresca del propio nadador. Su idea es sencilla: lo raro se aísla con pocos cortes aleatorios. Si un ciclo queda aislado enseguida, su puntuación se acerca a 1. Además no supone ninguna distribución, tiene coste lineal y, al ser de árboles, admite valores SHAP exactos. Antes de entrenar estandarizo cada variable con la media y la desviación de la fase fresca, y quito las variables redundantes, como la velocidad, que es frecuencia por distancia. [≈ 55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parámetros del detector los fijé a priori y después comprobé su efecto con datos sintéticos, donde sé cuándo empieza la fatiga. El percentil del umbral es lo que más pesa. Con el 90 lo detecta todo, pero con un 30 % de falsas alarmas y antes de tiempo. Con el 99 no hay falsas alarmas, pero pierde un 40 % de las fatigas y llega tarde. El 95 detecta todas, con un 10 % de falsas alarmas, y sitúa el inicio en el centro de la transición. Como contraste uso PELT, un detector de cambios que no tiene nada que ver con Isolation Forest: si los dos coinciden, la detección es más creíble. En la secuencia de 90 s: ciclo 35 frente a ciclo 33. [≈ 1 min 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viene de la teoría de juegos: reparte de forma justa la puntuación de un ciclo entre sus variables, y la suma de las partes da la puntuación. Eso permite explicar un ciclo concreto y también todo el nado. Para modelos de árboles existe TreeSHAP, que calcula los valores exactos, no aproximados, en tiempo polinómico; por eso fue un criterio al elegir Isolation Forest y el bosque aleatorio. Invierto el signo para que positivo signifique «acerca a la fatiga», y en cada ejecución compruebo que la suma de SHAP se mueve con la puntuación: 0,999 en la secuencia de 90 s. [≈ 55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las decisiones. Ninguna se tomó por preferencia: cada cambio responde a algo que medí. La más importante para mí es la de la validación: una versión anterior daba un 99,99 % de exactitud por fotograma y era fuga de datos; desde entonces todo se valida por vídeo o por participante. [≈ 35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un número suelto. El vídeo anotado muestra en cada momento si el nadador está fresco o fatigado, el ciclo y la frecuencia, y una barra con la anomalía de cada ciclo y el umbral. El modo en tiempo real hace lo mismo mientras se reproduce el vídeo o la cámara, y muestra las causas de SHAP en directo. Además, el sistema decide solo la vista y la familia del estilo, y procesa listas de vídeos por lotes. [≈ 45 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nadadores reales: 17 secuencias de 4 participantes y 4 estilos, 95 ciclos válidos, la frecuencia con un error del 6,5 al 8,2 % frente al conteo manual y la familia del estilo bien en 12 de 13. En las sesiones reales no hubo fatiga ni falsas alarmas: son pasadas cortas con descansos. La gran limitación es la detección: el nadador fue analizable el 34 % del tiempo. Como no tengo una referencia real de fatiga, la compruebo con datos sintéticos donde sé la verdad: detecta el 100 % con un 10 % de falsas alarmas, y en tiempo real 10 de 10. [≈ 55 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qué YOLOv8n: es el más ligero sin perder detección, y en el vídeo real dio muchos más ciclos válidos que MoveNet. ViTPose se descartó por coste en CPU.</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sesión mostró fatiga ni falsas alarmas. Son pasadas cortas a ritmo técnico con descansos, no un esfuerzo continuo. No demuestra la capacidad de detectar fatiga real, pero sí que el sistema no inventa fatiga.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la validación con referencia conocida: en vista lateral se estiman frecuencia, velocidad y distancia por ciclo con errores medianos del 4,7, 1,3 y 4,3 %; de frente, la frecuencia con un 0,3 %. El inicio se detecta a los 57,3 s, al comienzo de la transición, y SHAP señala variables alteradas en la simulación.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1.xml"/><Relationship Id="rId3" Type="http://schemas.openxmlformats.org/officeDocument/2006/relationships/image" Target="../media/image5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Dos verticales de IA</a:t>
            </a:r>
          </a:p>
        </p:txBody>
      </p:sp>
      <p:pic>
        <p:nvPicPr>
          <p:cNvPr id="5" name="Picture 4" descr="arquitectura.png"/>
          <p:cNvPicPr>
            <a:picLocks noChangeAspect="1"/>
          </p:cNvPicPr>
          <p:nvPr/>
        </p:nvPicPr>
        <p:blipFill>
          <a:blip r:embed="rId3"/>
          <a:stretch>
            <a:fillRect/>
          </a:stretch>
        </p:blipFill>
        <p:spPr>
          <a:xfrm>
            <a:off x="2819028" y="2057400"/>
            <a:ext cx="8992343" cy="5486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Pose 2D: por qué YOLOv8n</a:t>
            </a:r>
          </a:p>
        </p:txBody>
      </p:sp>
      <p:sp>
        <p:nvSpPr>
          <p:cNvPr id="4" name="Text Placeholder 3"/>
          <p:cNvSpPr>
            <a:spLocks noGrp="1"/>
          </p:cNvSpPr>
          <p:nvPr>
            <p:ph type="body" idx="18" sz="quarter"/>
          </p:nvPr>
        </p:nvSpPr>
        <p:spPr>
          <a:xfrm>
            <a:off x="906463" y="2172974"/>
            <a:ext cx="12344400" cy="594092"/>
          </a:xfrm>
        </p:spPr>
        <p:txBody>
          <a:bodyPr/>
          <a:lstStyle/>
          <a:p>
            <a:r>
              <a:t>Ocho modelos considerados; cuatro medidos en el vídeo real</a:t>
            </a:r>
          </a:p>
        </p:txBody>
      </p:sp>
      <p:graphicFrame>
        <p:nvGraphicFramePr>
          <p:cNvPr id="5" name="Table 4"/>
          <p:cNvGraphicFramePr>
            <a:graphicFrameLocks noGrp="1"/>
          </p:cNvGraphicFramePr>
          <p:nvPr/>
        </p:nvGraphicFramePr>
        <p:xfrm>
          <a:off x="905256" y="2743200"/>
          <a:ext cx="6949440" cy="3657600"/>
        </p:xfrm>
        <a:graphic>
          <a:graphicData uri="http://schemas.openxmlformats.org/drawingml/2006/table">
            <a:tbl>
              <a:tblPr firstRow="1" bandRow="1">
                <a:tableStyleId>{5C22544A-7EE6-4342-B048-85BDC9FD1C3A}</a:tableStyleId>
              </a:tblPr>
              <a:tblGrid>
                <a:gridCol w="2148840"/>
                <a:gridCol w="1600200"/>
                <a:gridCol w="1097280"/>
                <a:gridCol w="2103120"/>
              </a:tblGrid>
              <a:tr h="457200">
                <a:tc>
                  <a:txBody>
                    <a:bodyPr/>
                    <a:lstStyle/>
                    <a:p>
                      <a:r>
                        <a:rPr sz="1200" b="1">
                          <a:solidFill>
                            <a:srgbClr val="FFFFFF"/>
                          </a:solidFill>
                        </a:rPr>
                        <a:t>Modelo</a:t>
                      </a:r>
                    </a:p>
                  </a:txBody>
                  <a:tcPr marL="91440" marR="91440" marT="27432" marB="27432" anchor="ctr">
                    <a:solidFill>
                      <a:srgbClr val="FF3228"/>
                    </a:solidFill>
                  </a:tcPr>
                </a:tc>
                <a:tc>
                  <a:txBody>
                    <a:bodyPr/>
                    <a:lstStyle/>
                    <a:p>
                      <a:r>
                        <a:rPr sz="1200" b="1">
                          <a:solidFill>
                            <a:srgbClr val="FFFFFF"/>
                          </a:solidFill>
                        </a:rPr>
                        <a:t>Tipo</a:t>
                      </a:r>
                    </a:p>
                  </a:txBody>
                  <a:tcPr marL="91440" marR="91440" marT="27432" marB="27432" anchor="ctr">
                    <a:solidFill>
                      <a:srgbClr val="FF3228"/>
                    </a:solidFill>
                  </a:tcPr>
                </a:tc>
                <a:tc>
                  <a:txBody>
                    <a:bodyPr/>
                    <a:lstStyle/>
                    <a:p>
                      <a:r>
                        <a:rPr sz="1200" b="1">
                          <a:solidFill>
                            <a:srgbClr val="FFFFFF"/>
                          </a:solidFill>
                        </a:rPr>
                        <a:t>AP COCO</a:t>
                      </a:r>
                    </a:p>
                  </a:txBody>
                  <a:tcPr marL="91440" marR="91440" marT="27432" marB="27432" anchor="ctr">
                    <a:solidFill>
                      <a:srgbClr val="FF3228"/>
                    </a:solidFill>
                  </a:tcPr>
                </a:tc>
                <a:tc>
                  <a:txBody>
                    <a:bodyPr/>
                    <a:lstStyle/>
                    <a:p>
                      <a:r>
                        <a:rPr sz="1200" b="1">
                          <a:solidFill>
                            <a:srgbClr val="FFFFFF"/>
                          </a:solidFill>
                        </a:rPr>
                        <a:t>Papel</a:t>
                      </a:r>
                    </a:p>
                  </a:txBody>
                  <a:tcPr marL="91440" marR="91440" marT="27432" marB="27432" anchor="ctr">
                    <a:solidFill>
                      <a:srgbClr val="FF3228"/>
                    </a:solidFill>
                  </a:tcPr>
                </a:tc>
              </a:tr>
              <a:tr h="457200">
                <a:tc>
                  <a:txBody>
                    <a:bodyPr/>
                    <a:lstStyle/>
                    <a:p>
                      <a:r>
                        <a:rPr sz="1200" b="0">
                          <a:solidFill>
                            <a:srgbClr val="1E1E1E"/>
                          </a:solidFill>
                        </a:rPr>
                        <a:t>ViTPose-G</a:t>
                      </a:r>
                    </a:p>
                  </a:txBody>
                  <a:tcPr marL="91440" marR="91440" marT="27432" marB="27432" anchor="ctr">
                    <a:solidFill>
                      <a:srgbClr val="FFFFFF"/>
                    </a:solidFill>
                  </a:tcPr>
                </a:tc>
                <a:tc>
                  <a:txBody>
                    <a:bodyPr/>
                    <a:lstStyle/>
                    <a:p>
                      <a:r>
                        <a:rPr sz="1200" b="0">
                          <a:solidFill>
                            <a:srgbClr val="1E1E1E"/>
                          </a:solidFill>
                        </a:rPr>
                        <a:t>Transformer</a:t>
                      </a:r>
                    </a:p>
                  </a:txBody>
                  <a:tcPr marL="91440" marR="91440" marT="27432" marB="27432" anchor="ctr">
                    <a:solidFill>
                      <a:srgbClr val="FFFFFF"/>
                    </a:solidFill>
                  </a:tcPr>
                </a:tc>
                <a:tc>
                  <a:txBody>
                    <a:bodyPr/>
                    <a:lstStyle/>
                    <a:p>
                      <a:r>
                        <a:rPr sz="1200" b="0">
                          <a:solidFill>
                            <a:srgbClr val="1E1E1E"/>
                          </a:solidFill>
                        </a:rPr>
                        <a:t>80,9</a:t>
                      </a:r>
                    </a:p>
                  </a:txBody>
                  <a:tcPr marL="91440" marR="91440" marT="27432" marB="27432" anchor="ctr">
                    <a:solidFill>
                      <a:srgbClr val="FFFFFF"/>
                    </a:solidFill>
                  </a:tcPr>
                </a:tc>
                <a:tc>
                  <a:txBody>
                    <a:bodyPr/>
                    <a:lstStyle/>
                    <a:p>
                      <a:r>
                        <a:rPr sz="1200" b="0">
                          <a:solidFill>
                            <a:srgbClr val="1E1E1E"/>
                          </a:solidFill>
                        </a:rPr>
                        <a:t>Trabajo futuro</a:t>
                      </a:r>
                    </a:p>
                  </a:txBody>
                  <a:tcPr marL="91440" marR="91440" marT="27432" marB="27432" anchor="ctr">
                    <a:solidFill>
                      <a:srgbClr val="FFFFFF"/>
                    </a:solidFill>
                  </a:tcPr>
                </a:tc>
              </a:tr>
              <a:tr h="457200">
                <a:tc>
                  <a:txBody>
                    <a:bodyPr/>
                    <a:lstStyle/>
                    <a:p>
                      <a:r>
                        <a:rPr sz="1200" b="0">
                          <a:solidFill>
                            <a:srgbClr val="1E1E1E"/>
                          </a:solidFill>
                        </a:rPr>
                        <a:t>HRNet-W48</a:t>
                      </a:r>
                    </a:p>
                  </a:txBody>
                  <a:tcPr marL="91440" marR="91440" marT="27432" marB="27432" anchor="ctr">
                    <a:solidFill>
                      <a:srgbClr val="EEEDED"/>
                    </a:solidFill>
                  </a:tcPr>
                </a:tc>
                <a:tc>
                  <a:txBody>
                    <a:bodyPr/>
                    <a:lstStyle/>
                    <a:p>
                      <a:r>
                        <a:rPr sz="1200" b="0">
                          <a:solidFill>
                            <a:srgbClr val="1E1E1E"/>
                          </a:solidFill>
                        </a:rPr>
                        <a:t>Descendente</a:t>
                      </a:r>
                    </a:p>
                  </a:txBody>
                  <a:tcPr marL="91440" marR="91440" marT="27432" marB="27432" anchor="ctr">
                    <a:solidFill>
                      <a:srgbClr val="EEEDED"/>
                    </a:solidFill>
                  </a:tcPr>
                </a:tc>
                <a:tc>
                  <a:txBody>
                    <a:bodyPr/>
                    <a:lstStyle/>
                    <a:p>
                      <a:r>
                        <a:rPr sz="1200" b="0">
                          <a:solidFill>
                            <a:srgbClr val="1E1E1E"/>
                          </a:solidFill>
                        </a:rPr>
                        <a:t>75,5</a:t>
                      </a:r>
                    </a:p>
                  </a:txBody>
                  <a:tcPr marL="91440" marR="91440" marT="27432" marB="27432" anchor="ctr">
                    <a:solidFill>
                      <a:srgbClr val="EEEDED"/>
                    </a:solidFill>
                  </a:tcPr>
                </a:tc>
                <a:tc>
                  <a:txBody>
                    <a:bodyPr/>
                    <a:lstStyle/>
                    <a:p>
                      <a:r>
                        <a:rPr sz="1200" b="0">
                          <a:solidFill>
                            <a:srgbClr val="1E1E1E"/>
                          </a:solidFill>
                        </a:rPr>
                        <a:t>No usado (coste CPU)</a:t>
                      </a:r>
                    </a:p>
                  </a:txBody>
                  <a:tcPr marL="91440" marR="91440" marT="27432" marB="27432" anchor="ctr">
                    <a:solidFill>
                      <a:srgbClr val="EEEDED"/>
                    </a:solidFill>
                  </a:tcPr>
                </a:tc>
              </a:tr>
              <a:tr h="457200">
                <a:tc>
                  <a:txBody>
                    <a:bodyPr/>
                    <a:lstStyle/>
                    <a:p>
                      <a:r>
                        <a:rPr sz="1200" b="0">
                          <a:solidFill>
                            <a:srgbClr val="1E1E1E"/>
                          </a:solidFill>
                        </a:rPr>
                        <a:t>OpenPose</a:t>
                      </a:r>
                    </a:p>
                  </a:txBody>
                  <a:tcPr marL="91440" marR="91440" marT="27432" marB="27432" anchor="ctr">
                    <a:solidFill>
                      <a:srgbClr val="FFFFFF"/>
                    </a:solidFill>
                  </a:tcPr>
                </a:tc>
                <a:tc>
                  <a:txBody>
                    <a:bodyPr/>
                    <a:lstStyle/>
                    <a:p>
                      <a:r>
                        <a:rPr sz="1200" b="0">
                          <a:solidFill>
                            <a:srgbClr val="1E1E1E"/>
                          </a:solidFill>
                        </a:rPr>
                        <a:t>Ascendente</a:t>
                      </a:r>
                    </a:p>
                  </a:txBody>
                  <a:tcPr marL="91440" marR="91440" marT="27432" marB="27432" anchor="ctr">
                    <a:solidFill>
                      <a:srgbClr val="FFFFFF"/>
                    </a:solidFill>
                  </a:tcPr>
                </a:tc>
                <a:tc>
                  <a:txBody>
                    <a:bodyPr/>
                    <a:lstStyle/>
                    <a:p>
                      <a:r>
                        <a:rPr sz="1200" b="0">
                          <a:solidFill>
                            <a:srgbClr val="1E1E1E"/>
                          </a:solidFill>
                        </a:rPr>
                        <a:t>61,8</a:t>
                      </a:r>
                    </a:p>
                  </a:txBody>
                  <a:tcPr marL="91440" marR="91440" marT="27432" marB="27432" anchor="ctr">
                    <a:solidFill>
                      <a:srgbClr val="FFFFFF"/>
                    </a:solidFill>
                  </a:tcPr>
                </a:tc>
                <a:tc>
                  <a:txBody>
                    <a:bodyPr/>
                    <a:lstStyle/>
                    <a:p>
                      <a:r>
                        <a:rPr sz="1200" b="0">
                          <a:solidFill>
                            <a:srgbClr val="1E1E1E"/>
                          </a:solidFill>
                        </a:rPr>
                        <a:t>Referencia</a:t>
                      </a:r>
                    </a:p>
                  </a:txBody>
                  <a:tcPr marL="91440" marR="91440" marT="27432" marB="27432" anchor="ctr">
                    <a:solidFill>
                      <a:srgbClr val="FFFFFF"/>
                    </a:solidFill>
                  </a:tcPr>
                </a:tc>
              </a:tr>
              <a:tr h="457200">
                <a:tc>
                  <a:txBody>
                    <a:bodyPr/>
                    <a:lstStyle/>
                    <a:p>
                      <a:r>
                        <a:rPr sz="1200" b="0">
                          <a:solidFill>
                            <a:srgbClr val="1E1E1E"/>
                          </a:solidFill>
                        </a:rPr>
                        <a:t>YOLOv8s-Pose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60,0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1">
                          <a:solidFill>
                            <a:srgbClr val="1E1E1E"/>
                          </a:solidFill>
                        </a:rPr>
                        <a:t>YOLOv8n-Pose</a:t>
                      </a:r>
                    </a:p>
                  </a:txBody>
                  <a:tcPr marL="91440" marR="91440" marT="27432" marB="27432" anchor="ctr">
                    <a:solidFill>
                      <a:srgbClr val="FFAFAA"/>
                    </a:solidFill>
                  </a:tcPr>
                </a:tc>
                <a:tc>
                  <a:txBody>
                    <a:bodyPr/>
                    <a:lstStyle/>
                    <a:p>
                      <a:r>
                        <a:rPr sz="1200" b="1">
                          <a:solidFill>
                            <a:srgbClr val="1E1E1E"/>
                          </a:solidFill>
                        </a:rPr>
                        <a:t>Una etapa</a:t>
                      </a:r>
                    </a:p>
                  </a:txBody>
                  <a:tcPr marL="91440" marR="91440" marT="27432" marB="27432" anchor="ctr">
                    <a:solidFill>
                      <a:srgbClr val="FFAFAA"/>
                    </a:solidFill>
                  </a:tcPr>
                </a:tc>
                <a:tc>
                  <a:txBody>
                    <a:bodyPr/>
                    <a:lstStyle/>
                    <a:p>
                      <a:r>
                        <a:rPr sz="1200" b="1">
                          <a:solidFill>
                            <a:srgbClr val="1E1E1E"/>
                          </a:solidFill>
                        </a:rPr>
                        <a:t>50,4</a:t>
                      </a:r>
                    </a:p>
                  </a:txBody>
                  <a:tcPr marL="91440" marR="91440" marT="27432" marB="27432" anchor="ctr">
                    <a:solidFill>
                      <a:srgbClr val="FFAFAA"/>
                    </a:solidFill>
                  </a:tcPr>
                </a:tc>
                <a:tc>
                  <a:txBody>
                    <a:bodyPr/>
                    <a:lstStyle/>
                    <a:p>
                      <a:r>
                        <a:rPr sz="1200" b="1">
                          <a:solidFill>
                            <a:srgbClr val="1E1E1E"/>
                          </a:solidFill>
                        </a:rPr>
                        <a:t>Elegido</a:t>
                      </a:r>
                    </a:p>
                  </a:txBody>
                  <a:tcPr marL="91440" marR="91440" marT="27432" marB="27432" anchor="ctr">
                    <a:solidFill>
                      <a:srgbClr val="FFAFAA"/>
                    </a:solidFill>
                  </a:tcPr>
                </a:tc>
              </a:tr>
              <a:tr h="457200">
                <a:tc>
                  <a:txBody>
                    <a:bodyPr/>
                    <a:lstStyle/>
                    <a:p>
                      <a:r>
                        <a:rPr sz="1200" b="0">
                          <a:solidFill>
                            <a:srgbClr val="1E1E1E"/>
                          </a:solidFill>
                        </a:rPr>
                        <a:t>YOLO11n-Pose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50,0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0">
                          <a:solidFill>
                            <a:srgbClr val="1E1E1E"/>
                          </a:solidFill>
                        </a:rPr>
                        <a:t>MoveNet Lightning</a:t>
                      </a:r>
                    </a:p>
                  </a:txBody>
                  <a:tcPr marL="91440" marR="91440" marT="27432" marB="27432" anchor="ctr">
                    <a:solidFill>
                      <a:srgbClr val="FFFFFF"/>
                    </a:solidFill>
                  </a:tcPr>
                </a:tc>
                <a:tc>
                  <a:txBody>
                    <a:bodyPr/>
                    <a:lstStyle/>
                    <a:p>
                      <a:r>
                        <a:rPr sz="1200" b="0">
                          <a:solidFill>
                            <a:srgbClr val="1E1E1E"/>
                          </a:solidFill>
                        </a:rPr>
                        <a:t>Una persona</a:t>
                      </a:r>
                    </a:p>
                  </a:txBody>
                  <a:tcPr marL="91440" marR="91440" marT="27432" marB="27432" anchor="ctr">
                    <a:solidFill>
                      <a:srgbClr val="FFFFFF"/>
                    </a:solidFill>
                  </a:tcPr>
                </a:tc>
                <a:tc>
                  <a:txBody>
                    <a:bodyPr/>
                    <a:lstStyle/>
                    <a:p>
                      <a:r>
                        <a:rPr sz="1200" b="0">
                          <a:solidFill>
                            <a:srgbClr val="1E1E1E"/>
                          </a:solidFill>
                        </a:rPr>
                        <a:t>—</a:t>
                      </a:r>
                    </a:p>
                  </a:txBody>
                  <a:tcPr marL="91440" marR="91440" marT="27432" marB="27432" anchor="ctr">
                    <a:solidFill>
                      <a:srgbClr val="FFFFFF"/>
                    </a:solidFill>
                  </a:tcPr>
                </a:tc>
                <a:tc>
                  <a:txBody>
                    <a:bodyPr/>
                    <a:lstStyle/>
                    <a:p>
                      <a:r>
                        <a:rPr sz="1200" b="0">
                          <a:solidFill>
                            <a:srgbClr val="1E1E1E"/>
                          </a:solidFill>
                        </a:rPr>
                        <a:t>Comparado; opción</a:t>
                      </a:r>
                    </a:p>
                  </a:txBody>
                  <a:tcPr marL="91440" marR="91440" marT="27432" marB="27432" anchor="ctr">
                    <a:solidFill>
                      <a:srgbClr val="FFFFFF"/>
                    </a:solidFill>
                  </a:tcPr>
                </a:tc>
              </a:tr>
            </a:tbl>
          </a:graphicData>
        </a:graphic>
      </p:graphicFrame>
      <p:sp>
        <p:nvSpPr>
          <p:cNvPr id="6" name="Rectangle 5"/>
          <p:cNvSpPr/>
          <p:nvPr/>
        </p:nvSpPr>
        <p:spPr>
          <a:xfrm>
            <a:off x="8138160" y="2743200"/>
            <a:ext cx="5577840" cy="36576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0" y="2926080"/>
            <a:ext cx="5029200" cy="457200"/>
          </a:xfrm>
          <a:prstGeom prst="rect">
            <a:avLst/>
          </a:prstGeom>
          <a:noFill/>
        </p:spPr>
        <p:txBody>
          <a:bodyPr wrap="square" anchor="t" lIns="0" rIns="0" tIns="0" bIns="0">
            <a:spAutoFit/>
          </a:bodyPr>
          <a:lstStyle/>
          <a:p>
            <a:pPr algn="l">
              <a:spcAft>
                <a:spcPts val="600"/>
              </a:spcAft>
            </a:pPr>
            <a:r>
              <a:rPr sz="1700" b="1">
                <a:solidFill>
                  <a:srgbClr val="FF3228"/>
                </a:solidFill>
              </a:rPr>
              <a:t>¿Por qué YOLOv8n? (vídeo real, CPU)</a:t>
            </a:r>
          </a:p>
        </p:txBody>
      </p:sp>
      <p:sp>
        <p:nvSpPr>
          <p:cNvPr id="8" name="TextBox 7"/>
          <p:cNvSpPr txBox="1"/>
          <p:nvPr/>
        </p:nvSpPr>
        <p:spPr>
          <a:xfrm>
            <a:off x="8412480" y="3474720"/>
            <a:ext cx="5029200" cy="2834640"/>
          </a:xfrm>
          <a:prstGeom prst="rect">
            <a:avLst/>
          </a:prstGeom>
          <a:noFill/>
        </p:spPr>
        <p:txBody>
          <a:bodyPr wrap="square" anchor="t" lIns="0" rIns="0" tIns="0" bIns="0">
            <a:spAutoFit/>
          </a:bodyPr>
          <a:lstStyle/>
          <a:p>
            <a:pPr algn="l">
              <a:spcAft>
                <a:spcPts val="800"/>
              </a:spcAft>
            </a:pPr>
            <a:r>
              <a:rPr sz="1300" b="0">
                <a:solidFill>
                  <a:srgbClr val="1E1E1E"/>
                </a:solidFill>
              </a:rPr>
              <a:t>•  Una sola pasada: caja y 17 puntos a la vez</a:t>
            </a:r>
          </a:p>
          <a:p>
            <a:pPr algn="l">
              <a:spcAft>
                <a:spcPts val="800"/>
              </a:spcAft>
            </a:pPr>
            <a:r>
              <a:rPr sz="1300" b="0">
                <a:solidFill>
                  <a:srgbClr val="1E1E1E"/>
                </a:solidFill>
              </a:rPr>
              <a:t>•  Frente a YOLOv8s: misma detección (35,6 %) con 3,3 M parámetros frente a 11,6 M y 6,6 FPS frente a 3,3</a:t>
            </a:r>
          </a:p>
          <a:p>
            <a:pPr algn="l">
              <a:spcAft>
                <a:spcPts val="800"/>
              </a:spcAft>
            </a:pPr>
            <a:r>
              <a:rPr sz="1300" b="0">
                <a:solidFill>
                  <a:srgbClr val="1E1E1E"/>
                </a:solidFill>
              </a:rPr>
              <a:t>•  Frente a YOLO11n: resultados equivalentes (37,6 %, confianza 0,78) sin ser más rápido (6,2 FPS)</a:t>
            </a:r>
          </a:p>
          <a:p>
            <a:pPr algn="l">
              <a:spcAft>
                <a:spcPts val="800"/>
              </a:spcAft>
            </a:pPr>
            <a:r>
              <a:rPr sz="1300" b="0">
                <a:solidFill>
                  <a:srgbClr val="1E1E1E"/>
                </a:solidFill>
              </a:rPr>
              <a:t>•  Frente a MoveNet: el doble de confianza (0,73-0,77 frente a 0,34-0,37) y 15 ciclos válidos frente a 3</a:t>
            </a:r>
          </a:p>
          <a:p>
            <a:pPr algn="l">
              <a:spcAft>
                <a:spcPts val="800"/>
              </a:spcAft>
            </a:pPr>
            <a:r>
              <a:rPr sz="1300" b="0">
                <a:solidFill>
                  <a:srgbClr val="1E1E1E"/>
                </a:solidFill>
              </a:rPr>
              <a:t>•  HRNet y ViTPose: mejor AP, pero coste elevado en CPU</a:t>
            </a:r>
          </a:p>
        </p:txBody>
      </p:sp>
      <p:sp>
        <p:nvSpPr>
          <p:cNvPr id="9" name="TextBox 8"/>
          <p:cNvSpPr txBox="1"/>
          <p:nvPr/>
        </p:nvSpPr>
        <p:spPr>
          <a:xfrm>
            <a:off x="905256" y="66751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AP: precisión media en COCO según las publicaciones originales (personas en tierra). Sin anotaciones propias, la pose bajo el agua se validó con la tarea: frecuencia frente al conteo manual.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3D con MotionBERT: cuándo sí y cuándo no</a:t>
            </a:r>
          </a:p>
        </p:txBody>
      </p:sp>
      <p:sp>
        <p:nvSpPr>
          <p:cNvPr id="4" name="Text Placeholder 3"/>
          <p:cNvSpPr>
            <a:spLocks noGrp="1"/>
          </p:cNvSpPr>
          <p:nvPr>
            <p:ph type="body" idx="18" sz="quarter"/>
          </p:nvPr>
        </p:nvSpPr>
        <p:spPr>
          <a:xfrm>
            <a:off x="906463" y="2172974"/>
            <a:ext cx="12344400" cy="594092"/>
          </a:xfrm>
        </p:spPr>
        <p:txBody>
          <a:bodyPr/>
          <a:lstStyle/>
          <a:p>
            <a:r>
              <a:t>Elevación de la pose 2D a 3D con una sola cámara</a:t>
            </a:r>
          </a:p>
        </p:txBody>
      </p:sp>
      <p:sp>
        <p:nvSpPr>
          <p:cNvPr id="5" name="Rectangle 4"/>
          <p:cNvSpPr/>
          <p:nvPr/>
        </p:nvSpPr>
        <p:spPr>
          <a:xfrm>
            <a:off x="905256" y="27432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43200"/>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Elevación (lifting)</a:t>
            </a:r>
          </a:p>
        </p:txBody>
      </p:sp>
      <p:sp>
        <p:nvSpPr>
          <p:cNvPr id="8" name="TextBox 7"/>
          <p:cNvSpPr txBox="1"/>
          <p:nvPr/>
        </p:nvSpPr>
        <p:spPr>
          <a:xfrm>
            <a:off x="1828800" y="3108960"/>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La secuencia de puntos 2D entra en MotionBERT-Lite (transformer DSTformer), que predice la profundidad. ≈ 25 s por vídeo en CPU.</a:t>
            </a:r>
          </a:p>
        </p:txBody>
      </p:sp>
      <p:sp>
        <p:nvSpPr>
          <p:cNvPr id="9" name="Rectangle 8"/>
          <p:cNvSpPr/>
          <p:nvPr/>
        </p:nvSpPr>
        <p:spPr>
          <a:xfrm>
            <a:off x="905256" y="3767328"/>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767328"/>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767328"/>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 problema</a:t>
            </a:r>
          </a:p>
        </p:txBody>
      </p:sp>
      <p:sp>
        <p:nvSpPr>
          <p:cNvPr id="12" name="TextBox 11"/>
          <p:cNvSpPr txBox="1"/>
          <p:nvPr/>
        </p:nvSpPr>
        <p:spPr>
          <a:xfrm>
            <a:off x="1828800" y="4133088"/>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Preentrenado en Human3.6M: actores de pie en un laboratorio, no nadadores horizontales.</a:t>
            </a:r>
          </a:p>
        </p:txBody>
      </p:sp>
      <p:sp>
        <p:nvSpPr>
          <p:cNvPr id="13" name="Rectangle 12"/>
          <p:cNvSpPr/>
          <p:nvPr/>
        </p:nvSpPr>
        <p:spPr>
          <a:xfrm>
            <a:off x="905256" y="4791456"/>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791456"/>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791456"/>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La adaptación</a:t>
            </a:r>
          </a:p>
        </p:txBody>
      </p:sp>
      <p:sp>
        <p:nvSpPr>
          <p:cNvPr id="16" name="TextBox 15"/>
          <p:cNvSpPr txBox="1"/>
          <p:nvPr/>
        </p:nvSpPr>
        <p:spPr>
          <a:xfrm>
            <a:off x="1828800" y="5157216"/>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Centrar en la pelvis, girar el tronco a vertical y normalizar por el tamaño del cuerpo; los ángulos no cambian con el giro.</a:t>
            </a:r>
          </a:p>
        </p:txBody>
      </p:sp>
      <p:graphicFrame>
        <p:nvGraphicFramePr>
          <p:cNvPr id="17" name="Table 16"/>
          <p:cNvGraphicFramePr>
            <a:graphicFrameLocks noGrp="1"/>
          </p:cNvGraphicFramePr>
          <p:nvPr/>
        </p:nvGraphicFramePr>
        <p:xfrm>
          <a:off x="7498079" y="2743200"/>
          <a:ext cx="6217920" cy="2286000"/>
        </p:xfrm>
        <a:graphic>
          <a:graphicData uri="http://schemas.openxmlformats.org/drawingml/2006/table">
            <a:tbl>
              <a:tblPr firstRow="1" bandRow="1">
                <a:tableStyleId>{5C22544A-7EE6-4342-B048-85BDC9FD1C3A}</a:tableStyleId>
              </a:tblPr>
              <a:tblGrid>
                <a:gridCol w="1463040"/>
                <a:gridCol w="1554480"/>
                <a:gridCol w="1554480"/>
                <a:gridCol w="1645920"/>
              </a:tblGrid>
              <a:tr h="457200">
                <a:tc>
                  <a:txBody>
                    <a:bodyPr/>
                    <a:lstStyle/>
                    <a:p>
                      <a:r>
                        <a:rPr sz="1200" b="1">
                          <a:solidFill>
                            <a:srgbClr val="FFFFFF"/>
                          </a:solidFill>
                        </a:rPr>
                        <a:t>Ángulo (I / D)</a:t>
                      </a:r>
                    </a:p>
                  </a:txBody>
                  <a:tcPr marL="91440" marR="91440" marT="27432" marB="27432" anchor="ctr">
                    <a:solidFill>
                      <a:srgbClr val="FF3228"/>
                    </a:solidFill>
                  </a:tcPr>
                </a:tc>
                <a:tc>
                  <a:txBody>
                    <a:bodyPr/>
                    <a:lstStyle/>
                    <a:p>
                      <a:r>
                        <a:rPr sz="1200" b="1">
                          <a:solidFill>
                            <a:srgbClr val="FFFFFF"/>
                          </a:solidFill>
                        </a:rPr>
                        <a:t>Mediana 2D</a:t>
                      </a:r>
                    </a:p>
                  </a:txBody>
                  <a:tcPr marL="91440" marR="91440" marT="27432" marB="27432" anchor="ctr">
                    <a:solidFill>
                      <a:srgbClr val="FF3228"/>
                    </a:solidFill>
                  </a:tcPr>
                </a:tc>
                <a:tc>
                  <a:txBody>
                    <a:bodyPr/>
                    <a:lstStyle/>
                    <a:p>
                      <a:r>
                        <a:rPr sz="1200" b="1">
                          <a:solidFill>
                            <a:srgbClr val="FFFFFF"/>
                          </a:solidFill>
                        </a:rPr>
                        <a:t>Mediana 3D</a:t>
                      </a:r>
                    </a:p>
                  </a:txBody>
                  <a:tcPr marL="91440" marR="91440" marT="27432" marB="27432" anchor="ctr">
                    <a:solidFill>
                      <a:srgbClr val="FF3228"/>
                    </a:solidFill>
                  </a:tcPr>
                </a:tc>
                <a:tc>
                  <a:txBody>
                    <a:bodyPr/>
                    <a:lstStyle/>
                    <a:p>
                      <a:r>
                        <a:rPr sz="1200" b="1">
                          <a:solidFill>
                            <a:srgbClr val="FFFFFF"/>
                          </a:solidFill>
                        </a:rPr>
                        <a:t>Correlación</a:t>
                      </a:r>
                    </a:p>
                  </a:txBody>
                  <a:tcPr marL="91440" marR="91440" marT="27432" marB="27432" anchor="ctr">
                    <a:solidFill>
                      <a:srgbClr val="FF3228"/>
                    </a:solidFill>
                  </a:tcPr>
                </a:tc>
              </a:tr>
              <a:tr h="457200">
                <a:tc>
                  <a:txBody>
                    <a:bodyPr/>
                    <a:lstStyle/>
                    <a:p>
                      <a:r>
                        <a:rPr sz="1200" b="0">
                          <a:solidFill>
                            <a:srgbClr val="1E1E1E"/>
                          </a:solidFill>
                        </a:rPr>
                        <a:t>Codo</a:t>
                      </a:r>
                    </a:p>
                  </a:txBody>
                  <a:tcPr marL="91440" marR="91440" marT="27432" marB="27432" anchor="ctr">
                    <a:solidFill>
                      <a:srgbClr val="FFFFFF"/>
                    </a:solidFill>
                  </a:tcPr>
                </a:tc>
                <a:tc>
                  <a:txBody>
                    <a:bodyPr/>
                    <a:lstStyle/>
                    <a:p>
                      <a:r>
                        <a:rPr sz="1200" b="0">
                          <a:solidFill>
                            <a:srgbClr val="1E1E1E"/>
                          </a:solidFill>
                        </a:rPr>
                        <a:t>156° / 144°</a:t>
                      </a:r>
                    </a:p>
                  </a:txBody>
                  <a:tcPr marL="91440" marR="91440" marT="27432" marB="27432" anchor="ctr">
                    <a:solidFill>
                      <a:srgbClr val="FFFFFF"/>
                    </a:solidFill>
                  </a:tcPr>
                </a:tc>
                <a:tc>
                  <a:txBody>
                    <a:bodyPr/>
                    <a:lstStyle/>
                    <a:p>
                      <a:r>
                        <a:rPr sz="1200" b="0">
                          <a:solidFill>
                            <a:srgbClr val="1E1E1E"/>
                          </a:solidFill>
                        </a:rPr>
                        <a:t>158° / 143°</a:t>
                      </a:r>
                    </a:p>
                  </a:txBody>
                  <a:tcPr marL="91440" marR="91440" marT="27432" marB="27432" anchor="ctr">
                    <a:solidFill>
                      <a:srgbClr val="FFFFFF"/>
                    </a:solidFill>
                  </a:tcPr>
                </a:tc>
                <a:tc>
                  <a:txBody>
                    <a:bodyPr/>
                    <a:lstStyle/>
                    <a:p>
                      <a:r>
                        <a:rPr sz="1200" b="0">
                          <a:solidFill>
                            <a:srgbClr val="1E1E1E"/>
                          </a:solidFill>
                        </a:rPr>
                        <a:t>0,51 / −0,08</a:t>
                      </a:r>
                    </a:p>
                  </a:txBody>
                  <a:tcPr marL="91440" marR="91440" marT="27432" marB="27432" anchor="ctr">
                    <a:solidFill>
                      <a:srgbClr val="FFFFFF"/>
                    </a:solidFill>
                  </a:tcPr>
                </a:tc>
              </a:tr>
              <a:tr h="457200">
                <a:tc>
                  <a:txBody>
                    <a:bodyPr/>
                    <a:lstStyle/>
                    <a:p>
                      <a:r>
                        <a:rPr sz="1200" b="0">
                          <a:solidFill>
                            <a:srgbClr val="1E1E1E"/>
                          </a:solidFill>
                        </a:rPr>
                        <a:t>Hombro</a:t>
                      </a:r>
                    </a:p>
                  </a:txBody>
                  <a:tcPr marL="91440" marR="91440" marT="27432" marB="27432" anchor="ctr">
                    <a:solidFill>
                      <a:srgbClr val="EEEDED"/>
                    </a:solidFill>
                  </a:tcPr>
                </a:tc>
                <a:tc>
                  <a:txBody>
                    <a:bodyPr/>
                    <a:lstStyle/>
                    <a:p>
                      <a:r>
                        <a:rPr sz="1200" b="0">
                          <a:solidFill>
                            <a:srgbClr val="1E1E1E"/>
                          </a:solidFill>
                        </a:rPr>
                        <a:t>90° / 81°</a:t>
                      </a:r>
                    </a:p>
                  </a:txBody>
                  <a:tcPr marL="91440" marR="91440" marT="27432" marB="27432" anchor="ctr">
                    <a:solidFill>
                      <a:srgbClr val="EEEDED"/>
                    </a:solidFill>
                  </a:tcPr>
                </a:tc>
                <a:tc>
                  <a:txBody>
                    <a:bodyPr/>
                    <a:lstStyle/>
                    <a:p>
                      <a:r>
                        <a:rPr sz="1200" b="0">
                          <a:solidFill>
                            <a:srgbClr val="1E1E1E"/>
                          </a:solidFill>
                        </a:rPr>
                        <a:t>89° / 92°</a:t>
                      </a:r>
                    </a:p>
                  </a:txBody>
                  <a:tcPr marL="91440" marR="91440" marT="27432" marB="27432" anchor="ctr">
                    <a:solidFill>
                      <a:srgbClr val="EEEDED"/>
                    </a:solidFill>
                  </a:tcPr>
                </a:tc>
                <a:tc>
                  <a:txBody>
                    <a:bodyPr/>
                    <a:lstStyle/>
                    <a:p>
                      <a:r>
                        <a:rPr sz="1200" b="0">
                          <a:solidFill>
                            <a:srgbClr val="1E1E1E"/>
                          </a:solidFill>
                        </a:rPr>
                        <a:t>0,69 / 0,71</a:t>
                      </a:r>
                    </a:p>
                  </a:txBody>
                  <a:tcPr marL="91440" marR="91440" marT="27432" marB="27432" anchor="ctr">
                    <a:solidFill>
                      <a:srgbClr val="EEEDED"/>
                    </a:solidFill>
                  </a:tcPr>
                </a:tc>
              </a:tr>
              <a:tr h="457200">
                <a:tc>
                  <a:txBody>
                    <a:bodyPr/>
                    <a:lstStyle/>
                    <a:p>
                      <a:r>
                        <a:rPr sz="1200" b="0">
                          <a:solidFill>
                            <a:srgbClr val="1E1E1E"/>
                          </a:solidFill>
                        </a:rPr>
                        <a:t>Cadera</a:t>
                      </a:r>
                    </a:p>
                  </a:txBody>
                  <a:tcPr marL="91440" marR="91440" marT="27432" marB="27432" anchor="ctr">
                    <a:solidFill>
                      <a:srgbClr val="FFFFFF"/>
                    </a:solidFill>
                  </a:tcPr>
                </a:tc>
                <a:tc>
                  <a:txBody>
                    <a:bodyPr/>
                    <a:lstStyle/>
                    <a:p>
                      <a:r>
                        <a:rPr sz="1200" b="0">
                          <a:solidFill>
                            <a:srgbClr val="1E1E1E"/>
                          </a:solidFill>
                        </a:rPr>
                        <a:t>171° / 172°</a:t>
                      </a:r>
                    </a:p>
                  </a:txBody>
                  <a:tcPr marL="91440" marR="91440" marT="27432" marB="27432" anchor="ctr">
                    <a:solidFill>
                      <a:srgbClr val="FFFFFF"/>
                    </a:solidFill>
                  </a:tcPr>
                </a:tc>
                <a:tc>
                  <a:txBody>
                    <a:bodyPr/>
                    <a:lstStyle/>
                    <a:p>
                      <a:r>
                        <a:rPr sz="1200" b="0">
                          <a:solidFill>
                            <a:srgbClr val="1E1E1E"/>
                          </a:solidFill>
                        </a:rPr>
                        <a:t>160° / 164°</a:t>
                      </a:r>
                    </a:p>
                  </a:txBody>
                  <a:tcPr marL="91440" marR="91440" marT="27432" marB="27432" anchor="ctr">
                    <a:solidFill>
                      <a:srgbClr val="FFFFFF"/>
                    </a:solidFill>
                  </a:tcPr>
                </a:tc>
                <a:tc>
                  <a:txBody>
                    <a:bodyPr/>
                    <a:lstStyle/>
                    <a:p>
                      <a:r>
                        <a:rPr sz="1200" b="0">
                          <a:solidFill>
                            <a:srgbClr val="1E1E1E"/>
                          </a:solidFill>
                        </a:rPr>
                        <a:t>0,58 / 0,69</a:t>
                      </a:r>
                    </a:p>
                  </a:txBody>
                  <a:tcPr marL="91440" marR="91440" marT="27432" marB="27432" anchor="ctr">
                    <a:solidFill>
                      <a:srgbClr val="FFFFFF"/>
                    </a:solidFill>
                  </a:tcPr>
                </a:tc>
              </a:tr>
              <a:tr h="457200">
                <a:tc>
                  <a:txBody>
                    <a:bodyPr/>
                    <a:lstStyle/>
                    <a:p>
                      <a:r>
                        <a:rPr sz="1200" b="1">
                          <a:solidFill>
                            <a:srgbClr val="1E1E1E"/>
                          </a:solidFill>
                        </a:rPr>
                        <a:t>Rodilla</a:t>
                      </a:r>
                    </a:p>
                  </a:txBody>
                  <a:tcPr marL="91440" marR="91440" marT="27432" marB="27432" anchor="ctr">
                    <a:solidFill>
                      <a:srgbClr val="FFAFAA"/>
                    </a:solidFill>
                  </a:tcPr>
                </a:tc>
                <a:tc>
                  <a:txBody>
                    <a:bodyPr/>
                    <a:lstStyle/>
                    <a:p>
                      <a:r>
                        <a:rPr sz="1200" b="1">
                          <a:solidFill>
                            <a:srgbClr val="1E1E1E"/>
                          </a:solidFill>
                        </a:rPr>
                        <a:t>173° / 173°</a:t>
                      </a:r>
                    </a:p>
                  </a:txBody>
                  <a:tcPr marL="91440" marR="91440" marT="27432" marB="27432" anchor="ctr">
                    <a:solidFill>
                      <a:srgbClr val="FFAFAA"/>
                    </a:solidFill>
                  </a:tcPr>
                </a:tc>
                <a:tc>
                  <a:txBody>
                    <a:bodyPr/>
                    <a:lstStyle/>
                    <a:p>
                      <a:r>
                        <a:rPr sz="1200" b="1">
                          <a:solidFill>
                            <a:srgbClr val="1E1E1E"/>
                          </a:solidFill>
                        </a:rPr>
                        <a:t>107° / 106°</a:t>
                      </a:r>
                    </a:p>
                  </a:txBody>
                  <a:tcPr marL="91440" marR="91440" marT="27432" marB="27432" anchor="ctr">
                    <a:solidFill>
                      <a:srgbClr val="FFAFAA"/>
                    </a:solidFill>
                  </a:tcPr>
                </a:tc>
                <a:tc>
                  <a:txBody>
                    <a:bodyPr/>
                    <a:lstStyle/>
                    <a:p>
                      <a:r>
                        <a:rPr sz="1200" b="1">
                          <a:solidFill>
                            <a:srgbClr val="1E1E1E"/>
                          </a:solidFill>
                        </a:rPr>
                        <a:t>0,01 / −0,04</a:t>
                      </a:r>
                    </a:p>
                  </a:txBody>
                  <a:tcPr marL="91440" marR="91440" marT="27432" marB="27432" anchor="ctr">
                    <a:solidFill>
                      <a:srgbClr val="FFAFAA"/>
                    </a:solidFill>
                  </a:tcPr>
                </a:tc>
              </a:tr>
            </a:tbl>
          </a:graphicData>
        </a:graphic>
      </p:graphicFrame>
      <p:sp>
        <p:nvSpPr>
          <p:cNvPr id="18" name="TextBox 17"/>
          <p:cNvSpPr txBox="1"/>
          <p:nvPr/>
        </p:nvSpPr>
        <p:spPr>
          <a:xfrm>
            <a:off x="7498079" y="5120640"/>
            <a:ext cx="6217920" cy="365760"/>
          </a:xfrm>
          <a:prstGeom prst="rect">
            <a:avLst/>
          </a:prstGeom>
          <a:noFill/>
        </p:spPr>
        <p:txBody>
          <a:bodyPr wrap="square" anchor="t" lIns="0" rIns="0" tIns="0" bIns="0">
            <a:spAutoFit/>
          </a:bodyPr>
          <a:lstStyle/>
          <a:p>
            <a:pPr algn="l">
              <a:spcAft>
                <a:spcPts val="600"/>
              </a:spcAft>
            </a:pPr>
            <a:r>
              <a:rPr sz="1100" b="0">
                <a:solidFill>
                  <a:srgbClr val="504B4B"/>
                </a:solidFill>
              </a:rPr>
              <a:t>Vista lateral, secuencia GX011614, 85 fotogramas (Tabla 14 de la memoria)</a:t>
            </a:r>
          </a:p>
        </p:txBody>
      </p:sp>
      <p:sp>
        <p:nvSpPr>
          <p:cNvPr id="19" name="Rectangle 18"/>
          <p:cNvSpPr/>
          <p:nvPr/>
        </p:nvSpPr>
        <p:spPr>
          <a:xfrm>
            <a:off x="905256" y="5897880"/>
            <a:ext cx="1280160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897880"/>
            <a:ext cx="12252960" cy="914400"/>
          </a:xfrm>
          <a:prstGeom prst="rect">
            <a:avLst/>
          </a:prstGeom>
          <a:noFill/>
        </p:spPr>
        <p:txBody>
          <a:bodyPr wrap="square" anchor="ctr" lIns="0" rIns="0" tIns="0" bIns="0">
            <a:spAutoFit/>
          </a:bodyPr>
          <a:lstStyle/>
          <a:p>
            <a:pPr algn="l">
              <a:spcAft>
                <a:spcPts val="600"/>
              </a:spcAft>
            </a:pPr>
            <a:r>
              <a:rPr sz="1500" b="1">
                <a:solidFill>
                  <a:srgbClr val="FF3228"/>
                </a:solidFill>
              </a:rPr>
              <a:t>Decisión: </a:t>
            </a:r>
            <a:r>
              <a:rPr sz="1500" b="0">
                <a:solidFill>
                  <a:srgbClr val="FFFFFF"/>
                </a:solidFill>
              </a:rPr>
              <a:t>vista lateral → ángulos 2D (el 3D se guarda aparte) · vista frontal u oblicua → ángulos 3D (el 2D se deforma por la perspectiva)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Dos vistas, dos señales de brazada</a:t>
            </a:r>
          </a:p>
        </p:txBody>
      </p:sp>
      <p:sp>
        <p:nvSpPr>
          <p:cNvPr id="4" name="Text Placeholder 3"/>
          <p:cNvSpPr>
            <a:spLocks noGrp="1"/>
          </p:cNvSpPr>
          <p:nvPr>
            <p:ph type="body" idx="18" sz="quarter"/>
          </p:nvPr>
        </p:nvSpPr>
        <p:spPr>
          <a:xfrm>
            <a:off x="906463" y="2172974"/>
            <a:ext cx="12344400" cy="594092"/>
          </a:xfrm>
        </p:spPr>
        <p:txBody>
          <a:bodyPr/>
          <a:lstStyle/>
          <a:p>
            <a:r>
              <a:t>El sistema decide la vista y usa la señal que esa vista permite ver</a:t>
            </a:r>
          </a:p>
        </p:txBody>
      </p:sp>
      <p:sp>
        <p:nvSpPr>
          <p:cNvPr id="5" name="Rectangle 4"/>
          <p:cNvSpPr/>
          <p:nvPr/>
        </p:nvSpPr>
        <p:spPr>
          <a:xfrm>
            <a:off x="905256" y="2743200"/>
            <a:ext cx="128016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868680"/>
          </a:xfrm>
          <a:prstGeom prst="rect">
            <a:avLst/>
          </a:prstGeom>
          <a:noFill/>
        </p:spPr>
        <p:txBody>
          <a:bodyPr wrap="square" anchor="ctr" lIns="0" rIns="0" tIns="0" bIns="0">
            <a:spAutoFit/>
          </a:bodyPr>
          <a:lstStyle/>
          <a:p>
            <a:pPr algn="l">
              <a:spcAft>
                <a:spcPts val="600"/>
              </a:spcAft>
            </a:pPr>
            <a:r>
              <a:rPr sz="1400" b="1">
                <a:solidFill>
                  <a:srgbClr val="FF3228"/>
                </a:solidFill>
              </a:rPr>
              <a:t>Vista automática: </a:t>
            </a:r>
            <a:r>
              <a:rPr sz="1400" b="0">
                <a:solidFill>
                  <a:srgbClr val="FFFFFF"/>
                </a:solidFill>
              </a:rPr>
              <a:t>tramos de 60 s; un tramo es frontal si ≥ 65 % de sus fotogramas tienen el tronco a &gt; 55° de la horizontal (vídeos reales: laterales ≤ 46 %, frontales ≥ 87 %).</a:t>
            </a:r>
          </a:p>
        </p:txBody>
      </p:sp>
      <p:sp>
        <p:nvSpPr>
          <p:cNvPr id="7" name="Rectangle 6"/>
          <p:cNvSpPr/>
          <p:nvPr/>
        </p:nvSpPr>
        <p:spPr>
          <a:xfrm>
            <a:off x="90525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957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Lateral · profundidad de la mano</a:t>
            </a:r>
          </a:p>
        </p:txBody>
      </p:sp>
      <p:sp>
        <p:nvSpPr>
          <p:cNvPr id="9" name="TextBox 8"/>
          <p:cNvSpPr txBox="1"/>
          <p:nvPr/>
        </p:nvSpPr>
        <p:spPr>
          <a:xfrm>
            <a:off x="117957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Mano más profunda respecto al eje del tronco, en longitudes de tronco; cada máximo es una brazada. Se toma la más profunda porque YOLO copia el brazo visible en el oculto.</a:t>
            </a:r>
          </a:p>
        </p:txBody>
      </p:sp>
      <p:sp>
        <p:nvSpPr>
          <p:cNvPr id="10" name="Rectangle 9"/>
          <p:cNvSpPr/>
          <p:nvPr/>
        </p:nvSpPr>
        <p:spPr>
          <a:xfrm>
            <a:off x="744321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753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Frontal · recorrido de la muñeca (PCA)</a:t>
            </a:r>
          </a:p>
        </p:txBody>
      </p:sp>
      <p:sp>
        <p:nvSpPr>
          <p:cNvPr id="12" name="TextBox 11"/>
          <p:cNvSpPr txBox="1"/>
          <p:nvPr/>
        </p:nvSpPr>
        <p:spPr>
          <a:xfrm>
            <a:off x="771753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Recorrido de cada muñeca respecto al centro de los hombros, proyectado en la 1.ª componente principal, en anchos de hombros. De frente la profundidad no es observable.</a:t>
            </a:r>
          </a:p>
        </p:txBody>
      </p:sp>
      <p:sp>
        <p:nvSpPr>
          <p:cNvPr id="13" name="TextBox 12"/>
          <p:cNvSpPr txBox="1"/>
          <p:nvPr/>
        </p:nvSpPr>
        <p:spPr>
          <a:xfrm>
            <a:off x="905256" y="6309360"/>
            <a:ext cx="12801600" cy="731520"/>
          </a:xfrm>
          <a:prstGeom prst="rect">
            <a:avLst/>
          </a:prstGeom>
          <a:noFill/>
        </p:spPr>
        <p:txBody>
          <a:bodyPr wrap="square" anchor="t" lIns="0" rIns="0" tIns="0" bIns="0">
            <a:spAutoFit/>
          </a:bodyPr>
          <a:lstStyle/>
          <a:p>
            <a:pPr algn="l">
              <a:spcAft>
                <a:spcPts val="600"/>
              </a:spcAft>
            </a:pPr>
            <a:r>
              <a:rPr sz="1300" b="1">
                <a:solidFill>
                  <a:srgbClr val="1E1E1E"/>
                </a:solidFill>
              </a:rPr>
              <a:t>Común: </a:t>
            </a:r>
            <a:r>
              <a:rPr sz="1300" b="0">
                <a:solidFill>
                  <a:srgbClr val="1E1E1E"/>
                </a:solidFill>
              </a:rPr>
              <a:t>ritmo = mediana de los intervalos dentro del rango del estilo (crol 0,35-1,0 s; mariposa 0,7-2,0 s; braza 0,7-2,4 s) · ciclo válido de 0,6-3,0 s con ≤ 30 % de datos ausentes · mínimos y máximos por ciclo con percentiles 10 y 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¿Por qué Isolation Forest?</a:t>
            </a:r>
          </a:p>
        </p:txBody>
      </p:sp>
      <p:sp>
        <p:nvSpPr>
          <p:cNvPr id="4" name="Text Placeholder 3"/>
          <p:cNvSpPr>
            <a:spLocks noGrp="1"/>
          </p:cNvSpPr>
          <p:nvPr>
            <p:ph type="body" idx="18" sz="quarter"/>
          </p:nvPr>
        </p:nvSpPr>
        <p:spPr>
          <a:xfrm>
            <a:off x="906463" y="2172974"/>
            <a:ext cx="12344400" cy="594092"/>
          </a:xfrm>
        </p:spPr>
        <p:txBody>
          <a:bodyPr/>
          <a:lstStyle/>
          <a:p>
            <a:r>
              <a:t>Sin etiquetas de fatiga: se busca lo que se aparta del nadador fresco</a:t>
            </a:r>
          </a:p>
        </p:txBody>
      </p:sp>
      <p:sp>
        <p:nvSpPr>
          <p:cNvPr id="5" name="Rectangle 4"/>
          <p:cNvSpPr/>
          <p:nvPr/>
        </p:nvSpPr>
        <p:spPr>
          <a:xfrm>
            <a:off x="905256" y="2743200"/>
            <a:ext cx="6035040" cy="13258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926080"/>
            <a:ext cx="5486400" cy="365760"/>
          </a:xfrm>
          <a:prstGeom prst="rect">
            <a:avLst/>
          </a:prstGeom>
          <a:noFill/>
        </p:spPr>
        <p:txBody>
          <a:bodyPr wrap="square" anchor="t" lIns="0" rIns="0" tIns="0" bIns="0">
            <a:spAutoFit/>
          </a:bodyPr>
          <a:lstStyle/>
          <a:p>
            <a:pPr algn="l">
              <a:spcAft>
                <a:spcPts val="600"/>
              </a:spcAft>
            </a:pPr>
            <a:r>
              <a:rPr sz="1600" b="1">
                <a:solidFill>
                  <a:srgbClr val="504B4B"/>
                </a:solidFill>
              </a:rPr>
              <a:t>Plan inicial: red recurrente supervisada</a:t>
            </a:r>
          </a:p>
        </p:txBody>
      </p:sp>
      <p:sp>
        <p:nvSpPr>
          <p:cNvPr id="7" name="TextBox 6"/>
          <p:cNvSpPr txBox="1"/>
          <p:nvPr/>
        </p:nvSpPr>
        <p:spPr>
          <a:xfrm>
            <a:off x="1188720" y="3383280"/>
            <a:ext cx="5486400" cy="640080"/>
          </a:xfrm>
          <a:prstGeom prst="rect">
            <a:avLst/>
          </a:prstGeom>
          <a:noFill/>
        </p:spPr>
        <p:txBody>
          <a:bodyPr wrap="square" anchor="t" lIns="0" rIns="0" tIns="0" bIns="0">
            <a:spAutoFit/>
          </a:bodyPr>
          <a:lstStyle/>
          <a:p>
            <a:pPr algn="l">
              <a:spcAft>
                <a:spcPts val="600"/>
              </a:spcAft>
            </a:pPr>
            <a:r>
              <a:rPr sz="1400" b="0">
                <a:solidFill>
                  <a:srgbClr val="1E1E1E"/>
                </a:solidFill>
              </a:rPr>
              <a:t>Necesita ciclos etiquetados como «fatigados»: no existen.</a:t>
            </a:r>
          </a:p>
        </p:txBody>
      </p:sp>
      <p:sp>
        <p:nvSpPr>
          <p:cNvPr id="8" name="Rectangle 7"/>
          <p:cNvSpPr/>
          <p:nvPr/>
        </p:nvSpPr>
        <p:spPr>
          <a:xfrm>
            <a:off x="905256" y="4206240"/>
            <a:ext cx="6035040" cy="26517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389120"/>
            <a:ext cx="5486400" cy="365760"/>
          </a:xfrm>
          <a:prstGeom prst="rect">
            <a:avLst/>
          </a:prstGeom>
          <a:noFill/>
        </p:spPr>
        <p:txBody>
          <a:bodyPr wrap="square" anchor="t" lIns="0" rIns="0" tIns="0" bIns="0">
            <a:spAutoFit/>
          </a:bodyPr>
          <a:lstStyle/>
          <a:p>
            <a:pPr algn="l">
              <a:spcAft>
                <a:spcPts val="600"/>
              </a:spcAft>
            </a:pPr>
            <a:r>
              <a:rPr sz="1600" b="1">
                <a:solidFill>
                  <a:srgbClr val="FFFFFF"/>
                </a:solidFill>
              </a:rPr>
              <a:t>Elegido: Isolation Forest (no supervisado)</a:t>
            </a:r>
          </a:p>
        </p:txBody>
      </p:sp>
      <p:sp>
        <p:nvSpPr>
          <p:cNvPr id="10" name="TextBox 9"/>
          <p:cNvSpPr txBox="1"/>
          <p:nvPr/>
        </p:nvSpPr>
        <p:spPr>
          <a:xfrm>
            <a:off x="1188720" y="4892040"/>
            <a:ext cx="5486400" cy="1920240"/>
          </a:xfrm>
          <a:prstGeom prst="rect">
            <a:avLst/>
          </a:prstGeom>
          <a:noFill/>
        </p:spPr>
        <p:txBody>
          <a:bodyPr wrap="square" anchor="t" lIns="0" rIns="0" tIns="0" bIns="0">
            <a:spAutoFit/>
          </a:bodyPr>
          <a:lstStyle/>
          <a:p>
            <a:pPr algn="l">
              <a:spcAft>
                <a:spcPts val="600"/>
              </a:spcAft>
            </a:pPr>
            <a:r>
              <a:rPr sz="1400" b="0">
                <a:solidFill>
                  <a:srgbClr val="FFFFFF"/>
                </a:solidFill>
              </a:rPr>
              <a:t>•  Se entrena solo con la fase fresca del propio nadador</a:t>
            </a:r>
          </a:p>
          <a:p>
            <a:pPr algn="l">
              <a:spcAft>
                <a:spcPts val="600"/>
              </a:spcAft>
            </a:pPr>
            <a:r>
              <a:rPr sz="1400" b="0">
                <a:solidFill>
                  <a:srgbClr val="FFFFFF"/>
                </a:solidFill>
              </a:rPr>
              <a:t>•  No supone ninguna distribución de los datos</a:t>
            </a:r>
          </a:p>
          <a:p>
            <a:pPr algn="l">
              <a:spcAft>
                <a:spcPts val="600"/>
              </a:spcAft>
            </a:pPr>
            <a:r>
              <a:rPr sz="1400" b="0">
                <a:solidFill>
                  <a:srgbClr val="FFFFFF"/>
                </a:solidFill>
              </a:rPr>
              <a:t>•  Coste lineal: viable en la CPU</a:t>
            </a:r>
          </a:p>
          <a:p>
            <a:pPr algn="l">
              <a:spcAft>
                <a:spcPts val="600"/>
              </a:spcAft>
            </a:pPr>
            <a:r>
              <a:rPr sz="1400" b="0">
                <a:solidFill>
                  <a:srgbClr val="FFFFFF"/>
                </a:solidFill>
              </a:rPr>
              <a:t>•  Admite SHAP exacto (TreeSHAP)</a:t>
            </a:r>
          </a:p>
        </p:txBody>
      </p:sp>
      <p:sp>
        <p:nvSpPr>
          <p:cNvPr id="11" name="TextBox 10"/>
          <p:cNvSpPr txBox="1"/>
          <p:nvPr/>
        </p:nvSpPr>
        <p:spPr>
          <a:xfrm>
            <a:off x="7315200" y="2743200"/>
            <a:ext cx="6400800" cy="365760"/>
          </a:xfrm>
          <a:prstGeom prst="rect">
            <a:avLst/>
          </a:prstGeom>
          <a:noFill/>
        </p:spPr>
        <p:txBody>
          <a:bodyPr wrap="square" anchor="t" lIns="0" rIns="0" tIns="0" bIns="0">
            <a:spAutoFit/>
          </a:bodyPr>
          <a:lstStyle/>
          <a:p>
            <a:pPr algn="l">
              <a:spcAft>
                <a:spcPts val="600"/>
              </a:spcAft>
            </a:pPr>
            <a:r>
              <a:rPr sz="1800" b="1">
                <a:solidFill>
                  <a:srgbClr val="FF3228"/>
                </a:solidFill>
              </a:rPr>
              <a:t>Cómo funciona</a:t>
            </a:r>
          </a:p>
        </p:txBody>
      </p:sp>
      <p:sp>
        <p:nvSpPr>
          <p:cNvPr id="12" name="TextBox 11"/>
          <p:cNvSpPr txBox="1"/>
          <p:nvPr/>
        </p:nvSpPr>
        <p:spPr>
          <a:xfrm>
            <a:off x="7315200" y="3200400"/>
            <a:ext cx="6400800" cy="640080"/>
          </a:xfrm>
          <a:prstGeom prst="rect">
            <a:avLst/>
          </a:prstGeom>
          <a:noFill/>
        </p:spPr>
        <p:txBody>
          <a:bodyPr wrap="square" anchor="t" lIns="0" rIns="0" tIns="0" bIns="0">
            <a:spAutoFit/>
          </a:bodyPr>
          <a:lstStyle/>
          <a:p>
            <a:pPr algn="l">
              <a:spcAft>
                <a:spcPts val="600"/>
              </a:spcAft>
            </a:pPr>
            <a:r>
              <a:rPr sz="1400" b="0">
                <a:solidFill>
                  <a:srgbClr val="1E1E1E"/>
                </a:solidFill>
              </a:rPr>
              <a:t>Los ciclos anómalos son escasos y distintos: se aíslan con menos cortes aleatorios que los normales.</a:t>
            </a:r>
          </a:p>
        </p:txBody>
      </p:sp>
      <p:sp>
        <p:nvSpPr>
          <p:cNvPr id="13" name="Rectangle 12"/>
          <p:cNvSpPr/>
          <p:nvPr/>
        </p:nvSpPr>
        <p:spPr>
          <a:xfrm>
            <a:off x="7315200" y="3886200"/>
            <a:ext cx="64008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3886200"/>
            <a:ext cx="6400800" cy="548640"/>
          </a:xfrm>
          <a:prstGeom prst="rect">
            <a:avLst/>
          </a:prstGeom>
          <a:noFill/>
        </p:spPr>
        <p:txBody>
          <a:bodyPr wrap="square" anchor="ctr" lIns="0" rIns="0" tIns="0" bIns="0">
            <a:spAutoFit/>
          </a:bodyPr>
          <a:lstStyle/>
          <a:p>
            <a:pPr algn="ctr">
              <a:spcAft>
                <a:spcPts val="600"/>
              </a:spcAft>
            </a:pPr>
            <a:r>
              <a:rPr sz="2000" b="1">
                <a:solidFill>
                  <a:srgbClr val="FFFFFF"/>
                </a:solidFill>
              </a:rPr>
              <a:t>s(x, n) = 2^(−E[h(x)] / c(n))</a:t>
            </a:r>
          </a:p>
        </p:txBody>
      </p:sp>
      <p:sp>
        <p:nvSpPr>
          <p:cNvPr id="15" name="TextBox 14"/>
          <p:cNvSpPr txBox="1"/>
          <p:nvPr/>
        </p:nvSpPr>
        <p:spPr>
          <a:xfrm>
            <a:off x="7315200" y="4434840"/>
            <a:ext cx="6400800" cy="320040"/>
          </a:xfrm>
          <a:prstGeom prst="rect">
            <a:avLst/>
          </a:prstGeom>
          <a:noFill/>
        </p:spPr>
        <p:txBody>
          <a:bodyPr wrap="square" anchor="t" lIns="0" rIns="0" tIns="0" bIns="0">
            <a:spAutoFit/>
          </a:bodyPr>
          <a:lstStyle/>
          <a:p>
            <a:pPr algn="ctr">
              <a:spcAft>
                <a:spcPts val="600"/>
              </a:spcAft>
            </a:pPr>
            <a:r>
              <a:rPr sz="1100" b="0">
                <a:solidFill>
                  <a:srgbClr val="FFFFFF"/>
                </a:solidFill>
              </a:rPr>
              <a:t>h(x): cortes hasta aislar el ciclo · próximo a 1 = anómalo · &lt; 0,5 = normal</a:t>
            </a:r>
          </a:p>
        </p:txBody>
      </p:sp>
      <p:sp>
        <p:nvSpPr>
          <p:cNvPr id="16" name="TextBox 15"/>
          <p:cNvSpPr txBox="1"/>
          <p:nvPr/>
        </p:nvSpPr>
        <p:spPr>
          <a:xfrm>
            <a:off x="7315200" y="4937760"/>
            <a:ext cx="6400800" cy="365760"/>
          </a:xfrm>
          <a:prstGeom prst="rect">
            <a:avLst/>
          </a:prstGeom>
          <a:noFill/>
        </p:spPr>
        <p:txBody>
          <a:bodyPr wrap="square" anchor="t" lIns="0" rIns="0" tIns="0" bIns="0">
            <a:spAutoFit/>
          </a:bodyPr>
          <a:lstStyle/>
          <a:p>
            <a:pPr algn="l">
              <a:spcAft>
                <a:spcPts val="600"/>
              </a:spcAft>
            </a:pPr>
            <a:r>
              <a:rPr sz="1600" b="1">
                <a:solidFill>
                  <a:srgbClr val="1E1E1E"/>
                </a:solidFill>
              </a:rPr>
              <a:t>Configuración</a:t>
            </a:r>
          </a:p>
        </p:txBody>
      </p:sp>
      <p:sp>
        <p:nvSpPr>
          <p:cNvPr id="17" name="TextBox 16"/>
          <p:cNvSpPr txBox="1"/>
          <p:nvPr/>
        </p:nvSpPr>
        <p:spPr>
          <a:xfrm>
            <a:off x="7315200" y="5349240"/>
            <a:ext cx="6400800" cy="1554480"/>
          </a:xfrm>
          <a:prstGeom prst="rect">
            <a:avLst/>
          </a:prstGeom>
          <a:noFill/>
        </p:spPr>
        <p:txBody>
          <a:bodyPr wrap="square" anchor="t" lIns="0" rIns="0" tIns="0" bIns="0">
            <a:spAutoFit/>
          </a:bodyPr>
          <a:lstStyle/>
          <a:p>
            <a:pPr algn="l">
              <a:spcAft>
                <a:spcPts val="500"/>
              </a:spcAft>
            </a:pPr>
            <a:r>
              <a:rPr sz="1300" b="0">
                <a:solidFill>
                  <a:srgbClr val="1E1E1E"/>
                </a:solidFill>
              </a:rPr>
              <a:t>•  Variables estandarizadas con la fase base: z = (x − μ) / σ</a:t>
            </a:r>
          </a:p>
          <a:p>
            <a:pPr algn="l">
              <a:spcAft>
                <a:spcPts val="500"/>
              </a:spcAft>
            </a:pPr>
            <a:r>
              <a:rPr sz="1300" b="0">
                <a:solidFill>
                  <a:srgbClr val="1E1E1E"/>
                </a:solidFill>
              </a:rPr>
              <a:t>•  500 árboles · fase base = primer 30 % de los ciclos (mín. 5) · mínimo 8 ciclos</a:t>
            </a:r>
          </a:p>
          <a:p>
            <a:pPr algn="l">
              <a:spcAft>
                <a:spcPts val="500"/>
              </a:spcAft>
            </a:pPr>
            <a:r>
              <a:rPr sz="1300" b="0">
                <a:solidFill>
                  <a:srgbClr val="1E1E1E"/>
                </a:solidFill>
              </a:rPr>
              <a:t>•  Fuera las redundantes: velocidad (= SR · DPS), SI y potencia (∝ v³)</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Umbral e inicio: elegidos con datos</a:t>
            </a:r>
          </a:p>
        </p:txBody>
      </p:sp>
      <p:sp>
        <p:nvSpPr>
          <p:cNvPr id="4" name="Text Placeholder 3"/>
          <p:cNvSpPr>
            <a:spLocks noGrp="1"/>
          </p:cNvSpPr>
          <p:nvPr>
            <p:ph type="body" idx="18" sz="quarter"/>
          </p:nvPr>
        </p:nvSpPr>
        <p:spPr>
          <a:xfrm>
            <a:off x="906463" y="2172974"/>
            <a:ext cx="12344400" cy="594092"/>
          </a:xfrm>
        </p:spPr>
        <p:txBody>
          <a:bodyPr/>
          <a:lstStyle/>
          <a:p>
            <a:r>
              <a:t>Sensibilidad con fatiga programada entre t = 59 s y t = 81 s</a:t>
            </a:r>
          </a:p>
        </p:txBody>
      </p:sp>
      <p:graphicFrame>
        <p:nvGraphicFramePr>
          <p:cNvPr id="5" name="Table 4"/>
          <p:cNvGraphicFramePr>
            <a:graphicFrameLocks noGrp="1"/>
          </p:cNvGraphicFramePr>
          <p:nvPr/>
        </p:nvGraphicFramePr>
        <p:xfrm>
          <a:off x="905256" y="2743200"/>
          <a:ext cx="7223760" cy="2011680"/>
        </p:xfrm>
        <a:graphic>
          <a:graphicData uri="http://schemas.openxmlformats.org/drawingml/2006/table">
            <a:tbl>
              <a:tblPr firstRow="1" bandRow="1">
                <a:tableStyleId>{5C22544A-7EE6-4342-B048-85BDC9FD1C3A}</a:tableStyleId>
              </a:tblPr>
              <a:tblGrid>
                <a:gridCol w="2286000"/>
                <a:gridCol w="1463040"/>
                <a:gridCol w="1828800"/>
                <a:gridCol w="1645920"/>
              </a:tblGrid>
              <a:tr h="502920">
                <a:tc>
                  <a:txBody>
                    <a:bodyPr/>
                    <a:lstStyle/>
                    <a:p>
                      <a:r>
                        <a:rPr sz="1300" b="1">
                          <a:solidFill>
                            <a:srgbClr val="FFFFFF"/>
                          </a:solidFill>
                        </a:rPr>
                        <a:t>Percentil del umbral</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Falsas alarmas</a:t>
                      </a:r>
                    </a:p>
                  </a:txBody>
                  <a:tcPr marL="91440" marR="91440" marT="27432" marB="27432" anchor="ctr">
                    <a:solidFill>
                      <a:srgbClr val="FF3228"/>
                    </a:solidFill>
                  </a:tcPr>
                </a:tc>
                <a:tc>
                  <a:txBody>
                    <a:bodyPr/>
                    <a:lstStyle/>
                    <a:p>
                      <a:r>
                        <a:rPr sz="1300" b="1">
                          <a:solidFill>
                            <a:srgbClr val="FFFFFF"/>
                          </a:solidFill>
                        </a:rPr>
                        <a:t>Inicio medio</a:t>
                      </a:r>
                    </a:p>
                  </a:txBody>
                  <a:tcPr marL="91440" marR="91440" marT="27432" marB="27432" anchor="ctr">
                    <a:solidFill>
                      <a:srgbClr val="FF3228"/>
                    </a:solidFill>
                  </a:tcPr>
                </a:tc>
              </a:tr>
              <a:tr h="502920">
                <a:tc>
                  <a:txBody>
                    <a:bodyPr/>
                    <a:lstStyle/>
                    <a:p>
                      <a:r>
                        <a:rPr sz="1300" b="0">
                          <a:solidFill>
                            <a:srgbClr val="1E1E1E"/>
                          </a:solidFill>
                        </a:rPr>
                        <a:t>90</a:t>
                      </a:r>
                    </a:p>
                  </a:txBody>
                  <a:tcPr marL="91440" marR="91440" marT="27432" marB="27432" anchor="ctr">
                    <a:solidFill>
                      <a:srgbClr val="FFFFFF"/>
                    </a:solidFill>
                  </a:tcPr>
                </a:tc>
                <a:tc>
                  <a:txBody>
                    <a:bodyPr/>
                    <a:lstStyle/>
                    <a:p>
                      <a:r>
                        <a:rPr sz="1300" b="0">
                          <a:solidFill>
                            <a:srgbClr val="1E1E1E"/>
                          </a:solidFill>
                        </a:rPr>
                        <a:t>100 %</a:t>
                      </a:r>
                    </a:p>
                  </a:txBody>
                  <a:tcPr marL="91440" marR="91440" marT="27432" marB="27432" anchor="ctr">
                    <a:solidFill>
                      <a:srgbClr val="FFFFFF"/>
                    </a:solidFill>
                  </a:tcPr>
                </a:tc>
                <a:tc>
                  <a:txBody>
                    <a:bodyPr/>
                    <a:lstStyle/>
                    <a:p>
                      <a:r>
                        <a:rPr sz="1300" b="0">
                          <a:solidFill>
                            <a:srgbClr val="1E1E1E"/>
                          </a:solidFill>
                        </a:rPr>
                        <a:t>30 %</a:t>
                      </a:r>
                    </a:p>
                  </a:txBody>
                  <a:tcPr marL="91440" marR="91440" marT="27432" marB="27432" anchor="ctr">
                    <a:solidFill>
                      <a:srgbClr val="FFFFFF"/>
                    </a:solidFill>
                  </a:tcPr>
                </a:tc>
                <a:tc>
                  <a:txBody>
                    <a:bodyPr/>
                    <a:lstStyle/>
                    <a:p>
                      <a:r>
                        <a:rPr sz="1300" b="0">
                          <a:solidFill>
                            <a:srgbClr val="1E1E1E"/>
                          </a:solidFill>
                        </a:rPr>
                        <a:t>64,1 s</a:t>
                      </a:r>
                    </a:p>
                  </a:txBody>
                  <a:tcPr marL="91440" marR="91440" marT="27432" marB="27432" anchor="ctr">
                    <a:solidFill>
                      <a:srgbClr val="FFFFFF"/>
                    </a:solidFill>
                  </a:tcPr>
                </a:tc>
              </a:tr>
              <a:tr h="502920">
                <a:tc>
                  <a:txBody>
                    <a:bodyPr/>
                    <a:lstStyle/>
                    <a:p>
                      <a:r>
                        <a:rPr sz="1300" b="1">
                          <a:solidFill>
                            <a:srgbClr val="1E1E1E"/>
                          </a:solidFill>
                        </a:rPr>
                        <a:t>95 (elegido)</a:t>
                      </a:r>
                    </a:p>
                  </a:txBody>
                  <a:tcPr marL="91440" marR="91440" marT="27432" marB="27432" anchor="ctr">
                    <a:solidFill>
                      <a:srgbClr val="FFAFAA"/>
                    </a:solidFill>
                  </a:tcPr>
                </a:tc>
                <a:tc>
                  <a:txBody>
                    <a:bodyPr/>
                    <a:lstStyle/>
                    <a:p>
                      <a:r>
                        <a:rPr sz="1300" b="1">
                          <a:solidFill>
                            <a:srgbClr val="1E1E1E"/>
                          </a:solidFill>
                        </a:rPr>
                        <a:t>100 %</a:t>
                      </a:r>
                    </a:p>
                  </a:txBody>
                  <a:tcPr marL="91440" marR="91440" marT="27432" marB="27432" anchor="ctr">
                    <a:solidFill>
                      <a:srgbClr val="FFAFAA"/>
                    </a:solidFill>
                  </a:tcPr>
                </a:tc>
                <a:tc>
                  <a:txBody>
                    <a:bodyPr/>
                    <a:lstStyle/>
                    <a:p>
                      <a:r>
                        <a:rPr sz="1300" b="1">
                          <a:solidFill>
                            <a:srgbClr val="1E1E1E"/>
                          </a:solidFill>
                        </a:rPr>
                        <a:t>10 %</a:t>
                      </a:r>
                    </a:p>
                  </a:txBody>
                  <a:tcPr marL="91440" marR="91440" marT="27432" marB="27432" anchor="ctr">
                    <a:solidFill>
                      <a:srgbClr val="FFAFAA"/>
                    </a:solidFill>
                  </a:tcPr>
                </a:tc>
                <a:tc>
                  <a:txBody>
                    <a:bodyPr/>
                    <a:lstStyle/>
                    <a:p>
                      <a:r>
                        <a:rPr sz="1300" b="1">
                          <a:solidFill>
                            <a:srgbClr val="1E1E1E"/>
                          </a:solidFill>
                        </a:rPr>
                        <a:t>70,5 s</a:t>
                      </a:r>
                    </a:p>
                  </a:txBody>
                  <a:tcPr marL="91440" marR="91440" marT="27432" marB="27432" anchor="ctr">
                    <a:solidFill>
                      <a:srgbClr val="FFAFAA"/>
                    </a:solidFill>
                  </a:tcPr>
                </a:tc>
              </a:tr>
              <a:tr h="502920">
                <a:tc>
                  <a:txBody>
                    <a:bodyPr/>
                    <a:lstStyle/>
                    <a:p>
                      <a:r>
                        <a:rPr sz="1300" b="0">
                          <a:solidFill>
                            <a:srgbClr val="1E1E1E"/>
                          </a:solidFill>
                        </a:rPr>
                        <a:t>99</a:t>
                      </a:r>
                    </a:p>
                  </a:txBody>
                  <a:tcPr marL="91440" marR="91440" marT="27432" marB="27432" anchor="ctr">
                    <a:solidFill>
                      <a:srgbClr val="FFFFFF"/>
                    </a:solidFill>
                  </a:tcPr>
                </a:tc>
                <a:tc>
                  <a:txBody>
                    <a:bodyPr/>
                    <a:lstStyle/>
                    <a:p>
                      <a:r>
                        <a:rPr sz="1300" b="0">
                          <a:solidFill>
                            <a:srgbClr val="1E1E1E"/>
                          </a:solidFill>
                        </a:rPr>
                        <a:t>60 %</a:t>
                      </a:r>
                    </a:p>
                  </a:txBody>
                  <a:tcPr marL="91440" marR="91440" marT="27432" marB="27432" anchor="ctr">
                    <a:solidFill>
                      <a:srgbClr val="FFFFFF"/>
                    </a:solidFill>
                  </a:tcPr>
                </a:tc>
                <a:tc>
                  <a:txBody>
                    <a:bodyPr/>
                    <a:lstStyle/>
                    <a:p>
                      <a:r>
                        <a:rPr sz="1300" b="0">
                          <a:solidFill>
                            <a:srgbClr val="1E1E1E"/>
                          </a:solidFill>
                        </a:rPr>
                        <a:t>0 %</a:t>
                      </a:r>
                    </a:p>
                  </a:txBody>
                  <a:tcPr marL="91440" marR="91440" marT="27432" marB="27432" anchor="ctr">
                    <a:solidFill>
                      <a:srgbClr val="FFFFFF"/>
                    </a:solidFill>
                  </a:tcPr>
                </a:tc>
                <a:tc>
                  <a:txBody>
                    <a:bodyPr/>
                    <a:lstStyle/>
                    <a:p>
                      <a:r>
                        <a:rPr sz="1300" b="0">
                          <a:solidFill>
                            <a:srgbClr val="1E1E1E"/>
                          </a:solidFill>
                        </a:rPr>
                        <a:t>80,5 s</a:t>
                      </a:r>
                    </a:p>
                  </a:txBody>
                  <a:tcPr marL="91440" marR="91440" marT="27432" marB="27432" anchor="ctr">
                    <a:solidFill>
                      <a:srgbClr val="FFFFFF"/>
                    </a:solidFill>
                  </a:tcPr>
                </a:tc>
              </a:tr>
            </a:tbl>
          </a:graphicData>
        </a:graphic>
      </p:graphicFrame>
      <p:sp>
        <p:nvSpPr>
          <p:cNvPr id="6" name="TextBox 5"/>
          <p:cNvSpPr txBox="1"/>
          <p:nvPr/>
        </p:nvSpPr>
        <p:spPr>
          <a:xfrm>
            <a:off x="905256" y="4892040"/>
            <a:ext cx="7223760" cy="365760"/>
          </a:xfrm>
          <a:prstGeom prst="rect">
            <a:avLst/>
          </a:prstGeom>
          <a:noFill/>
        </p:spPr>
        <p:txBody>
          <a:bodyPr wrap="square" anchor="t" lIns="0" rIns="0" tIns="0" bIns="0">
            <a:spAutoFit/>
          </a:bodyPr>
          <a:lstStyle/>
          <a:p>
            <a:pPr algn="l">
              <a:spcAft>
                <a:spcPts val="600"/>
              </a:spcAft>
            </a:pPr>
            <a:r>
              <a:rPr sz="1100" b="0">
                <a:solidFill>
                  <a:srgbClr val="504B4B"/>
                </a:solidFill>
              </a:rPr>
              <a:t>Fase base 30 % y k = 3 ciclos seguidos (configuración usada).</a:t>
            </a:r>
          </a:p>
        </p:txBody>
      </p:sp>
      <p:sp>
        <p:nvSpPr>
          <p:cNvPr id="7" name="TextBox 6"/>
          <p:cNvSpPr txBox="1"/>
          <p:nvPr/>
        </p:nvSpPr>
        <p:spPr>
          <a:xfrm>
            <a:off x="905256" y="5303520"/>
            <a:ext cx="7223760" cy="1463040"/>
          </a:xfrm>
          <a:prstGeom prst="rect">
            <a:avLst/>
          </a:prstGeom>
          <a:noFill/>
        </p:spPr>
        <p:txBody>
          <a:bodyPr wrap="square" anchor="t" lIns="0" rIns="0" tIns="0" bIns="0">
            <a:spAutoFit/>
          </a:bodyPr>
          <a:lstStyle/>
          <a:p>
            <a:pPr algn="l">
              <a:spcAft>
                <a:spcPts val="500"/>
              </a:spcAft>
            </a:pPr>
            <a:r>
              <a:rPr sz="1300" b="0">
                <a:solidFill>
                  <a:srgbClr val="1E1E1E"/>
                </a:solidFill>
              </a:rPr>
              <a:t>•  p90 avisa antes de tiempo; p99 llega tarde y pierde fatigas</a:t>
            </a:r>
          </a:p>
          <a:p>
            <a:pPr algn="l">
              <a:spcAft>
                <a:spcPts val="500"/>
              </a:spcAft>
            </a:pPr>
            <a:r>
              <a:rPr sz="1300" b="0">
                <a:solidFill>
                  <a:srgbClr val="1E1E1E"/>
                </a:solidFill>
              </a:rPr>
              <a:t>•  p95: inicio en 70,5 ± 5,0 s, centro de la transición</a:t>
            </a:r>
          </a:p>
          <a:p>
            <a:pPr algn="l">
              <a:spcAft>
                <a:spcPts val="500"/>
              </a:spcAft>
            </a:pPr>
            <a:r>
              <a:rPr sz="1300" b="0">
                <a:solidFill>
                  <a:srgbClr val="1E1E1E"/>
                </a:solidFill>
              </a:rPr>
              <a:t>•  La fase base y k influyen menos: subir k quita falsas alarmas y retrasa el aviso</a:t>
            </a:r>
          </a:p>
        </p:txBody>
      </p:sp>
      <p:sp>
        <p:nvSpPr>
          <p:cNvPr id="8" name="Rectangle 7"/>
          <p:cNvSpPr/>
          <p:nvPr/>
        </p:nvSpPr>
        <p:spPr>
          <a:xfrm>
            <a:off x="8503920" y="2743200"/>
            <a:ext cx="5212080" cy="40690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PELT: contraste independiente</a:t>
            </a:r>
          </a:p>
        </p:txBody>
      </p:sp>
      <p:sp>
        <p:nvSpPr>
          <p:cNvPr id="10" name="TextBox 9"/>
          <p:cNvSpPr txBox="1"/>
          <p:nvPr/>
        </p:nvSpPr>
        <p:spPr>
          <a:xfrm>
            <a:off x="8778240" y="3474720"/>
            <a:ext cx="4663440" cy="3291840"/>
          </a:xfrm>
          <a:prstGeom prst="rect">
            <a:avLst/>
          </a:prstGeom>
          <a:noFill/>
        </p:spPr>
        <p:txBody>
          <a:bodyPr wrap="square" anchor="t" lIns="0" rIns="0" tIns="0" bIns="0">
            <a:spAutoFit/>
          </a:bodyPr>
          <a:lstStyle/>
          <a:p>
            <a:pPr algn="l">
              <a:spcAft>
                <a:spcPts val="700"/>
              </a:spcAft>
            </a:pPr>
            <a:r>
              <a:rPr sz="1300" b="0">
                <a:solidFill>
                  <a:srgbClr val="1E1E1E"/>
                </a:solidFill>
              </a:rPr>
              <a:t>•  Busca los instantes en que cambia la serie de puntuaciones de anomalía</a:t>
            </a:r>
          </a:p>
          <a:p>
            <a:pPr algn="l">
              <a:spcAft>
                <a:spcPts val="700"/>
              </a:spcAft>
            </a:pPr>
            <a:r>
              <a:rPr sz="1300" b="0">
                <a:solidFill>
                  <a:srgbClr val="1E1E1E"/>
                </a:solidFill>
              </a:rPr>
              <a:t>•  Segmentación exacta en tiempo lineal (poda de candidatos)</a:t>
            </a:r>
          </a:p>
          <a:p>
            <a:pPr algn="l">
              <a:spcAft>
                <a:spcPts val="700"/>
              </a:spcAft>
            </a:pPr>
            <a:r>
              <a:rPr sz="1300" b="0">
                <a:solidFill>
                  <a:srgbClr val="1E1E1E"/>
                </a:solidFill>
              </a:rPr>
              <a:t>•  Coste L2 y penalización β = 2 ln n</a:t>
            </a:r>
          </a:p>
          <a:p>
            <a:pPr algn="l">
              <a:spcAft>
                <a:spcPts val="700"/>
              </a:spcAft>
            </a:pPr>
            <a:r>
              <a:rPr sz="1300" b="0">
                <a:solidFill>
                  <a:srgbClr val="1E1E1E"/>
                </a:solidFill>
              </a:rPr>
              <a:t>•  Secuencia de 90 s: Isolation Forest ciclo 35 (51,9 s); PELT ciclo 33 (49,4 s)</a:t>
            </a:r>
          </a:p>
          <a:p>
            <a:pPr algn="l">
              <a:spcAft>
                <a:spcPts val="700"/>
              </a:spcAft>
            </a:pPr>
            <a:r>
              <a:rPr sz="1300" b="0">
                <a:solidFill>
                  <a:srgbClr val="1E1E1E"/>
                </a:solidFill>
              </a:rPr>
              <a:t>•  Si coinciden, la detección se refuerza</a:t>
            </a:r>
          </a:p>
        </p:txBody>
      </p:sp>
      <p:sp>
        <p:nvSpPr>
          <p:cNvPr id="11" name="TextBox 10"/>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(Tabla 12 de la memoria): 10 secuencias con fatiga y 10 sin fatiga por configuración.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TreeSHAP: cómo se explica cada ciclo</a:t>
            </a:r>
          </a:p>
        </p:txBody>
      </p:sp>
      <p:sp>
        <p:nvSpPr>
          <p:cNvPr id="4" name="Text Placeholder 3"/>
          <p:cNvSpPr>
            <a:spLocks noGrp="1"/>
          </p:cNvSpPr>
          <p:nvPr>
            <p:ph type="body" idx="18" sz="quarter"/>
          </p:nvPr>
        </p:nvSpPr>
        <p:spPr>
          <a:xfrm>
            <a:off x="906463" y="2172974"/>
            <a:ext cx="12344400" cy="594092"/>
          </a:xfrm>
        </p:spPr>
        <p:txBody>
          <a:bodyPr/>
          <a:lstStyle/>
          <a:p>
            <a:r>
              <a:t>Valores de Shapley exactos sobre el Isolation Forest</a:t>
            </a:r>
          </a:p>
        </p:txBody>
      </p:sp>
      <p:sp>
        <p:nvSpPr>
          <p:cNvPr id="5" name="Rectangle 4"/>
          <p:cNvSpPr/>
          <p:nvPr/>
        </p:nvSpPr>
        <p:spPr>
          <a:xfrm>
            <a:off x="905256"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Valores de Shapley</a:t>
            </a:r>
          </a:p>
        </p:txBody>
      </p:sp>
      <p:sp>
        <p:nvSpPr>
          <p:cNvPr id="8" name="TextBox 7"/>
          <p:cNvSpPr txBox="1"/>
          <p:nvPr/>
        </p:nvSpPr>
        <p:spPr>
          <a:xfrm>
            <a:off x="1179576"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Teoría de juegos: reparten la puntuación entre las variables de forma justa. Aditivos: f(x) = φ0 + Σ φj → explicación de un ciclo y de todo el nado.</a:t>
            </a:r>
          </a:p>
        </p:txBody>
      </p:sp>
      <p:sp>
        <p:nvSpPr>
          <p:cNvPr id="9" name="Rectangle 8"/>
          <p:cNvSpPr/>
          <p:nvPr/>
        </p:nvSpPr>
        <p:spPr>
          <a:xfrm>
            <a:off x="5120640"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TreeSHAP</a:t>
            </a:r>
          </a:p>
        </p:txBody>
      </p:sp>
      <p:sp>
        <p:nvSpPr>
          <p:cNvPr id="12" name="TextBox 11"/>
          <p:cNvSpPr txBox="1"/>
          <p:nvPr/>
        </p:nvSpPr>
        <p:spPr>
          <a:xfrm>
            <a:off x="5394959"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Valores exactos en tiempo polinómico para modelos de árboles: sirve para Isolation Forest y para el bosque aleatorio.</a:t>
            </a:r>
          </a:p>
        </p:txBody>
      </p:sp>
      <p:sp>
        <p:nvSpPr>
          <p:cNvPr id="13" name="Rectangle 12"/>
          <p:cNvSpPr/>
          <p:nvPr/>
        </p:nvSpPr>
        <p:spPr>
          <a:xfrm>
            <a:off x="9336024"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Controles</a:t>
            </a:r>
          </a:p>
        </p:txBody>
      </p:sp>
      <p:sp>
        <p:nvSpPr>
          <p:cNvPr id="16" name="TextBox 15"/>
          <p:cNvSpPr txBox="1"/>
          <p:nvPr/>
        </p:nvSpPr>
        <p:spPr>
          <a:xfrm>
            <a:off x="9610344"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Signo invertido: positivo = acerca a la fatiga. Correlación entre la suma SHAP y la puntuación en cada ejecución (0,999 en la secuencia de 90 s).</a:t>
            </a:r>
          </a:p>
        </p:txBody>
      </p:sp>
      <p:sp>
        <p:nvSpPr>
          <p:cNvPr id="17" name="TextBox 16"/>
          <p:cNvSpPr txBox="1"/>
          <p:nvPr/>
        </p:nvSpPr>
        <p:spPr>
          <a:xfrm>
            <a:off x="905256" y="6263640"/>
            <a:ext cx="12801600" cy="640080"/>
          </a:xfrm>
          <a:prstGeom prst="rect">
            <a:avLst/>
          </a:prstGeom>
          <a:noFill/>
        </p:spPr>
        <p:txBody>
          <a:bodyPr wrap="square" anchor="t" lIns="0" rIns="0" tIns="0" bIns="0">
            <a:spAutoFit/>
          </a:bodyPr>
          <a:lstStyle/>
          <a:p>
            <a:pPr algn="l">
              <a:spcAft>
                <a:spcPts val="600"/>
              </a:spcAft>
            </a:pPr>
            <a:r>
              <a:rPr sz="1400" b="1">
                <a:solidFill>
                  <a:srgbClr val="FF3228"/>
                </a:solidFill>
              </a:rPr>
              <a:t>Salida para el entrenador: </a:t>
            </a:r>
            <a:r>
              <a:rPr sz="1400" b="0">
                <a:solidFill>
                  <a:srgbClr val="1E1E1E"/>
                </a:solidFill>
              </a:rPr>
              <a:t>las 4 variables con más contribución y su cambio respecto a la fase fresca. Sin variables redundantes, para que la atribución no se reparta entre medidas equivalentes.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Qué cambió y por qué</a:t>
            </a:r>
          </a:p>
        </p:txBody>
      </p:sp>
      <p:sp>
        <p:nvSpPr>
          <p:cNvPr id="4" name="Text Placeholder 3"/>
          <p:cNvSpPr>
            <a:spLocks noGrp="1"/>
          </p:cNvSpPr>
          <p:nvPr>
            <p:ph type="body" idx="18" sz="quarter"/>
          </p:nvPr>
        </p:nvSpPr>
        <p:spPr>
          <a:xfrm>
            <a:off x="906463" y="2172974"/>
            <a:ext cx="12344400" cy="594092"/>
          </a:xfrm>
        </p:spPr>
        <p:txBody>
          <a:bodyPr/>
          <a:lstStyle/>
          <a:p>
            <a:r>
              <a:t>Cambios respecto al planteamiento inicial (memoria, apartado 5.2)</a:t>
            </a:r>
          </a:p>
        </p:txBody>
      </p:sp>
      <p:graphicFrame>
        <p:nvGraphicFramePr>
          <p:cNvPr id="5" name="Table 4"/>
          <p:cNvGraphicFramePr>
            <a:graphicFrameLocks noGrp="1"/>
          </p:cNvGraphicFramePr>
          <p:nvPr/>
        </p:nvGraphicFramePr>
        <p:xfrm>
          <a:off x="905256" y="2743200"/>
          <a:ext cx="12801600" cy="4023360"/>
        </p:xfrm>
        <a:graphic>
          <a:graphicData uri="http://schemas.openxmlformats.org/drawingml/2006/table">
            <a:tbl>
              <a:tblPr firstRow="1" bandRow="1">
                <a:tableStyleId>{5C22544A-7EE6-4342-B048-85BDC9FD1C3A}</a:tableStyleId>
              </a:tblPr>
              <a:tblGrid>
                <a:gridCol w="3200400"/>
                <a:gridCol w="4206240"/>
                <a:gridCol w="5394960"/>
              </a:tblGrid>
              <a:tr h="502920">
                <a:tc>
                  <a:txBody>
                    <a:bodyPr/>
                    <a:lstStyle/>
                    <a:p>
                      <a:r>
                        <a:rPr sz="1300" b="1">
                          <a:solidFill>
                            <a:srgbClr val="FFFFFF"/>
                          </a:solidFill>
                        </a:rPr>
                        <a:t>Planteamiento inicial</a:t>
                      </a:r>
                    </a:p>
                  </a:txBody>
                  <a:tcPr marL="91440" marR="91440" marT="27432" marB="27432" anchor="ctr">
                    <a:solidFill>
                      <a:srgbClr val="FF3228"/>
                    </a:solidFill>
                  </a:tcPr>
                </a:tc>
                <a:tc>
                  <a:txBody>
                    <a:bodyPr/>
                    <a:lstStyle/>
                    <a:p>
                      <a:r>
                        <a:rPr sz="1300" b="1">
                          <a:solidFill>
                            <a:srgbClr val="FFFFFF"/>
                          </a:solidFill>
                        </a:rPr>
                        <a:t>Decisión final</a:t>
                      </a:r>
                    </a:p>
                  </a:txBody>
                  <a:tcPr marL="91440" marR="91440" marT="27432" marB="27432" anchor="ctr">
                    <a:solidFill>
                      <a:srgbClr val="FF3228"/>
                    </a:solidFill>
                  </a:tcPr>
                </a:tc>
                <a:tc>
                  <a:txBody>
                    <a:bodyPr/>
                    <a:lstStyle/>
                    <a:p>
                      <a:r>
                        <a:rPr sz="1300" b="1">
                          <a:solidFill>
                            <a:srgbClr val="FFFFFF"/>
                          </a:solidFill>
                        </a:rPr>
                        <a:t>Motivo</a:t>
                      </a:r>
                    </a:p>
                  </a:txBody>
                  <a:tcPr marL="91440" marR="91440" marT="27432" marB="27432" anchor="ctr">
                    <a:solidFill>
                      <a:srgbClr val="FF3228"/>
                    </a:solidFill>
                  </a:tcPr>
                </a:tc>
              </a:tr>
              <a:tr h="502920">
                <a:tc>
                  <a:txBody>
                    <a:bodyPr/>
                    <a:lstStyle/>
                    <a:p>
                      <a:r>
                        <a:rPr sz="1300" b="0">
                          <a:solidFill>
                            <a:srgbClr val="1E1E1E"/>
                          </a:solidFill>
                        </a:rPr>
                        <a:t>MoveNet</a:t>
                      </a:r>
                    </a:p>
                  </a:txBody>
                  <a:tcPr marL="91440" marR="91440" marT="27432" marB="27432" anchor="ctr">
                    <a:solidFill>
                      <a:srgbClr val="FFFFFF"/>
                    </a:solidFill>
                  </a:tcPr>
                </a:tc>
                <a:tc>
                  <a:txBody>
                    <a:bodyPr/>
                    <a:lstStyle/>
                    <a:p>
                      <a:r>
                        <a:rPr sz="1300" b="0">
                          <a:solidFill>
                            <a:srgbClr val="1E1E1E"/>
                          </a:solidFill>
                        </a:rPr>
                        <a:t>YOLOv8n-Pose</a:t>
                      </a:r>
                    </a:p>
                  </a:txBody>
                  <a:tcPr marL="91440" marR="91440" marT="27432" marB="27432" anchor="ctr">
                    <a:solidFill>
                      <a:srgbClr val="FFFFFF"/>
                    </a:solidFill>
                  </a:tcPr>
                </a:tc>
                <a:tc>
                  <a:txBody>
                    <a:bodyPr/>
                    <a:lstStyle/>
                    <a:p>
                      <a:r>
                        <a:rPr sz="1300" b="0">
                          <a:solidFill>
                            <a:srgbClr val="1E1E1E"/>
                          </a:solidFill>
                        </a:rPr>
                        <a:t>Doble de confianza y cinco veces más ciclos válidos bajo el agua</a:t>
                      </a:r>
                    </a:p>
                  </a:txBody>
                  <a:tcPr marL="91440" marR="91440" marT="27432" marB="27432" anchor="ctr">
                    <a:solidFill>
                      <a:srgbClr val="FFFFFF"/>
                    </a:solidFill>
                  </a:tcPr>
                </a:tc>
              </a:tr>
              <a:tr h="502920">
                <a:tc>
                  <a:txBody>
                    <a:bodyPr/>
                    <a:lstStyle/>
                    <a:p>
                      <a:r>
                        <a:rPr sz="1300" b="0">
                          <a:solidFill>
                            <a:srgbClr val="1E1E1E"/>
                          </a:solidFill>
                        </a:rPr>
                        <a:t>Solo vista lateral</a:t>
                      </a:r>
                    </a:p>
                  </a:txBody>
                  <a:tcPr marL="91440" marR="91440" marT="27432" marB="27432" anchor="ctr">
                    <a:solidFill>
                      <a:srgbClr val="EEEDED"/>
                    </a:solidFill>
                  </a:tcPr>
                </a:tc>
                <a:tc>
                  <a:txBody>
                    <a:bodyPr/>
                    <a:lstStyle/>
                    <a:p>
                      <a:r>
                        <a:rPr sz="1300" b="0">
                          <a:solidFill>
                            <a:srgbClr val="1E1E1E"/>
                          </a:solidFill>
                        </a:rPr>
                        <a:t>Lateral y frontal, vista automática por tramos</a:t>
                      </a:r>
                    </a:p>
                  </a:txBody>
                  <a:tcPr marL="91440" marR="91440" marT="27432" marB="27432" anchor="ctr">
                    <a:solidFill>
                      <a:srgbClr val="EEEDED"/>
                    </a:solidFill>
                  </a:tcPr>
                </a:tc>
                <a:tc>
                  <a:txBody>
                    <a:bodyPr/>
                    <a:lstStyle/>
                    <a:p>
                      <a:r>
                        <a:rPr sz="1300" b="0">
                          <a:solidFill>
                            <a:srgbClr val="1E1E1E"/>
                          </a:solidFill>
                        </a:rPr>
                        <a:t>Parte de los vídeos es frontal: la profundidad de la mano no se ve</a:t>
                      </a:r>
                    </a:p>
                  </a:txBody>
                  <a:tcPr marL="91440" marR="91440" marT="27432" marB="27432" anchor="ctr">
                    <a:solidFill>
                      <a:srgbClr val="EEEDED"/>
                    </a:solidFill>
                  </a:tcPr>
                </a:tc>
              </a:tr>
              <a:tr h="502920">
                <a:tc>
                  <a:txBody>
                    <a:bodyPr/>
                    <a:lstStyle/>
                    <a:p>
                      <a:r>
                        <a:rPr sz="1300" b="0">
                          <a:solidFill>
                            <a:srgbClr val="1E1E1E"/>
                          </a:solidFill>
                        </a:rPr>
                        <a:t>Red recurrente supervisada</a:t>
                      </a:r>
                    </a:p>
                  </a:txBody>
                  <a:tcPr marL="91440" marR="91440" marT="27432" marB="27432" anchor="ctr">
                    <a:solidFill>
                      <a:srgbClr val="FFFFFF"/>
                    </a:solidFill>
                  </a:tcPr>
                </a:tc>
                <a:tc>
                  <a:txBody>
                    <a:bodyPr/>
                    <a:lstStyle/>
                    <a:p>
                      <a:r>
                        <a:rPr sz="1300" b="0">
                          <a:solidFill>
                            <a:srgbClr val="1E1E1E"/>
                          </a:solidFill>
                        </a:rPr>
                        <a:t>Isolation Forest no supervisado</a:t>
                      </a:r>
                    </a:p>
                  </a:txBody>
                  <a:tcPr marL="91440" marR="91440" marT="27432" marB="27432" anchor="ctr">
                    <a:solidFill>
                      <a:srgbClr val="FFFFFF"/>
                    </a:solidFill>
                  </a:tcPr>
                </a:tc>
                <a:tc>
                  <a:txBody>
                    <a:bodyPr/>
                    <a:lstStyle/>
                    <a:p>
                      <a:r>
                        <a:rPr sz="1300" b="0">
                          <a:solidFill>
                            <a:srgbClr val="1E1E1E"/>
                          </a:solidFill>
                        </a:rPr>
                        <a:t>Sin etiquetas de fatiga; admite SHAP exacto</a:t>
                      </a:r>
                    </a:p>
                  </a:txBody>
                  <a:tcPr marL="91440" marR="91440" marT="27432" marB="27432" anchor="ctr">
                    <a:solidFill>
                      <a:srgbClr val="FFFFFF"/>
                    </a:solidFill>
                  </a:tcPr>
                </a:tc>
              </a:tr>
              <a:tr h="502920">
                <a:tc>
                  <a:txBody>
                    <a:bodyPr/>
                    <a:lstStyle/>
                    <a:p>
                      <a:r>
                        <a:rPr sz="1300" b="0">
                          <a:solidFill>
                            <a:srgbClr val="1E1E1E"/>
                          </a:solidFill>
                        </a:rPr>
                        <a:t>XGBoost</a:t>
                      </a:r>
                    </a:p>
                  </a:txBody>
                  <a:tcPr marL="91440" marR="91440" marT="27432" marB="27432" anchor="ctr">
                    <a:solidFill>
                      <a:srgbClr val="EEEDED"/>
                    </a:solidFill>
                  </a:tcPr>
                </a:tc>
                <a:tc>
                  <a:txBody>
                    <a:bodyPr/>
                    <a:lstStyle/>
                    <a:p>
                      <a:r>
                        <a:rPr sz="1300" b="0">
                          <a:solidFill>
                            <a:srgbClr val="1E1E1E"/>
                          </a:solidFill>
                        </a:rPr>
                        <a:t>Bosque aleatorio → reglas biomecánicas</a:t>
                      </a:r>
                    </a:p>
                  </a:txBody>
                  <a:tcPr marL="91440" marR="91440" marT="27432" marB="27432" anchor="ctr">
                    <a:solidFill>
                      <a:srgbClr val="EEEDED"/>
                    </a:solidFill>
                  </a:tcPr>
                </a:tc>
                <a:tc>
                  <a:txBody>
                    <a:bodyPr/>
                    <a:lstStyle/>
                    <a:p>
                      <a:r>
                        <a:rPr sz="1300" b="0">
                          <a:solidFill>
                            <a:srgbClr val="1E1E1E"/>
                          </a:solidFill>
                        </a:rPr>
                        <a:t>El modelo supervisado aprendía al nadador, no el estilo</a:t>
                      </a:r>
                    </a:p>
                  </a:txBody>
                  <a:tcPr marL="91440" marR="91440" marT="27432" marB="27432" anchor="ctr">
                    <a:solidFill>
                      <a:srgbClr val="EEEDED"/>
                    </a:solidFill>
                  </a:tcPr>
                </a:tc>
              </a:tr>
              <a:tr h="502920">
                <a:tc>
                  <a:txBody>
                    <a:bodyPr/>
                    <a:lstStyle/>
                    <a:p>
                      <a:r>
                        <a:rPr sz="1300" b="1">
                          <a:solidFill>
                            <a:srgbClr val="1E1E1E"/>
                          </a:solidFill>
                        </a:rPr>
                        <a:t>Validación por fotograma</a:t>
                      </a:r>
                    </a:p>
                  </a:txBody>
                  <a:tcPr marL="91440" marR="91440" marT="27432" marB="27432" anchor="ctr">
                    <a:solidFill>
                      <a:srgbClr val="FFAFAA"/>
                    </a:solidFill>
                  </a:tcPr>
                </a:tc>
                <a:tc>
                  <a:txBody>
                    <a:bodyPr/>
                    <a:lstStyle/>
                    <a:p>
                      <a:r>
                        <a:rPr sz="1300" b="1">
                          <a:solidFill>
                            <a:srgbClr val="1E1E1E"/>
                          </a:solidFill>
                        </a:rPr>
                        <a:t>Validación por vídeo (GroupKFold)</a:t>
                      </a:r>
                    </a:p>
                  </a:txBody>
                  <a:tcPr marL="91440" marR="91440" marT="27432" marB="27432" anchor="ctr">
                    <a:solidFill>
                      <a:srgbClr val="FFAFAA"/>
                    </a:solidFill>
                  </a:tcPr>
                </a:tc>
                <a:tc>
                  <a:txBody>
                    <a:bodyPr/>
                    <a:lstStyle/>
                    <a:p>
                      <a:r>
                        <a:rPr sz="1300" b="1">
                          <a:solidFill>
                            <a:srgbClr val="1E1E1E"/>
                          </a:solidFill>
                        </a:rPr>
                        <a:t>El 99,99 % de una versión anterior era fuga de datos</a:t>
                      </a:r>
                    </a:p>
                  </a:txBody>
                  <a:tcPr marL="91440" marR="91440" marT="27432" marB="27432" anchor="ctr">
                    <a:solidFill>
                      <a:srgbClr val="FFAFAA"/>
                    </a:solidFill>
                  </a:tcPr>
                </a:tc>
              </a:tr>
              <a:tr h="502920">
                <a:tc>
                  <a:txBody>
                    <a:bodyPr/>
                    <a:lstStyle/>
                    <a:p>
                      <a:r>
                        <a:rPr sz="1300" b="0">
                          <a:solidFill>
                            <a:srgbClr val="1E1E1E"/>
                          </a:solidFill>
                        </a:rPr>
                        <a:t>Potencia en vatios</a:t>
                      </a:r>
                    </a:p>
                  </a:txBody>
                  <a:tcPr marL="91440" marR="91440" marT="27432" marB="27432" anchor="ctr">
                    <a:solidFill>
                      <a:srgbClr val="EEEDED"/>
                    </a:solidFill>
                  </a:tcPr>
                </a:tc>
                <a:tc>
                  <a:txBody>
                    <a:bodyPr/>
                    <a:lstStyle/>
                    <a:p>
                      <a:r>
                        <a:rPr sz="1300" b="0">
                          <a:solidFill>
                            <a:srgbClr val="1E1E1E"/>
                          </a:solidFill>
                        </a:rPr>
                        <a:t>Indicadores cinemáticos</a:t>
                      </a:r>
                    </a:p>
                  </a:txBody>
                  <a:tcPr marL="91440" marR="91440" marT="27432" marB="27432" anchor="ctr">
                    <a:solidFill>
                      <a:srgbClr val="EEEDED"/>
                    </a:solidFill>
                  </a:tcPr>
                </a:tc>
                <a:tc>
                  <a:txBody>
                    <a:bodyPr/>
                    <a:lstStyle/>
                    <a:p>
                      <a:r>
                        <a:rPr sz="1300" b="0">
                          <a:solidFill>
                            <a:srgbClr val="1E1E1E"/>
                          </a:solidFill>
                        </a:rPr>
                        <a:t>La potencia depende de CD y A, no medibles desde vídeo</a:t>
                      </a:r>
                    </a:p>
                  </a:txBody>
                  <a:tcPr marL="91440" marR="91440" marT="27432" marB="27432" anchor="ctr">
                    <a:solidFill>
                      <a:srgbClr val="EEEDED"/>
                    </a:solidFill>
                  </a:tcPr>
                </a:tc>
              </a:tr>
              <a:tr h="502920">
                <a:tc>
                  <a:txBody>
                    <a:bodyPr/>
                    <a:lstStyle/>
                    <a:p>
                      <a:r>
                        <a:rPr sz="1300" b="0">
                          <a:solidFill>
                            <a:srgbClr val="1E1E1E"/>
                          </a:solidFill>
                        </a:rPr>
                        <a:t>Sensores inerciales</a:t>
                      </a:r>
                    </a:p>
                  </a:txBody>
                  <a:tcPr marL="91440" marR="91440" marT="27432" marB="27432" anchor="ctr">
                    <a:solidFill>
                      <a:srgbClr val="FFFFFF"/>
                    </a:solidFill>
                  </a:tcPr>
                </a:tc>
                <a:tc>
                  <a:txBody>
                    <a:bodyPr/>
                    <a:lstStyle/>
                    <a:p>
                      <a:r>
                        <a:rPr sz="1300" b="0">
                          <a:solidFill>
                            <a:srgbClr val="1E1E1E"/>
                          </a:solidFill>
                        </a:rPr>
                        <a:t>Solo vídeo</a:t>
                      </a:r>
                    </a:p>
                  </a:txBody>
                  <a:tcPr marL="91440" marR="91440" marT="27432" marB="27432" anchor="ctr">
                    <a:solidFill>
                      <a:srgbClr val="FFFFFF"/>
                    </a:solidFill>
                  </a:tcPr>
                </a:tc>
                <a:tc>
                  <a:txBody>
                    <a:bodyPr/>
                    <a:lstStyle/>
                    <a:p>
                      <a:r>
                        <a:rPr sz="1300" b="0">
                          <a:solidFill>
                            <a:srgbClr val="1E1E1E"/>
                          </a:solidFill>
                        </a:rPr>
                        <a:t>No se dispuso de sensores (trabajo futuro)</a:t>
                      </a:r>
                    </a:p>
                  </a:txBody>
                  <a:tcPr marL="91440" marR="91440"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Del análisis al entrenador</a:t>
            </a:r>
          </a:p>
        </p:txBody>
      </p:sp>
      <p:sp>
        <p:nvSpPr>
          <p:cNvPr id="4" name="Text Placeholder 3"/>
          <p:cNvSpPr>
            <a:spLocks noGrp="1"/>
          </p:cNvSpPr>
          <p:nvPr>
            <p:ph type="body" idx="18" sz="quarter"/>
          </p:nvPr>
        </p:nvSpPr>
        <p:spPr>
          <a:xfrm>
            <a:off x="906463" y="2172974"/>
            <a:ext cx="12344400" cy="594092"/>
          </a:xfrm>
        </p:spPr>
        <p:txBody>
          <a:bodyPr/>
          <a:lstStyle/>
          <a:p>
            <a:r>
              <a:t>Vídeo anotado y modo en tiempo real</a:t>
            </a:r>
          </a:p>
        </p:txBody>
      </p:sp>
      <p:pic>
        <p:nvPicPr>
          <p:cNvPr id="5" name="Picture 4" descr="panel_video.png"/>
          <p:cNvPicPr>
            <a:picLocks noChangeAspect="1"/>
          </p:cNvPicPr>
          <p:nvPr/>
        </p:nvPicPr>
        <p:blipFill>
          <a:blip r:embed="rId3"/>
          <a:stretch>
            <a:fillRect/>
          </a:stretch>
        </p:blipFill>
        <p:spPr>
          <a:xfrm>
            <a:off x="905256" y="2697480"/>
            <a:ext cx="7315200" cy="4114800"/>
          </a:xfrm>
          <a:prstGeom prst="rect">
            <a:avLst/>
          </a:prstGeom>
        </p:spPr>
      </p:pic>
      <p:sp>
        <p:nvSpPr>
          <p:cNvPr id="6" name="TextBox 5"/>
          <p:cNvSpPr txBox="1"/>
          <p:nvPr/>
        </p:nvSpPr>
        <p:spPr>
          <a:xfrm>
            <a:off x="8686800" y="2743200"/>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Estado por ciclo</a:t>
            </a:r>
          </a:p>
        </p:txBody>
      </p:sp>
      <p:sp>
        <p:nvSpPr>
          <p:cNvPr id="7" name="TextBox 6"/>
          <p:cNvSpPr txBox="1"/>
          <p:nvPr/>
        </p:nvSpPr>
        <p:spPr>
          <a:xfrm>
            <a:off x="8686800" y="3127248"/>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FRESCO / FATIGA, ciclo y frecuencia sobre el vídeo</a:t>
            </a:r>
          </a:p>
        </p:txBody>
      </p:sp>
      <p:sp>
        <p:nvSpPr>
          <p:cNvPr id="8" name="TextBox 7"/>
          <p:cNvSpPr txBox="1"/>
          <p:nvPr/>
        </p:nvSpPr>
        <p:spPr>
          <a:xfrm>
            <a:off x="8686800" y="3767328"/>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Barra de anomalía</a:t>
            </a:r>
          </a:p>
        </p:txBody>
      </p:sp>
      <p:sp>
        <p:nvSpPr>
          <p:cNvPr id="9" name="TextBox 8"/>
          <p:cNvSpPr txBox="1"/>
          <p:nvPr/>
        </p:nvSpPr>
        <p:spPr>
          <a:xfrm>
            <a:off x="8686800" y="4151376"/>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Puntuación de cada ciclo, umbral e inicio de la fatiga</a:t>
            </a:r>
          </a:p>
        </p:txBody>
      </p:sp>
      <p:sp>
        <p:nvSpPr>
          <p:cNvPr id="10" name="TextBox 9"/>
          <p:cNvSpPr txBox="1"/>
          <p:nvPr/>
        </p:nvSpPr>
        <p:spPr>
          <a:xfrm>
            <a:off x="8686800" y="4791456"/>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Tiempo real</a:t>
            </a:r>
          </a:p>
        </p:txBody>
      </p:sp>
      <p:sp>
        <p:nvSpPr>
          <p:cNvPr id="11" name="TextBox 10"/>
          <p:cNvSpPr txBox="1"/>
          <p:nvPr/>
        </p:nvSpPr>
        <p:spPr>
          <a:xfrm>
            <a:off x="8686800" y="5175504"/>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Calibra con los 10 primeros ciclos y explica con SHAP en directo</a:t>
            </a:r>
          </a:p>
        </p:txBody>
      </p:sp>
      <p:sp>
        <p:nvSpPr>
          <p:cNvPr id="12" name="TextBox 11"/>
          <p:cNvSpPr txBox="1"/>
          <p:nvPr/>
        </p:nvSpPr>
        <p:spPr>
          <a:xfrm>
            <a:off x="8686800" y="5815584"/>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Automático</a:t>
            </a:r>
          </a:p>
        </p:txBody>
      </p:sp>
      <p:sp>
        <p:nvSpPr>
          <p:cNvPr id="13" name="TextBox 12"/>
          <p:cNvSpPr txBox="1"/>
          <p:nvPr/>
        </p:nvSpPr>
        <p:spPr>
          <a:xfrm>
            <a:off x="8686800" y="6199632"/>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Vista de cámara, familia del estilo y lotes de vídeos</a:t>
            </a:r>
          </a:p>
        </p:txBody>
      </p:sp>
      <p:sp>
        <p:nvSpPr>
          <p:cNvPr id="14" name="TextBox 13"/>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Captura del vídeo anotado sobre datos sintéticos.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Resultados</a:t>
            </a:r>
          </a:p>
        </p:txBody>
      </p:sp>
      <p:sp>
        <p:nvSpPr>
          <p:cNvPr id="4" name="Text Placeholder 3"/>
          <p:cNvSpPr>
            <a:spLocks noGrp="1"/>
          </p:cNvSpPr>
          <p:nvPr>
            <p:ph type="body" idx="18" sz="quarter"/>
          </p:nvPr>
        </p:nvSpPr>
        <p:spPr>
          <a:xfrm>
            <a:off x="906463" y="2172974"/>
            <a:ext cx="12344400" cy="594092"/>
          </a:xfrm>
        </p:spPr>
        <p:txBody>
          <a:bodyPr/>
          <a:lstStyle/>
          <a:p>
            <a:r>
              <a:t>Nadadores reales y datos sintéticos, por separado</a:t>
            </a:r>
          </a:p>
        </p:txBody>
      </p:sp>
      <p:sp>
        <p:nvSpPr>
          <p:cNvPr id="5" name="TextBox 4"/>
          <p:cNvSpPr txBox="1"/>
          <p:nvPr/>
        </p:nvSpPr>
        <p:spPr>
          <a:xfrm>
            <a:off x="905256" y="2697480"/>
            <a:ext cx="12801600" cy="365760"/>
          </a:xfrm>
          <a:prstGeom prst="rect">
            <a:avLst/>
          </a:prstGeom>
          <a:noFill/>
        </p:spPr>
        <p:txBody>
          <a:bodyPr wrap="square" anchor="t" lIns="0" rIns="0" tIns="0" bIns="0">
            <a:spAutoFit/>
          </a:bodyPr>
          <a:lstStyle/>
          <a:p>
            <a:pPr algn="l">
              <a:spcAft>
                <a:spcPts val="600"/>
              </a:spcAft>
            </a:pPr>
            <a:r>
              <a:rPr sz="1500" b="1">
                <a:solidFill>
                  <a:srgbClr val="FF3228"/>
                </a:solidFill>
              </a:rPr>
              <a:t>Nadadores reales · 17 secuencias, 4 participantes, 4 estilos</a:t>
            </a:r>
          </a:p>
        </p:txBody>
      </p:sp>
      <p:sp>
        <p:nvSpPr>
          <p:cNvPr id="6" name="Rectangle 5"/>
          <p:cNvSpPr/>
          <p:nvPr/>
        </p:nvSpPr>
        <p:spPr>
          <a:xfrm>
            <a:off x="90525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95</a:t>
            </a:r>
          </a:p>
        </p:txBody>
      </p:sp>
      <p:sp>
        <p:nvSpPr>
          <p:cNvPr id="8" name="TextBox 7"/>
          <p:cNvSpPr txBox="1"/>
          <p:nvPr/>
        </p:nvSpPr>
        <p:spPr>
          <a:xfrm>
            <a:off x="113385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ciclos válidos (2,2 de 6,6 min analizables)</a:t>
            </a:r>
          </a:p>
        </p:txBody>
      </p:sp>
      <p:sp>
        <p:nvSpPr>
          <p:cNvPr id="9" name="Rectangle 8"/>
          <p:cNvSpPr/>
          <p:nvPr/>
        </p:nvSpPr>
        <p:spPr>
          <a:xfrm>
            <a:off x="415137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997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6,5-8,2 %</a:t>
            </a:r>
          </a:p>
        </p:txBody>
      </p:sp>
      <p:sp>
        <p:nvSpPr>
          <p:cNvPr id="11" name="TextBox 10"/>
          <p:cNvSpPr txBox="1"/>
          <p:nvPr/>
        </p:nvSpPr>
        <p:spPr>
          <a:xfrm>
            <a:off x="437997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frecuencia frente al conteo manual</a:t>
            </a:r>
          </a:p>
        </p:txBody>
      </p:sp>
      <p:sp>
        <p:nvSpPr>
          <p:cNvPr id="12" name="Rectangle 11"/>
          <p:cNvSpPr/>
          <p:nvPr/>
        </p:nvSpPr>
        <p:spPr>
          <a:xfrm>
            <a:off x="739749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609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12/13</a:t>
            </a:r>
          </a:p>
        </p:txBody>
      </p:sp>
      <p:sp>
        <p:nvSpPr>
          <p:cNvPr id="14" name="TextBox 13"/>
          <p:cNvSpPr txBox="1"/>
          <p:nvPr/>
        </p:nvSpPr>
        <p:spPr>
          <a:xfrm>
            <a:off x="762609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familia del estilo correcta (reglas)</a:t>
            </a:r>
          </a:p>
        </p:txBody>
      </p:sp>
      <p:sp>
        <p:nvSpPr>
          <p:cNvPr id="15" name="Rectangle 14"/>
          <p:cNvSpPr/>
          <p:nvPr/>
        </p:nvSpPr>
        <p:spPr>
          <a:xfrm>
            <a:off x="10643615"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72215"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0</a:t>
            </a:r>
          </a:p>
        </p:txBody>
      </p:sp>
      <p:sp>
        <p:nvSpPr>
          <p:cNvPr id="17" name="TextBox 16"/>
          <p:cNvSpPr txBox="1"/>
          <p:nvPr/>
        </p:nvSpPr>
        <p:spPr>
          <a:xfrm>
            <a:off x="10872215"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en 3 sesiones de pasadas cortas</a:t>
            </a:r>
          </a:p>
        </p:txBody>
      </p:sp>
      <p:sp>
        <p:nvSpPr>
          <p:cNvPr id="18" name="TextBox 17"/>
          <p:cNvSpPr txBox="1"/>
          <p:nvPr/>
        </p:nvSpPr>
        <p:spPr>
          <a:xfrm>
            <a:off x="905256" y="4846320"/>
            <a:ext cx="12801600" cy="365760"/>
          </a:xfrm>
          <a:prstGeom prst="rect">
            <a:avLst/>
          </a:prstGeom>
          <a:noFill/>
        </p:spPr>
        <p:txBody>
          <a:bodyPr wrap="square" anchor="t" lIns="0" rIns="0" tIns="0" bIns="0">
            <a:spAutoFit/>
          </a:bodyPr>
          <a:lstStyle/>
          <a:p>
            <a:pPr algn="l">
              <a:spcAft>
                <a:spcPts val="600"/>
              </a:spcAft>
            </a:pPr>
            <a:r>
              <a:rPr sz="1500" b="1">
                <a:solidFill>
                  <a:srgbClr val="1E1E1E"/>
                </a:solidFill>
              </a:rPr>
              <a:t>Datos sintéticos · referencia conocida</a:t>
            </a:r>
          </a:p>
        </p:txBody>
      </p:sp>
      <p:sp>
        <p:nvSpPr>
          <p:cNvPr id="19" name="Rectangle 18"/>
          <p:cNvSpPr/>
          <p:nvPr/>
        </p:nvSpPr>
        <p:spPr>
          <a:xfrm>
            <a:off x="90525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4,7 %</a:t>
            </a:r>
          </a:p>
        </p:txBody>
      </p:sp>
      <p:sp>
        <p:nvSpPr>
          <p:cNvPr id="21" name="TextBox 20"/>
          <p:cNvSpPr txBox="1"/>
          <p:nvPr/>
        </p:nvSpPr>
        <p:spPr>
          <a:xfrm>
            <a:off x="113385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22" name="Rectangle 21"/>
          <p:cNvSpPr/>
          <p:nvPr/>
        </p:nvSpPr>
        <p:spPr>
          <a:xfrm>
            <a:off x="415137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100 %</a:t>
            </a:r>
          </a:p>
        </p:txBody>
      </p:sp>
      <p:sp>
        <p:nvSpPr>
          <p:cNvPr id="24" name="TextBox 23"/>
          <p:cNvSpPr txBox="1"/>
          <p:nvPr/>
        </p:nvSpPr>
        <p:spPr>
          <a:xfrm>
            <a:off x="437997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fatigas detectadas</a:t>
            </a:r>
          </a:p>
        </p:txBody>
      </p:sp>
      <p:sp>
        <p:nvSpPr>
          <p:cNvPr id="25" name="Rectangle 24"/>
          <p:cNvSpPr/>
          <p:nvPr/>
        </p:nvSpPr>
        <p:spPr>
          <a:xfrm>
            <a:off x="739749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609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10 %</a:t>
            </a:r>
          </a:p>
        </p:txBody>
      </p:sp>
      <p:sp>
        <p:nvSpPr>
          <p:cNvPr id="27" name="TextBox 26"/>
          <p:cNvSpPr txBox="1"/>
          <p:nvPr/>
        </p:nvSpPr>
        <p:spPr>
          <a:xfrm>
            <a:off x="762609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a:t>
            </a:r>
          </a:p>
        </p:txBody>
      </p:sp>
      <p:sp>
        <p:nvSpPr>
          <p:cNvPr id="28" name="Rectangle 27"/>
          <p:cNvSpPr/>
          <p:nvPr/>
        </p:nvSpPr>
        <p:spPr>
          <a:xfrm>
            <a:off x="10643615"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872215"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10/10</a:t>
            </a:r>
          </a:p>
        </p:txBody>
      </p:sp>
      <p:sp>
        <p:nvSpPr>
          <p:cNvPr id="30" name="TextBox 29"/>
          <p:cNvSpPr txBox="1"/>
          <p:nvPr/>
        </p:nvSpPr>
        <p:spPr>
          <a:xfrm>
            <a:off x="10872215"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detectadas en tiempo real, sin falsas alarmas</a:t>
            </a:r>
          </a:p>
        </p:txBody>
      </p:sp>
      <p:sp>
        <p:nvSpPr>
          <p:cNvPr id="31" name="TextBox 30"/>
          <p:cNvSpPr txBox="1"/>
          <p:nvPr/>
        </p:nvSpPr>
        <p:spPr>
          <a:xfrm>
            <a:off x="905256" y="70408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Limitación principal: el nadador fue analizable el 34 % del tiempo grabado (detección bajo el agua).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Anexos</a:t>
            </a:r>
          </a:p>
        </p:txBody>
      </p:sp>
      <p:sp>
        <p:nvSpPr>
          <p:cNvPr id="4" name="Text Placeholder 3"/>
          <p:cNvSpPr>
            <a:spLocks noGrp="1"/>
          </p:cNvSpPr>
          <p:nvPr>
            <p:ph type="body" idx="18" sz="quarter"/>
          </p:nvPr>
        </p:nvSpPr>
        <p:spPr/>
        <p:txBody>
          <a:bodyPr/>
          <a:lstStyle/>
          <a:p>
            <a:r>
              <a:t>Material de apoyo para las preguntas del tribunal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A1 · Modelos de pose en CPU</a:t>
            </a:r>
          </a:p>
        </p:txBody>
      </p:sp>
      <p:sp>
        <p:nvSpPr>
          <p:cNvPr id="4" name="Text Placeholder 3"/>
          <p:cNvSpPr>
            <a:spLocks noGrp="1"/>
          </p:cNvSpPr>
          <p:nvPr>
            <p:ph type="body" idx="18" sz="quarter"/>
          </p:nvPr>
        </p:nvSpPr>
        <p:spPr>
          <a:xfrm>
            <a:off x="906463" y="2172974"/>
            <a:ext cx="12344400" cy="594092"/>
          </a:xfrm>
        </p:spPr>
        <p:txBody>
          <a:bodyPr/>
          <a:lstStyle/>
          <a:p>
            <a:r>
              <a:t>Secuencia GX011614 (5120 × 2880 px), portátil de 4 hilos</a:t>
            </a:r>
          </a:p>
        </p:txBody>
      </p:sp>
      <p:graphicFrame>
        <p:nvGraphicFramePr>
          <p:cNvPr id="5" name="Table 4"/>
          <p:cNvGraphicFramePr>
            <a:graphicFrameLocks noGrp="1"/>
          </p:cNvGraphicFramePr>
          <p:nvPr/>
        </p:nvGraphicFramePr>
        <p:xfrm>
          <a:off x="905256" y="2880360"/>
          <a:ext cx="12801600" cy="2743200"/>
        </p:xfrm>
        <a:graphic>
          <a:graphicData uri="http://schemas.openxmlformats.org/drawingml/2006/table">
            <a:tbl>
              <a:tblPr firstRow="1" bandRow="1">
                <a:tableStyleId>{5C22544A-7EE6-4342-B048-85BDC9FD1C3A}</a:tableStyleId>
              </a:tblPr>
              <a:tblGrid>
                <a:gridCol w="4206240"/>
                <a:gridCol w="2103120"/>
                <a:gridCol w="2103120"/>
                <a:gridCol w="2194560"/>
                <a:gridCol w="2194560"/>
              </a:tblGrid>
              <a:tr h="548640">
                <a:tc>
                  <a:txBody>
                    <a:bodyPr/>
                    <a:lstStyle/>
                    <a:p>
                      <a:r>
                        <a:rPr sz="1400" b="1">
                          <a:solidFill>
                            <a:srgbClr val="FFFFFF"/>
                          </a:solidFill>
                        </a:rPr>
                        <a:t>Modelo</a:t>
                      </a:r>
                    </a:p>
                  </a:txBody>
                  <a:tcPr marL="91440" marR="91440" marT="27432" marB="27432" anchor="ctr">
                    <a:solidFill>
                      <a:srgbClr val="FF3228"/>
                    </a:solidFill>
                  </a:tcPr>
                </a:tc>
                <a:tc>
                  <a:txBody>
                    <a:bodyPr/>
                    <a:lstStyle/>
                    <a:p>
                      <a:r>
                        <a:rPr sz="1400" b="1">
                          <a:solidFill>
                            <a:srgbClr val="FFFFFF"/>
                          </a:solidFill>
                        </a:rPr>
                        <a:t>Parámetros (M)</a:t>
                      </a:r>
                    </a:p>
                  </a:txBody>
                  <a:tcPr marL="91440" marR="91440" marT="27432" marB="27432" anchor="ctr">
                    <a:solidFill>
                      <a:srgbClr val="FF3228"/>
                    </a:solidFill>
                  </a:tcPr>
                </a:tc>
                <a:tc>
                  <a:txBody>
                    <a:bodyPr/>
                    <a:lstStyle/>
                    <a:p>
                      <a:r>
                        <a:rPr sz="1400" b="1">
                          <a:solidFill>
                            <a:srgbClr val="FFFFFF"/>
                          </a:solidFill>
                        </a:rPr>
                        <a:t>FPS en CPU</a:t>
                      </a:r>
                    </a:p>
                  </a:txBody>
                  <a:tcPr marL="91440" marR="91440" marT="27432" marB="27432" anchor="ctr">
                    <a:solidFill>
                      <a:srgbClr val="FF3228"/>
                    </a:solidFill>
                  </a:tcPr>
                </a:tc>
                <a:tc>
                  <a:txBody>
                    <a:bodyPr/>
                    <a:lstStyle/>
                    <a:p>
                      <a:r>
                        <a:rPr sz="1400" b="1">
                          <a:solidFill>
                            <a:srgbClr val="FFFFFF"/>
                          </a:solidFill>
                        </a:rPr>
                        <a:t>Detección (%)</a:t>
                      </a:r>
                    </a:p>
                  </a:txBody>
                  <a:tcPr marL="91440" marR="91440" marT="27432" marB="27432" anchor="ctr">
                    <a:solidFill>
                      <a:srgbClr val="FF3228"/>
                    </a:solidFill>
                  </a:tcPr>
                </a:tc>
                <a:tc>
                  <a:txBody>
                    <a:bodyPr/>
                    <a:lstStyle/>
                    <a:p>
                      <a:r>
                        <a:rPr sz="1400" b="1">
                          <a:solidFill>
                            <a:srgbClr val="FFFFFF"/>
                          </a:solidFill>
                        </a:rPr>
                        <a:t>Confianza</a:t>
                      </a:r>
                    </a:p>
                  </a:txBody>
                  <a:tcPr marL="91440" marR="91440" marT="27432" marB="27432" anchor="ctr">
                    <a:solidFill>
                      <a:srgbClr val="FF3228"/>
                    </a:solidFill>
                  </a:tcPr>
                </a:tc>
              </a:tr>
              <a:tr h="548640">
                <a:tc>
                  <a:txBody>
                    <a:bodyPr/>
                    <a:lstStyle/>
                    <a:p>
                      <a:r>
                        <a:rPr sz="1400" b="1">
                          <a:solidFill>
                            <a:srgbClr val="1E1E1E"/>
                          </a:solidFill>
                        </a:rPr>
                        <a:t>YOLOv8n-Pose (elegido)</a:t>
                      </a:r>
                    </a:p>
                  </a:txBody>
                  <a:tcPr marL="91440" marR="91440" marT="27432" marB="27432" anchor="ctr">
                    <a:solidFill>
                      <a:srgbClr val="FFAFAA"/>
                    </a:solidFill>
                  </a:tcPr>
                </a:tc>
                <a:tc>
                  <a:txBody>
                    <a:bodyPr/>
                    <a:lstStyle/>
                    <a:p>
                      <a:r>
                        <a:rPr sz="1400" b="1">
                          <a:solidFill>
                            <a:srgbClr val="1E1E1E"/>
                          </a:solidFill>
                        </a:rPr>
                        <a:t>3,3</a:t>
                      </a:r>
                    </a:p>
                  </a:txBody>
                  <a:tcPr marL="91440" marR="91440" marT="27432" marB="27432" anchor="ctr">
                    <a:solidFill>
                      <a:srgbClr val="FFAFAA"/>
                    </a:solidFill>
                  </a:tcPr>
                </a:tc>
                <a:tc>
                  <a:txBody>
                    <a:bodyPr/>
                    <a:lstStyle/>
                    <a:p>
                      <a:r>
                        <a:rPr sz="1400" b="1">
                          <a:solidFill>
                            <a:srgbClr val="1E1E1E"/>
                          </a:solidFill>
                        </a:rPr>
                        <a:t>6,6</a:t>
                      </a:r>
                    </a:p>
                  </a:txBody>
                  <a:tcPr marL="91440" marR="91440" marT="27432" marB="27432" anchor="ctr">
                    <a:solidFill>
                      <a:srgbClr val="FFAFAA"/>
                    </a:solidFill>
                  </a:tcPr>
                </a:tc>
                <a:tc>
                  <a:txBody>
                    <a:bodyPr/>
                    <a:lstStyle/>
                    <a:p>
                      <a:r>
                        <a:rPr sz="1400" b="1">
                          <a:solidFill>
                            <a:srgbClr val="1E1E1E"/>
                          </a:solidFill>
                        </a:rPr>
                        <a:t>35,6</a:t>
                      </a:r>
                    </a:p>
                  </a:txBody>
                  <a:tcPr marL="91440" marR="91440" marT="27432" marB="27432" anchor="ctr">
                    <a:solidFill>
                      <a:srgbClr val="FFAFAA"/>
                    </a:solidFill>
                  </a:tcPr>
                </a:tc>
                <a:tc>
                  <a:txBody>
                    <a:bodyPr/>
                    <a:lstStyle/>
                    <a:p>
                      <a:r>
                        <a:rPr sz="1400" b="1">
                          <a:solidFill>
                            <a:srgbClr val="1E1E1E"/>
                          </a:solidFill>
                        </a:rPr>
                        <a:t>0,76</a:t>
                      </a:r>
                    </a:p>
                  </a:txBody>
                  <a:tcPr marL="91440" marR="91440" marT="27432" marB="27432" anchor="ctr">
                    <a:solidFill>
                      <a:srgbClr val="FFAFAA"/>
                    </a:solidFill>
                  </a:tcPr>
                </a:tc>
              </a:tr>
              <a:tr h="548640">
                <a:tc>
                  <a:txBody>
                    <a:bodyPr/>
                    <a:lstStyle/>
                    <a:p>
                      <a:r>
                        <a:rPr sz="1400" b="0">
                          <a:solidFill>
                            <a:srgbClr val="1E1E1E"/>
                          </a:solidFill>
                        </a:rPr>
                        <a:t>YOLO11n-Pose</a:t>
                      </a:r>
                    </a:p>
                  </a:txBody>
                  <a:tcPr marL="91440" marR="91440" marT="27432" marB="27432" anchor="ctr">
                    <a:solidFill>
                      <a:srgbClr val="EEEDED"/>
                    </a:solidFill>
                  </a:tcPr>
                </a:tc>
                <a:tc>
                  <a:txBody>
                    <a:bodyPr/>
                    <a:lstStyle/>
                    <a:p>
                      <a:r>
                        <a:rPr sz="1400" b="0">
                          <a:solidFill>
                            <a:srgbClr val="1E1E1E"/>
                          </a:solidFill>
                        </a:rPr>
                        <a:t>2,9</a:t>
                      </a:r>
                    </a:p>
                  </a:txBody>
                  <a:tcPr marL="91440" marR="91440" marT="27432" marB="27432" anchor="ctr">
                    <a:solidFill>
                      <a:srgbClr val="EEEDED"/>
                    </a:solidFill>
                  </a:tcPr>
                </a:tc>
                <a:tc>
                  <a:txBody>
                    <a:bodyPr/>
                    <a:lstStyle/>
                    <a:p>
                      <a:r>
                        <a:rPr sz="1400" b="0">
                          <a:solidFill>
                            <a:srgbClr val="1E1E1E"/>
                          </a:solidFill>
                        </a:rPr>
                        <a:t>6,2</a:t>
                      </a:r>
                    </a:p>
                  </a:txBody>
                  <a:tcPr marL="91440" marR="91440" marT="27432" marB="27432" anchor="ctr">
                    <a:solidFill>
                      <a:srgbClr val="EEEDED"/>
                    </a:solidFill>
                  </a:tcPr>
                </a:tc>
                <a:tc>
                  <a:txBody>
                    <a:bodyPr/>
                    <a:lstStyle/>
                    <a:p>
                      <a:r>
                        <a:rPr sz="1400" b="0">
                          <a:solidFill>
                            <a:srgbClr val="1E1E1E"/>
                          </a:solidFill>
                        </a:rPr>
                        <a:t>37,6</a:t>
                      </a:r>
                    </a:p>
                  </a:txBody>
                  <a:tcPr marL="91440" marR="91440" marT="27432" marB="27432" anchor="ctr">
                    <a:solidFill>
                      <a:srgbClr val="EEEDED"/>
                    </a:solidFill>
                  </a:tcPr>
                </a:tc>
                <a:tc>
                  <a:txBody>
                    <a:bodyPr/>
                    <a:lstStyle/>
                    <a:p>
                      <a:r>
                        <a:rPr sz="1400" b="0">
                          <a:solidFill>
                            <a:srgbClr val="1E1E1E"/>
                          </a:solidFill>
                        </a:rPr>
                        <a:t>0,78</a:t>
                      </a:r>
                    </a:p>
                  </a:txBody>
                  <a:tcPr marL="91440" marR="91440" marT="27432" marB="27432" anchor="ctr">
                    <a:solidFill>
                      <a:srgbClr val="EEEDED"/>
                    </a:solidFill>
                  </a:tcPr>
                </a:tc>
              </a:tr>
              <a:tr h="548640">
                <a:tc>
                  <a:txBody>
                    <a:bodyPr/>
                    <a:lstStyle/>
                    <a:p>
                      <a:r>
                        <a:rPr sz="1400" b="0">
                          <a:solidFill>
                            <a:srgbClr val="1E1E1E"/>
                          </a:solidFill>
                        </a:rPr>
                        <a:t>YOLOv8s-Pose</a:t>
                      </a:r>
                    </a:p>
                  </a:txBody>
                  <a:tcPr marL="91440" marR="91440" marT="27432" marB="27432" anchor="ctr">
                    <a:solidFill>
                      <a:srgbClr val="FFFFFF"/>
                    </a:solidFill>
                  </a:tcPr>
                </a:tc>
                <a:tc>
                  <a:txBody>
                    <a:bodyPr/>
                    <a:lstStyle/>
                    <a:p>
                      <a:r>
                        <a:rPr sz="1400" b="0">
                          <a:solidFill>
                            <a:srgbClr val="1E1E1E"/>
                          </a:solidFill>
                        </a:rPr>
                        <a:t>11,6</a:t>
                      </a:r>
                    </a:p>
                  </a:txBody>
                  <a:tcPr marL="91440" marR="91440" marT="27432" marB="27432" anchor="ctr">
                    <a:solidFill>
                      <a:srgbClr val="FFFFFF"/>
                    </a:solidFill>
                  </a:tcPr>
                </a:tc>
                <a:tc>
                  <a:txBody>
                    <a:bodyPr/>
                    <a:lstStyle/>
                    <a:p>
                      <a:r>
                        <a:rPr sz="1400" b="0">
                          <a:solidFill>
                            <a:srgbClr val="1E1E1E"/>
                          </a:solidFill>
                        </a:rPr>
                        <a:t>3,3</a:t>
                      </a:r>
                    </a:p>
                  </a:txBody>
                  <a:tcPr marL="91440" marR="91440" marT="27432" marB="27432" anchor="ctr">
                    <a:solidFill>
                      <a:srgbClr val="FFFFFF"/>
                    </a:solidFill>
                  </a:tcPr>
                </a:tc>
                <a:tc>
                  <a:txBody>
                    <a:bodyPr/>
                    <a:lstStyle/>
                    <a:p>
                      <a:r>
                        <a:rPr sz="1400" b="0">
                          <a:solidFill>
                            <a:srgbClr val="1E1E1E"/>
                          </a:solidFill>
                        </a:rPr>
                        <a:t>35,6</a:t>
                      </a:r>
                    </a:p>
                  </a:txBody>
                  <a:tcPr marL="91440" marR="91440" marT="27432" marB="27432" anchor="ctr">
                    <a:solidFill>
                      <a:srgbClr val="FFFFFF"/>
                    </a:solidFill>
                  </a:tcPr>
                </a:tc>
                <a:tc>
                  <a:txBody>
                    <a:bodyPr/>
                    <a:lstStyle/>
                    <a:p>
                      <a:r>
                        <a:rPr sz="1400" b="0">
                          <a:solidFill>
                            <a:srgbClr val="1E1E1E"/>
                          </a:solidFill>
                        </a:rPr>
                        <a:t>0,74</a:t>
                      </a:r>
                    </a:p>
                  </a:txBody>
                  <a:tcPr marL="91440" marR="91440" marT="27432" marB="27432" anchor="ctr">
                    <a:solidFill>
                      <a:srgbClr val="FFFFFF"/>
                    </a:solidFill>
                  </a:tcPr>
                </a:tc>
              </a:tr>
              <a:tr h="548640">
                <a:tc>
                  <a:txBody>
                    <a:bodyPr/>
                    <a:lstStyle/>
                    <a:p>
                      <a:r>
                        <a:rPr sz="1400" b="0">
                          <a:solidFill>
                            <a:srgbClr val="1E1E1E"/>
                          </a:solidFill>
                        </a:rPr>
                        <a:t>MoveNet Lightning</a:t>
                      </a:r>
                    </a:p>
                  </a:txBody>
                  <a:tcPr marL="91440" marR="91440" marT="27432" marB="27432" anchor="ctr">
                    <a:solidFill>
                      <a:srgbClr val="EEEDED"/>
                    </a:solidFill>
                  </a:tcPr>
                </a:tc>
                <a:tc>
                  <a:txBody>
                    <a:bodyPr/>
                    <a:lstStyle/>
                    <a:p>
                      <a:r>
                        <a:rPr sz="1400" b="0">
                          <a:solidFill>
                            <a:srgbClr val="1E1E1E"/>
                          </a:solidFill>
                        </a:rPr>
                        <a:t>—</a:t>
                      </a:r>
                    </a:p>
                  </a:txBody>
                  <a:tcPr marL="91440" marR="91440" marT="27432" marB="27432" anchor="ctr">
                    <a:solidFill>
                      <a:srgbClr val="EEEDED"/>
                    </a:solidFill>
                  </a:tcPr>
                </a:tc>
                <a:tc>
                  <a:txBody>
                    <a:bodyPr/>
                    <a:lstStyle/>
                    <a:p>
                      <a:r>
                        <a:rPr sz="1400" b="0">
                          <a:solidFill>
                            <a:srgbClr val="1E1E1E"/>
                          </a:solidFill>
                        </a:rPr>
                        <a:t>No medido</a:t>
                      </a:r>
                    </a:p>
                  </a:txBody>
                  <a:tcPr marL="91440" marR="91440" marT="27432" marB="27432" anchor="ctr">
                    <a:solidFill>
                      <a:srgbClr val="EEEDED"/>
                    </a:solidFill>
                  </a:tcPr>
                </a:tc>
                <a:tc>
                  <a:txBody>
                    <a:bodyPr/>
                    <a:lstStyle/>
                    <a:p>
                      <a:r>
                        <a:rPr sz="1400" b="0">
                          <a:solidFill>
                            <a:srgbClr val="1E1E1E"/>
                          </a:solidFill>
                        </a:rPr>
                        <a:t>35-48 (GPU)</a:t>
                      </a:r>
                    </a:p>
                  </a:txBody>
                  <a:tcPr marL="91440" marR="91440" marT="27432" marB="27432" anchor="ctr">
                    <a:solidFill>
                      <a:srgbClr val="EEEDED"/>
                    </a:solidFill>
                  </a:tcPr>
                </a:tc>
                <a:tc>
                  <a:txBody>
                    <a:bodyPr/>
                    <a:lstStyle/>
                    <a:p>
                      <a:r>
                        <a:rPr sz="1400" b="0">
                          <a:solidFill>
                            <a:srgbClr val="1E1E1E"/>
                          </a:solidFill>
                        </a:rPr>
                        <a:t>0,34-0,37 (GPU)</a:t>
                      </a:r>
                    </a:p>
                  </a:txBody>
                  <a:tcPr marL="91440" marR="91440" marT="27432" marB="27432" anchor="ctr">
                    <a:solidFill>
                      <a:srgbClr val="EEEDED"/>
                    </a:solidFill>
                  </a:tcPr>
                </a:tc>
              </a:tr>
            </a:tbl>
          </a:graphicData>
        </a:graphic>
      </p:graphicFrame>
      <p:sp>
        <p:nvSpPr>
          <p:cNvPr id="6" name="TextBox 5"/>
          <p:cNvSpPr txBox="1"/>
          <p:nvPr/>
        </p:nvSpPr>
        <p:spPr>
          <a:xfrm>
            <a:off x="905256" y="60350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La detección ronda el 36 % porque el nadador solo está en el encuadre parte del vídeo. En el mismo vídeo: 15 ciclos válidos con YOLO frente a 3 con MoveNet.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A2 · Fatiga en las sesiones reales</a:t>
            </a:r>
          </a:p>
        </p:txBody>
      </p:sp>
      <p:sp>
        <p:nvSpPr>
          <p:cNvPr id="4" name="Text Placeholder 3"/>
          <p:cNvSpPr>
            <a:spLocks noGrp="1"/>
          </p:cNvSpPr>
          <p:nvPr>
            <p:ph type="body" idx="18" sz="quarter"/>
          </p:nvPr>
        </p:nvSpPr>
        <p:spPr>
          <a:xfrm>
            <a:off x="906463" y="2172974"/>
            <a:ext cx="12344400" cy="594092"/>
          </a:xfrm>
        </p:spPr>
        <p:txBody>
          <a:bodyPr/>
          <a:lstStyle/>
          <a:p>
            <a:r>
              <a:t>Sesiones de pasadas cortas del mismo participante, estilo y cámara</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572000"/>
                <a:gridCol w="2194560"/>
                <a:gridCol w="1828800"/>
                <a:gridCol w="4206240"/>
              </a:tblGrid>
              <a:tr h="530352">
                <a:tc>
                  <a:txBody>
                    <a:bodyPr/>
                    <a:lstStyle/>
                    <a:p>
                      <a:r>
                        <a:rPr sz="1400" b="1">
                          <a:solidFill>
                            <a:srgbClr val="FFFFFF"/>
                          </a:solidFill>
                        </a:rPr>
                        <a:t>Sesión</a:t>
                      </a:r>
                    </a:p>
                  </a:txBody>
                  <a:tcPr marL="91440" marR="91440" marT="27432" marB="27432" anchor="ctr">
                    <a:solidFill>
                      <a:srgbClr val="FF3228"/>
                    </a:solidFill>
                  </a:tcPr>
                </a:tc>
                <a:tc>
                  <a:txBody>
                    <a:bodyPr/>
                    <a:lstStyle/>
                    <a:p>
                      <a:r>
                        <a:rPr sz="1400" b="1">
                          <a:solidFill>
                            <a:srgbClr val="FFFFFF"/>
                          </a:solidFill>
                        </a:rPr>
                        <a:t>Secuencias</a:t>
                      </a:r>
                    </a:p>
                  </a:txBody>
                  <a:tcPr marL="91440" marR="91440" marT="27432" marB="27432" anchor="ctr">
                    <a:solidFill>
                      <a:srgbClr val="FF3228"/>
                    </a:solidFill>
                  </a:tcPr>
                </a:tc>
                <a:tc>
                  <a:txBody>
                    <a:bodyPr/>
                    <a:lstStyle/>
                    <a:p>
                      <a:r>
                        <a:rPr sz="1400" b="1">
                          <a:solidFill>
                            <a:srgbClr val="FFFFFF"/>
                          </a:solidFill>
                        </a:rPr>
                        <a:t>Ciclos</a:t>
                      </a:r>
                    </a:p>
                  </a:txBody>
                  <a:tcPr marL="91440" marR="91440" marT="27432" marB="27432" anchor="ctr">
                    <a:solidFill>
                      <a:srgbClr val="FF3228"/>
                    </a:solidFill>
                  </a:tcPr>
                </a:tc>
                <a:tc>
                  <a:txBody>
                    <a:bodyPr/>
                    <a:lstStyle/>
                    <a:p>
                      <a:r>
                        <a:rPr sz="1400" b="1">
                          <a:solidFill>
                            <a:srgbClr val="FFFFFF"/>
                          </a:solidFill>
                        </a:rPr>
                        <a:t>Resultado</a:t>
                      </a:r>
                    </a:p>
                  </a:txBody>
                  <a:tcPr marL="91440" marR="91440" marT="27432" marB="27432" anchor="ctr">
                    <a:solidFill>
                      <a:srgbClr val="FF3228"/>
                    </a:solidFill>
                  </a:tcPr>
                </a:tc>
              </a:tr>
              <a:tr h="530352">
                <a:tc>
                  <a:txBody>
                    <a:bodyPr/>
                    <a:lstStyle/>
                    <a:p>
                      <a:r>
                        <a:rPr sz="1400" b="0">
                          <a:solidFill>
                            <a:srgbClr val="1E1E1E"/>
                          </a:solidFill>
                        </a:rPr>
                        <a:t>P1 · crol · GoPro</a:t>
                      </a:r>
                    </a:p>
                  </a:txBody>
                  <a:tcPr marL="91440" marR="91440" marT="27432" marB="27432" anchor="ctr">
                    <a:solidFill>
                      <a:srgbClr val="FFFFFF"/>
                    </a:solidFill>
                  </a:tcPr>
                </a:tc>
                <a:tc>
                  <a:txBody>
                    <a:bodyPr/>
                    <a:lstStyle/>
                    <a:p>
                      <a:r>
                        <a:rPr sz="1400" b="0">
                          <a:solidFill>
                            <a:srgbClr val="1E1E1E"/>
                          </a:solidFill>
                        </a:rPr>
                        <a:t>3</a:t>
                      </a:r>
                    </a:p>
                  </a:txBody>
                  <a:tcPr marL="91440" marR="91440" marT="27432" marB="27432" anchor="ctr">
                    <a:solidFill>
                      <a:srgbClr val="FFFFFF"/>
                    </a:solidFill>
                  </a:tcPr>
                </a:tc>
                <a:tc>
                  <a:txBody>
                    <a:bodyPr/>
                    <a:lstStyle/>
                    <a:p>
                      <a:r>
                        <a:rPr sz="1400" b="0">
                          <a:solidFill>
                            <a:srgbClr val="1E1E1E"/>
                          </a:solidFill>
                        </a:rPr>
                        <a:t>10</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P1 · crol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7</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P4 · braza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27</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P4 · braza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4</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P3 · mariposa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26</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A3 · Caso sintético completo (Tabla 7)</a:t>
            </a:r>
          </a:p>
        </p:txBody>
      </p:sp>
      <p:sp>
        <p:nvSpPr>
          <p:cNvPr id="4" name="Text Placeholder 3"/>
          <p:cNvSpPr>
            <a:spLocks noGrp="1"/>
          </p:cNvSpPr>
          <p:nvPr>
            <p:ph type="body" idx="18" sz="quarter"/>
          </p:nvPr>
        </p:nvSpPr>
        <p:spPr>
          <a:xfrm>
            <a:off x="906463" y="2172974"/>
            <a:ext cx="12344400" cy="594092"/>
          </a:xfrm>
        </p:spPr>
        <p:txBody>
          <a:bodyPr/>
          <a:lstStyle/>
          <a:p>
            <a:r>
              <a:t>Secuencia de 120 s con fatiga programada entre t = 59 s y t = 81 s</a:t>
            </a:r>
          </a:p>
        </p:txBody>
      </p:sp>
      <p:graphicFrame>
        <p:nvGraphicFramePr>
          <p:cNvPr id="5" name="Table 4"/>
          <p:cNvGraphicFramePr>
            <a:graphicFrameLocks noGrp="1"/>
          </p:cNvGraphicFramePr>
          <p:nvPr/>
        </p:nvGraphicFramePr>
        <p:xfrm>
          <a:off x="905256" y="2834640"/>
          <a:ext cx="12801600" cy="3712464"/>
        </p:xfrm>
        <a:graphic>
          <a:graphicData uri="http://schemas.openxmlformats.org/drawingml/2006/table">
            <a:tbl>
              <a:tblPr firstRow="1" bandRow="1">
                <a:tableStyleId>{5C22544A-7EE6-4342-B048-85BDC9FD1C3A}</a:tableStyleId>
              </a:tblPr>
              <a:tblGrid>
                <a:gridCol w="4206240"/>
                <a:gridCol w="4297680"/>
                <a:gridCol w="4297680"/>
              </a:tblGrid>
              <a:tr h="530352">
                <a:tc>
                  <a:txBody>
                    <a:bodyPr/>
                    <a:lstStyle/>
                    <a:p>
                      <a:r>
                        <a:rPr sz="1300" b="1">
                          <a:solidFill>
                            <a:srgbClr val="FFFFFF"/>
                          </a:solidFill>
                        </a:rPr>
                        <a:t>Medida</a:t>
                      </a:r>
                    </a:p>
                  </a:txBody>
                  <a:tcPr marL="91440" marR="91440" marT="27432" marB="27432" anchor="ctr">
                    <a:solidFill>
                      <a:srgbClr val="FF3228"/>
                    </a:solidFill>
                  </a:tcPr>
                </a:tc>
                <a:tc>
                  <a:txBody>
                    <a:bodyPr/>
                    <a:lstStyle/>
                    <a:p>
                      <a:r>
                        <a:rPr sz="1300" b="1">
                          <a:solidFill>
                            <a:srgbClr val="FFFFFF"/>
                          </a:solidFill>
                        </a:rPr>
                        <a:t>Vista lateral</a:t>
                      </a:r>
                    </a:p>
                  </a:txBody>
                  <a:tcPr marL="91440" marR="91440" marT="27432" marB="27432" anchor="ctr">
                    <a:solidFill>
                      <a:srgbClr val="FF3228"/>
                    </a:solidFill>
                  </a:tcPr>
                </a:tc>
                <a:tc>
                  <a:txBody>
                    <a:bodyPr/>
                    <a:lstStyle/>
                    <a:p>
                      <a:r>
                        <a:rPr sz="1300" b="1">
                          <a:solidFill>
                            <a:srgbClr val="FFFFFF"/>
                          </a:solidFill>
                        </a:rPr>
                        <a:t>Vista frontal</a:t>
                      </a:r>
                    </a:p>
                  </a:txBody>
                  <a:tcPr marL="91440" marR="91440" marT="27432" marB="27432" anchor="ctr">
                    <a:solidFill>
                      <a:srgbClr val="FF3228"/>
                    </a:solidFill>
                  </a:tcPr>
                </a:tc>
              </a:tr>
              <a:tr h="530352">
                <a:tc>
                  <a:txBody>
                    <a:bodyPr/>
                    <a:lstStyle/>
                    <a:p>
                      <a:r>
                        <a:rPr sz="1300" b="0">
                          <a:solidFill>
                            <a:srgbClr val="1E1E1E"/>
                          </a:solidFill>
                        </a:rPr>
                        <a:t>Ciclos analizados</a:t>
                      </a:r>
                    </a:p>
                  </a:txBody>
                  <a:tcPr marL="91440" marR="91440" marT="27432" marB="27432" anchor="ctr">
                    <a:solidFill>
                      <a:srgbClr val="FFFFFF"/>
                    </a:solidFill>
                  </a:tcPr>
                </a:tc>
                <a:tc>
                  <a:txBody>
                    <a:bodyPr/>
                    <a:lstStyle/>
                    <a:p>
                      <a:r>
                        <a:rPr sz="1300" b="0">
                          <a:solidFill>
                            <a:srgbClr val="1E1E1E"/>
                          </a:solidFill>
                        </a:rPr>
                        <a:t>91</a:t>
                      </a:r>
                    </a:p>
                  </a:txBody>
                  <a:tcPr marL="91440" marR="91440" marT="27432" marB="27432" anchor="ctr">
                    <a:solidFill>
                      <a:srgbClr val="FFFFFF"/>
                    </a:solidFill>
                  </a:tcPr>
                </a:tc>
                <a:tc>
                  <a:txBody>
                    <a:bodyPr/>
                    <a:lstStyle/>
                    <a:p>
                      <a:r>
                        <a:rPr sz="1300" b="0">
                          <a:solidFill>
                            <a:srgbClr val="1E1E1E"/>
                          </a:solidFill>
                        </a:rPr>
                        <a:t>98</a:t>
                      </a:r>
                    </a:p>
                  </a:txBody>
                  <a:tcPr marL="91440" marR="91440" marT="27432" marB="27432" anchor="ctr">
                    <a:solidFill>
                      <a:srgbClr val="FFFFFF"/>
                    </a:solidFill>
                  </a:tcPr>
                </a:tc>
              </a:tr>
              <a:tr h="530352">
                <a:tc>
                  <a:txBody>
                    <a:bodyPr/>
                    <a:lstStyle/>
                    <a:p>
                      <a:r>
                        <a:rPr sz="1300" b="0">
                          <a:solidFill>
                            <a:srgbClr val="1E1E1E"/>
                          </a:solidFill>
                        </a:rPr>
                        <a:t>Error mediano de la frecuencia de ciclo</a:t>
                      </a:r>
                    </a:p>
                  </a:txBody>
                  <a:tcPr marL="91440" marR="91440" marT="27432" marB="27432" anchor="ctr">
                    <a:solidFill>
                      <a:srgbClr val="EEEDED"/>
                    </a:solidFill>
                  </a:tcPr>
                </a:tc>
                <a:tc>
                  <a:txBody>
                    <a:bodyPr/>
                    <a:lstStyle/>
                    <a:p>
                      <a:r>
                        <a:rPr sz="1300" b="0">
                          <a:solidFill>
                            <a:srgbClr val="1E1E1E"/>
                          </a:solidFill>
                        </a:rPr>
                        <a:t>4,7 %</a:t>
                      </a:r>
                    </a:p>
                  </a:txBody>
                  <a:tcPr marL="91440" marR="91440" marT="27432" marB="27432" anchor="ctr">
                    <a:solidFill>
                      <a:srgbClr val="EEEDED"/>
                    </a:solidFill>
                  </a:tcPr>
                </a:tc>
                <a:tc>
                  <a:txBody>
                    <a:bodyPr/>
                    <a:lstStyle/>
                    <a:p>
                      <a:r>
                        <a:rPr sz="1300" b="0">
                          <a:solidFill>
                            <a:srgbClr val="1E1E1E"/>
                          </a:solidFill>
                        </a:rPr>
                        <a:t>0,3 %</a:t>
                      </a:r>
                    </a:p>
                  </a:txBody>
                  <a:tcPr marL="91440" marR="91440" marT="27432" marB="27432" anchor="ctr">
                    <a:solidFill>
                      <a:srgbClr val="EEEDED"/>
                    </a:solidFill>
                  </a:tcPr>
                </a:tc>
              </a:tr>
              <a:tr h="530352">
                <a:tc>
                  <a:txBody>
                    <a:bodyPr/>
                    <a:lstStyle/>
                    <a:p>
                      <a:r>
                        <a:rPr sz="1300" b="0">
                          <a:solidFill>
                            <a:srgbClr val="1E1E1E"/>
                          </a:solidFill>
                        </a:rPr>
                        <a:t>Error mediano de la velocidad</a:t>
                      </a:r>
                    </a:p>
                  </a:txBody>
                  <a:tcPr marL="91440" marR="91440" marT="27432" marB="27432" anchor="ctr">
                    <a:solidFill>
                      <a:srgbClr val="FFFFFF"/>
                    </a:solidFill>
                  </a:tcPr>
                </a:tc>
                <a:tc>
                  <a:txBody>
                    <a:bodyPr/>
                    <a:lstStyle/>
                    <a:p>
                      <a:r>
                        <a:rPr sz="1300" b="0">
                          <a:solidFill>
                            <a:srgbClr val="1E1E1E"/>
                          </a:solidFill>
                        </a:rPr>
                        <a:t>1,3 %</a:t>
                      </a:r>
                    </a:p>
                  </a:txBody>
                  <a:tcPr marL="91440" marR="91440" marT="27432" marB="27432" anchor="ctr">
                    <a:solidFill>
                      <a:srgbClr val="FFFFFF"/>
                    </a:solidFill>
                  </a:tcPr>
                </a:tc>
                <a:tc>
                  <a:txBody>
                    <a:bodyPr/>
                    <a:lstStyle/>
                    <a:p>
                      <a:r>
                        <a:rPr sz="1300" b="0">
                          <a:solidFill>
                            <a:srgbClr val="1E1E1E"/>
                          </a:solidFill>
                        </a:rPr>
                        <a:t>No observable de frente</a:t>
                      </a:r>
                    </a:p>
                  </a:txBody>
                  <a:tcPr marL="91440" marR="91440" marT="27432" marB="27432" anchor="ctr">
                    <a:solidFill>
                      <a:srgbClr val="FFFFFF"/>
                    </a:solidFill>
                  </a:tcPr>
                </a:tc>
              </a:tr>
              <a:tr h="530352">
                <a:tc>
                  <a:txBody>
                    <a:bodyPr/>
                    <a:lstStyle/>
                    <a:p>
                      <a:r>
                        <a:rPr sz="1300" b="0">
                          <a:solidFill>
                            <a:srgbClr val="1E1E1E"/>
                          </a:solidFill>
                        </a:rPr>
                        <a:t>Error mediano de la distancia por ciclo</a:t>
                      </a:r>
                    </a:p>
                  </a:txBody>
                  <a:tcPr marL="91440" marR="91440" marT="27432" marB="27432" anchor="ctr">
                    <a:solidFill>
                      <a:srgbClr val="EEEDED"/>
                    </a:solidFill>
                  </a:tcPr>
                </a:tc>
                <a:tc>
                  <a:txBody>
                    <a:bodyPr/>
                    <a:lstStyle/>
                    <a:p>
                      <a:r>
                        <a:rPr sz="1300" b="0">
                          <a:solidFill>
                            <a:srgbClr val="1E1E1E"/>
                          </a:solidFill>
                        </a:rPr>
                        <a:t>4,3 %</a:t>
                      </a:r>
                    </a:p>
                  </a:txBody>
                  <a:tcPr marL="91440" marR="91440" marT="27432" marB="27432" anchor="ctr">
                    <a:solidFill>
                      <a:srgbClr val="EEEDED"/>
                    </a:solidFill>
                  </a:tcPr>
                </a:tc>
                <a:tc>
                  <a:txBody>
                    <a:bodyPr/>
                    <a:lstStyle/>
                    <a:p>
                      <a:r>
                        <a:rPr sz="1300" b="0">
                          <a:solidFill>
                            <a:srgbClr val="1E1E1E"/>
                          </a:solidFill>
                        </a:rPr>
                        <a:t>No observable de frente</a:t>
                      </a:r>
                    </a:p>
                  </a:txBody>
                  <a:tcPr marL="91440" marR="91440" marT="27432" marB="27432" anchor="ctr">
                    <a:solidFill>
                      <a:srgbClr val="EEEDED"/>
                    </a:solidFill>
                  </a:tcPr>
                </a:tc>
              </a:tr>
              <a:tr h="530352">
                <a:tc>
                  <a:txBody>
                    <a:bodyPr/>
                    <a:lstStyle/>
                    <a:p>
                      <a:r>
                        <a:rPr sz="1300" b="0">
                          <a:solidFill>
                            <a:srgbClr val="1E1E1E"/>
                          </a:solidFill>
                        </a:rPr>
                        <a:t>Inicio de la fatiga detectado</a:t>
                      </a:r>
                    </a:p>
                  </a:txBody>
                  <a:tcPr marL="91440" marR="91440" marT="27432" marB="27432" anchor="ctr">
                    <a:solidFill>
                      <a:srgbClr val="FFFFFF"/>
                    </a:solidFill>
                  </a:tcPr>
                </a:tc>
                <a:tc>
                  <a:txBody>
                    <a:bodyPr/>
                    <a:lstStyle/>
                    <a:p>
                      <a:r>
                        <a:rPr sz="1300" b="0">
                          <a:solidFill>
                            <a:srgbClr val="1E1E1E"/>
                          </a:solidFill>
                        </a:rPr>
                        <a:t>t = 57,3 s (ciclo 42)</a:t>
                      </a:r>
                    </a:p>
                  </a:txBody>
                  <a:tcPr marL="91440" marR="91440" marT="27432" marB="27432" anchor="ctr">
                    <a:solidFill>
                      <a:srgbClr val="FFFFFF"/>
                    </a:solidFill>
                  </a:tcPr>
                </a:tc>
                <a:tc>
                  <a:txBody>
                    <a:bodyPr/>
                    <a:lstStyle/>
                    <a:p>
                      <a:r>
                        <a:rPr sz="1300" b="0">
                          <a:solidFill>
                            <a:srgbClr val="1E1E1E"/>
                          </a:solidFill>
                        </a:rPr>
                        <a:t>t = 57,8 s (ciclo 45)</a:t>
                      </a:r>
                    </a:p>
                  </a:txBody>
                  <a:tcPr marL="91440" marR="91440" marT="27432" marB="27432" anchor="ctr">
                    <a:solidFill>
                      <a:srgbClr val="FFFFFF"/>
                    </a:solidFill>
                  </a:tcPr>
                </a:tc>
              </a:tr>
              <a:tr h="530352">
                <a:tc>
                  <a:txBody>
                    <a:bodyPr/>
                    <a:lstStyle/>
                    <a:p>
                      <a:r>
                        <a:rPr sz="1300" b="0">
                          <a:solidFill>
                            <a:srgbClr val="1E1E1E"/>
                          </a:solidFill>
                        </a:rPr>
                        <a:t>Variables con mayor atribución SHAP</a:t>
                      </a:r>
                    </a:p>
                  </a:txBody>
                  <a:tcPr marL="91440" marR="91440" marT="27432" marB="27432" anchor="ctr">
                    <a:solidFill>
                      <a:srgbClr val="EEEDED"/>
                    </a:solidFill>
                  </a:tcPr>
                </a:tc>
                <a:tc>
                  <a:txBody>
                    <a:bodyPr/>
                    <a:lstStyle/>
                    <a:p>
                      <a:r>
                        <a:rPr sz="1300" b="0">
                          <a:solidFill>
                            <a:srgbClr val="1E1E1E"/>
                          </a:solidFill>
                        </a:rPr>
                        <a:t>Apertura del hombro, asimetría de brazos, inclinación del tronco</a:t>
                      </a:r>
                    </a:p>
                  </a:txBody>
                  <a:tcPr marL="91440" marR="91440" marT="27432" marB="27432" anchor="ctr">
                    <a:solidFill>
                      <a:srgbClr val="EEEDED"/>
                    </a:solidFill>
                  </a:tcPr>
                </a:tc>
                <a:tc>
                  <a:txBody>
                    <a:bodyPr/>
                    <a:lstStyle/>
                    <a:p>
                      <a:r>
                        <a:rPr sz="1300" b="0">
                          <a:solidFill>
                            <a:srgbClr val="1E1E1E"/>
                          </a:solidFill>
                        </a:rPr>
                        <a:t>Frecuencia de ciclo, asimetría de brazos, alcance del brazo</a:t>
                      </a:r>
                    </a:p>
                  </a:txBody>
                  <a:tcPr marL="91440" marR="91440" marT="27432" marB="27432" anchor="ctr">
                    <a:solidFill>
                      <a:srgbClr val="EEEDED"/>
                    </a:solidFill>
                  </a:tcPr>
                </a:tc>
              </a:tr>
            </a:tbl>
          </a:graphicData>
        </a:graphic>
      </p:graphicFrame>
      <p:sp>
        <p:nvSpPr>
          <p:cNvPr id="6" name="TextBox 5"/>
          <p:cNvSpPr txBox="1"/>
          <p:nvPr/>
        </p:nvSpPr>
        <p:spPr>
          <a:xfrm>
            <a:off x="905256" y="67665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Fuente: memoria, Tabla 7.</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