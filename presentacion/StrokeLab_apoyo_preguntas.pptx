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51" r:id="rId43"/>
    <p:sldId id="324" r:id="rId16"/>
    <p:sldId id="326" r:id="rId18"/>
    <p:sldId id="327" r:id="rId19"/>
    <p:sldId id="329" r:id="rId21"/>
    <p:sldId id="331" r:id="rId23"/>
    <p:sldId id="332" r:id="rId24"/>
    <p:sldId id="334" r:id="rId26"/>
    <p:sldId id="337" r:id="rId29"/>
    <p:sldId id="338" r:id="rId30"/>
    <p:sldId id="352" r:id="rId44"/>
    <p:sldId id="356" r:id="rId48"/>
    <p:sldId id="357" r:id="rId49"/>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6" Type="http://schemas.openxmlformats.org/officeDocument/2006/relationships/slide" Target="slides/slide7.xml"/><Relationship Id="rId18" Type="http://schemas.openxmlformats.org/officeDocument/2006/relationships/slide" Target="slides/slide9.xml"/><Relationship Id="rId19" Type="http://schemas.openxmlformats.org/officeDocument/2006/relationships/slide" Target="slides/slide10.xml"/><Relationship Id="rId21" Type="http://schemas.openxmlformats.org/officeDocument/2006/relationships/slide" Target="slides/slide12.xml"/><Relationship Id="rId23" Type="http://schemas.openxmlformats.org/officeDocument/2006/relationships/slide" Target="slides/slide14.xml"/><Relationship Id="rId24" Type="http://schemas.openxmlformats.org/officeDocument/2006/relationships/slide" Target="slides/slide15.xml"/><Relationship Id="rId26" Type="http://schemas.openxmlformats.org/officeDocument/2006/relationships/slide" Target="slides/slide17.xml"/><Relationship Id="rId29" Type="http://schemas.openxmlformats.org/officeDocument/2006/relationships/slide" Target="slides/slide20.xml"/><Relationship Id="rId30" Type="http://schemas.openxmlformats.org/officeDocument/2006/relationships/slide" Target="slides/slide21.xml"/><Relationship Id="rId43" Type="http://schemas.openxmlformats.org/officeDocument/2006/relationships/slide" Target="slides/slide34.xml"/><Relationship Id="rId44" Type="http://schemas.openxmlformats.org/officeDocument/2006/relationships/slide" Target="slides/slide35.xml"/><Relationship Id="rId48" Type="http://schemas.openxmlformats.org/officeDocument/2006/relationships/slide" Target="slides/slide39.xml"/><Relationship Id="rId49" Type="http://schemas.openxmlformats.org/officeDocument/2006/relationships/slide" Target="slides/slide40.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familias. Los descendentes, como HRNet o ViTPose, detectan primero a la persona y después sus puntos: son los más precisos en COCO, pero caros en CPU. Los ascendentes, como OpenPose, detectan todos los puntos y luego los agrupan. Y los de una etapa, como YOLO-Pose, sacan la caja y los 17 puntos en una sola pasada. La precisión en COCO está medida con personas en tierra, así que no decide sola: medí los candidatos en mi vídeo subacuático. YOLOv8n detecta igual que YOLOv8s con 3,5 veces menos parámetros y el doble de velocidad; YOLO11n da resultados equivalentes sin ser más rápido; y frente a MoveNet, que fue mi primera elección por fluidez, YOLO detecta con el doble de confianza y da 15 ciclos válidos frente a 3. Como el vídeo anotado se genera después del análisis, la fluidez de MoveNet dejó de importar.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cámara, infinitas posturas 3D dan la misma imagen, así que la profundidad se predice con un modelo que ha aprendido cómo se mueve el cuerpo: MotionBERT, un transformer preentrenado con Human3.6M, actores de pie en un laboratorio. Para acercar el nadador a lo que conoce, centro cada fotograma en la pelvis, giro el tronco a vertical y normalizo la escala; los ángulos no cambian con ese giro. Lo validé comparando con el 2D en vista lateral: codo, hombro y cadera son coherentes, pero la rodilla sale a 107 grados, como sentado, cuando la imagen la muestra casi extendida. Decisión: en lateral uso el 2D y guardo el 3D aparte; de frente o en diagonal, donde el 2D se deforma por la perspectiva, uso el 3D.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Parte de mis vídeos son laterales y parte frontales, y la señal que sirve en uno no sirve en el otro. Primero, la vista se decide sola: divido el vídeo en tramos de 60 segundos y miro la orientación del tronco; de lado es casi horizontal y de frente casi vertical. Un fotograma suelto no basta porque YOLO a veces pone un esqueleto de pie. En lateral cuento brazadas con la profundidad de la mano más profunda: cada máximo es una brazada. Uso la más profunda porque YOLO copia el brazo visible en el oculto. De frente esa profundidad no se ve, así que uso el recorrido de cada muñeca en la dirección en que más se mueve, que saco con PCA, medido en anchos de hombros. El ritmo es la mediana de los intervalos dentro del rango fisiológico de cada estilo, lo que lo hace robusto a los huecos.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para entrenarla hacen falta ciclos etiquetados como fatigados, y no los hay. Isolation Forest no los necesita: se entrena solo con la fase fresca del propio nadador. Su idea es sencilla: lo raro se aísla con pocos cortes aleatorios. Si un ciclo queda aislado enseguida, su puntuación se acerca a 1. Además no supone ninguna distribución, tiene coste lineal y, al ser de árboles, admite valores SHAP exactos. Antes de entrenar estandarizo cada variable con la media y la desviación de la fase fresca, y quito las variables redundantes, como la velocidad, que es frecuencia por distancia. [≈ 1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parámetros del detector los fijé a priori y después comprobé su efecto con datos sintéticos, donde sé cuándo empieza la fatiga. El percentil del umbral es lo que más pesa. Con el 90 lo detecta todo, pero con un 30 % de falsas alarmas y antes de tiempo. Con el 99 no hay falsas alarmas, pero pierde un 40 % de las fatigas y llega tarde. El 95 detecta todas, con un 10 % de falsas alarmas, y sitúa el inicio en el centro de la transición. Como contraste uso PELT, un detector de cambios que no tiene nada que ver con Isolation Forest: si los dos coinciden, la detección es más creíble. En la secuencia de 90 s: ciclo 35 frente a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viene de la teoría de juegos: reparte de forma justa la puntuación de un ciclo entre sus variables, y la suma de las partes da la puntuación. Eso permite explicar un ciclo concreto y también todo el nado. Para modelos de árboles existe TreeSHAP, que calcula los valores exactos, no aproximados, en tiempo polinómico; por eso fue un criterio al elegir Isolation Forest y el bosque aleatorio. Invierto el signo para que positivo signifique «acerca a la fatiga», y en cada ejecución compruebo que la suma de SHAP se mueve con la puntuación: 0,999 en la secuencia de 90 s. [≈ 50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estilo empecé con XGBoost y lo cambié por un bosque aleatorio, más sencillo y con SHAP exacto. Lo validé por vídeo, con GroupKFold, para no mezclar ventanas del mismo vídeo en entrenamiento y prueba. Con datos sintéticos acertaba el 100 %. Con vídeos reales, dejando un vídeo fuera, el 45,5 %, apenas por encima del 36,4 % de decir siempre la clase mayoritaria; y dejando fuera a un participante, el 9,1 %: había aprendido a reconocer al nadador, no el estilo. Por eso pasé a reglas que salen de la definición de cada estilo: si las manos se mueven a la vez o alternas, y la altura de la cabeza. Aciertan la familia en 12 de 13 vídeos, que es lo que necesito para contar ciclos. Los umbrales los fijé con esos vídeos, así que el dato es optimista. [≈ 1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 Id="rId3"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 Id="rId3" Type="http://schemas.openxmlformats.org/officeDocument/2006/relationships/image" Target="../media/image5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Pose 2D: por qué YOLOv8n</a:t>
            </a:r>
          </a:p>
        </p:txBody>
      </p:sp>
      <p:sp>
        <p:nvSpPr>
          <p:cNvPr id="4" name="Text Placeholder 3"/>
          <p:cNvSpPr>
            <a:spLocks noGrp="1"/>
          </p:cNvSpPr>
          <p:nvPr>
            <p:ph type="body" idx="18" sz="quarter"/>
          </p:nvPr>
        </p:nvSpPr>
        <p:spPr>
          <a:xfrm>
            <a:ext cx="12344400" cy="0"/>
          </a:xfrm>
        </p:spPr>
        <p:txBody>
          <a:bodyPr/>
          <a:lstStyle/>
          <a:p>
            <a:r>
              <a:t>Ocho modelos considerados; cuatro medidos en el vídeo real</a:t>
            </a:r>
          </a:p>
        </p:txBody>
      </p:sp>
      <p:graphicFrame>
        <p:nvGraphicFramePr>
          <p:cNvPr id="5" name="Table 4"/>
          <p:cNvGraphicFramePr>
            <a:graphicFrameLocks noGrp="1"/>
          </p:cNvGraphicFramePr>
          <p:nvPr/>
        </p:nvGraphicFramePr>
        <p:xfrm>
          <a:off x="905256" y="2743200"/>
          <a:ext cx="6949440" cy="3657600"/>
        </p:xfrm>
        <a:graphic>
          <a:graphicData uri="http://schemas.openxmlformats.org/drawingml/2006/table">
            <a:tbl>
              <a:tblPr firstRow="1" bandRow="1">
                <a:tableStyleId>{5C22544A-7EE6-4342-B048-85BDC9FD1C3A}</a:tableStyleId>
              </a:tblPr>
              <a:tblGrid>
                <a:gridCol w="2148840"/>
                <a:gridCol w="1600200"/>
                <a:gridCol w="1097280"/>
                <a:gridCol w="2103120"/>
              </a:tblGrid>
              <a:tr h="457200">
                <a:tc>
                  <a:txBody>
                    <a:bodyPr/>
                    <a:lstStyle/>
                    <a:p>
                      <a:r>
                        <a:rPr sz="1200" b="1">
                          <a:solidFill>
                            <a:srgbClr val="FFFFFF"/>
                          </a:solidFill>
                        </a:rPr>
                        <a:t>Modelo</a:t>
                      </a:r>
                    </a:p>
                  </a:txBody>
                  <a:tcPr marL="91440" marR="91440" marT="27432" marB="27432" anchor="ctr">
                    <a:solidFill>
                      <a:srgbClr val="FF3228"/>
                    </a:solidFill>
                  </a:tcPr>
                </a:tc>
                <a:tc>
                  <a:txBody>
                    <a:bodyPr/>
                    <a:lstStyle/>
                    <a:p>
                      <a:r>
                        <a:rPr sz="1200" b="1">
                          <a:solidFill>
                            <a:srgbClr val="FFFFFF"/>
                          </a:solidFill>
                        </a:rPr>
                        <a:t>Tipo</a:t>
                      </a:r>
                    </a:p>
                  </a:txBody>
                  <a:tcPr marL="91440" marR="91440" marT="27432" marB="27432" anchor="ctr">
                    <a:solidFill>
                      <a:srgbClr val="FF3228"/>
                    </a:solidFill>
                  </a:tcPr>
                </a:tc>
                <a:tc>
                  <a:txBody>
                    <a:bodyPr/>
                    <a:lstStyle/>
                    <a:p>
                      <a:r>
                        <a:rPr sz="1200" b="1">
                          <a:solidFill>
                            <a:srgbClr val="FFFFFF"/>
                          </a:solidFill>
                        </a:rPr>
                        <a:t>AP COCO</a:t>
                      </a:r>
                    </a:p>
                  </a:txBody>
                  <a:tcPr marL="91440" marR="91440" marT="27432" marB="27432" anchor="ctr">
                    <a:solidFill>
                      <a:srgbClr val="FF3228"/>
                    </a:solidFill>
                  </a:tcPr>
                </a:tc>
                <a:tc>
                  <a:txBody>
                    <a:bodyPr/>
                    <a:lstStyle/>
                    <a:p>
                      <a:r>
                        <a:rPr sz="1200" b="1">
                          <a:solidFill>
                            <a:srgbClr val="FFFFFF"/>
                          </a:solidFill>
                        </a:rPr>
                        <a:t>Papel</a:t>
                      </a:r>
                    </a:p>
                  </a:txBody>
                  <a:tcPr marL="91440" marR="91440" marT="27432" marB="27432" anchor="ctr">
                    <a:solidFill>
                      <a:srgbClr val="FF3228"/>
                    </a:solidFill>
                  </a:tcPr>
                </a:tc>
              </a:tr>
              <a:tr h="457200">
                <a:tc>
                  <a:txBody>
                    <a:bodyPr/>
                    <a:lstStyle/>
                    <a:p>
                      <a:r>
                        <a:rPr sz="1200" b="0">
                          <a:solidFill>
                            <a:srgbClr val="1E1E1E"/>
                          </a:solidFill>
                        </a:rPr>
                        <a:t>ViTPose-G</a:t>
                      </a:r>
                    </a:p>
                  </a:txBody>
                  <a:tcPr marL="91440" marR="91440" marT="27432" marB="27432" anchor="ctr">
                    <a:solidFill>
                      <a:srgbClr val="FFFFFF"/>
                    </a:solidFill>
                  </a:tcPr>
                </a:tc>
                <a:tc>
                  <a:txBody>
                    <a:bodyPr/>
                    <a:lstStyle/>
                    <a:p>
                      <a:r>
                        <a:rPr sz="1200" b="0">
                          <a:solidFill>
                            <a:srgbClr val="1E1E1E"/>
                          </a:solidFill>
                        </a:rPr>
                        <a:t>Transformer</a:t>
                      </a:r>
                    </a:p>
                  </a:txBody>
                  <a:tcPr marL="91440" marR="91440" marT="27432" marB="27432" anchor="ctr">
                    <a:solidFill>
                      <a:srgbClr val="FFFFFF"/>
                    </a:solidFill>
                  </a:tcPr>
                </a:tc>
                <a:tc>
                  <a:txBody>
                    <a:bodyPr/>
                    <a:lstStyle/>
                    <a:p>
                      <a:r>
                        <a:rPr sz="1200" b="0">
                          <a:solidFill>
                            <a:srgbClr val="1E1E1E"/>
                          </a:solidFill>
                        </a:rPr>
                        <a:t>80,9</a:t>
                      </a:r>
                    </a:p>
                  </a:txBody>
                  <a:tcPr marL="91440" marR="91440" marT="27432" marB="27432" anchor="ctr">
                    <a:solidFill>
                      <a:srgbClr val="FFFFFF"/>
                    </a:solidFill>
                  </a:tcPr>
                </a:tc>
                <a:tc>
                  <a:txBody>
                    <a:bodyPr/>
                    <a:lstStyle/>
                    <a:p>
                      <a:r>
                        <a:rPr sz="1200" b="0">
                          <a:solidFill>
                            <a:srgbClr val="1E1E1E"/>
                          </a:solidFill>
                        </a:rPr>
                        <a:t>Trabajo futuro</a:t>
                      </a:r>
                    </a:p>
                  </a:txBody>
                  <a:tcPr marL="91440" marR="91440" marT="27432" marB="27432" anchor="ctr">
                    <a:solidFill>
                      <a:srgbClr val="FFFFFF"/>
                    </a:solidFill>
                  </a:tcPr>
                </a:tc>
              </a:tr>
              <a:tr h="457200">
                <a:tc>
                  <a:txBody>
                    <a:bodyPr/>
                    <a:lstStyle/>
                    <a:p>
                      <a:r>
                        <a:rPr sz="1200" b="0">
                          <a:solidFill>
                            <a:srgbClr val="1E1E1E"/>
                          </a:solidFill>
                        </a:rPr>
                        <a:t>HRNet-W48</a:t>
                      </a:r>
                    </a:p>
                  </a:txBody>
                  <a:tcPr marL="91440" marR="91440" marT="27432" marB="27432" anchor="ctr">
                    <a:solidFill>
                      <a:srgbClr val="EEEDED"/>
                    </a:solidFill>
                  </a:tcPr>
                </a:tc>
                <a:tc>
                  <a:txBody>
                    <a:bodyPr/>
                    <a:lstStyle/>
                    <a:p>
                      <a:r>
                        <a:rPr sz="1200" b="0">
                          <a:solidFill>
                            <a:srgbClr val="1E1E1E"/>
                          </a:solidFill>
                        </a:rPr>
                        <a:t>Descendente</a:t>
                      </a:r>
                    </a:p>
                  </a:txBody>
                  <a:tcPr marL="91440" marR="91440" marT="27432" marB="27432" anchor="ctr">
                    <a:solidFill>
                      <a:srgbClr val="EEEDED"/>
                    </a:solidFill>
                  </a:tcPr>
                </a:tc>
                <a:tc>
                  <a:txBody>
                    <a:bodyPr/>
                    <a:lstStyle/>
                    <a:p>
                      <a:r>
                        <a:rPr sz="1200" b="0">
                          <a:solidFill>
                            <a:srgbClr val="1E1E1E"/>
                          </a:solidFill>
                        </a:rPr>
                        <a:t>75,5</a:t>
                      </a:r>
                    </a:p>
                  </a:txBody>
                  <a:tcPr marL="91440" marR="91440" marT="27432" marB="27432" anchor="ctr">
                    <a:solidFill>
                      <a:srgbClr val="EEEDED"/>
                    </a:solidFill>
                  </a:tcPr>
                </a:tc>
                <a:tc>
                  <a:txBody>
                    <a:bodyPr/>
                    <a:lstStyle/>
                    <a:p>
                      <a:r>
                        <a:rPr sz="1200" b="0">
                          <a:solidFill>
                            <a:srgbClr val="1E1E1E"/>
                          </a:solidFill>
                        </a:rPr>
                        <a:t>No usado (coste CPU)</a:t>
                      </a:r>
                    </a:p>
                  </a:txBody>
                  <a:tcPr marL="91440" marR="91440" marT="27432" marB="27432" anchor="ctr">
                    <a:solidFill>
                      <a:srgbClr val="EEEDED"/>
                    </a:solidFill>
                  </a:tcPr>
                </a:tc>
              </a:tr>
              <a:tr h="457200">
                <a:tc>
                  <a:txBody>
                    <a:bodyPr/>
                    <a:lstStyle/>
                    <a:p>
                      <a:r>
                        <a:rPr sz="1200" b="0">
                          <a:solidFill>
                            <a:srgbClr val="1E1E1E"/>
                          </a:solidFill>
                        </a:rPr>
                        <a:t>OpenPose</a:t>
                      </a:r>
                    </a:p>
                  </a:txBody>
                  <a:tcPr marL="91440" marR="91440" marT="27432" marB="27432" anchor="ctr">
                    <a:solidFill>
                      <a:srgbClr val="FFFFFF"/>
                    </a:solidFill>
                  </a:tcPr>
                </a:tc>
                <a:tc>
                  <a:txBody>
                    <a:bodyPr/>
                    <a:lstStyle/>
                    <a:p>
                      <a:r>
                        <a:rPr sz="1200" b="0">
                          <a:solidFill>
                            <a:srgbClr val="1E1E1E"/>
                          </a:solidFill>
                        </a:rPr>
                        <a:t>Ascendente</a:t>
                      </a:r>
                    </a:p>
                  </a:txBody>
                  <a:tcPr marL="91440" marR="91440" marT="27432" marB="27432" anchor="ctr">
                    <a:solidFill>
                      <a:srgbClr val="FFFFFF"/>
                    </a:solidFill>
                  </a:tcPr>
                </a:tc>
                <a:tc>
                  <a:txBody>
                    <a:bodyPr/>
                    <a:lstStyle/>
                    <a:p>
                      <a:r>
                        <a:rPr sz="1200" b="0">
                          <a:solidFill>
                            <a:srgbClr val="1E1E1E"/>
                          </a:solidFill>
                        </a:rPr>
                        <a:t>61,8</a:t>
                      </a:r>
                    </a:p>
                  </a:txBody>
                  <a:tcPr marL="91440" marR="91440" marT="27432" marB="27432" anchor="ctr">
                    <a:solidFill>
                      <a:srgbClr val="FFFFFF"/>
                    </a:solidFill>
                  </a:tcPr>
                </a:tc>
                <a:tc>
                  <a:txBody>
                    <a:bodyPr/>
                    <a:lstStyle/>
                    <a:p>
                      <a:r>
                        <a:rPr sz="1200" b="0">
                          <a:solidFill>
                            <a:srgbClr val="1E1E1E"/>
                          </a:solidFill>
                        </a:rPr>
                        <a:t>Referencia</a:t>
                      </a:r>
                    </a:p>
                  </a:txBody>
                  <a:tcPr marL="91440" marR="91440" marT="27432" marB="27432" anchor="ctr">
                    <a:solidFill>
                      <a:srgbClr val="FFFFFF"/>
                    </a:solidFill>
                  </a:tcPr>
                </a:tc>
              </a:tr>
              <a:tr h="457200">
                <a:tc>
                  <a:txBody>
                    <a:bodyPr/>
                    <a:lstStyle/>
                    <a:p>
                      <a:r>
                        <a:rPr sz="1200" b="0">
                          <a:solidFill>
                            <a:srgbClr val="1E1E1E"/>
                          </a:solidFill>
                        </a:rPr>
                        <a:t>YOLOv8s-Pose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60,0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1">
                          <a:solidFill>
                            <a:srgbClr val="1E1E1E"/>
                          </a:solidFill>
                        </a:rPr>
                        <a:t>YOLOv8n-Pose</a:t>
                      </a:r>
                    </a:p>
                  </a:txBody>
                  <a:tcPr marL="91440" marR="91440" marT="27432" marB="27432" anchor="ctr">
                    <a:solidFill>
                      <a:srgbClr val="FFAFAA"/>
                    </a:solidFill>
                  </a:tcPr>
                </a:tc>
                <a:tc>
                  <a:txBody>
                    <a:bodyPr/>
                    <a:lstStyle/>
                    <a:p>
                      <a:r>
                        <a:rPr sz="1200" b="1">
                          <a:solidFill>
                            <a:srgbClr val="1E1E1E"/>
                          </a:solidFill>
                        </a:rPr>
                        <a:t>Una etapa</a:t>
                      </a:r>
                    </a:p>
                  </a:txBody>
                  <a:tcPr marL="91440" marR="91440" marT="27432" marB="27432" anchor="ctr">
                    <a:solidFill>
                      <a:srgbClr val="FFAFAA"/>
                    </a:solidFill>
                  </a:tcPr>
                </a:tc>
                <a:tc>
                  <a:txBody>
                    <a:bodyPr/>
                    <a:lstStyle/>
                    <a:p>
                      <a:r>
                        <a:rPr sz="1200" b="1">
                          <a:solidFill>
                            <a:srgbClr val="1E1E1E"/>
                          </a:solidFill>
                        </a:rPr>
                        <a:t>50,4</a:t>
                      </a:r>
                    </a:p>
                  </a:txBody>
                  <a:tcPr marL="91440" marR="91440" marT="27432" marB="27432" anchor="ctr">
                    <a:solidFill>
                      <a:srgbClr val="FFAFAA"/>
                    </a:solidFill>
                  </a:tcPr>
                </a:tc>
                <a:tc>
                  <a:txBody>
                    <a:bodyPr/>
                    <a:lstStyle/>
                    <a:p>
                      <a:r>
                        <a:rPr sz="1200" b="1">
                          <a:solidFill>
                            <a:srgbClr val="1E1E1E"/>
                          </a:solidFill>
                        </a:rPr>
                        <a:t>Elegido</a:t>
                      </a:r>
                    </a:p>
                  </a:txBody>
                  <a:tcPr marL="91440" marR="91440" marT="27432" marB="27432" anchor="ctr">
                    <a:solidFill>
                      <a:srgbClr val="FFAFAA"/>
                    </a:solidFill>
                  </a:tcPr>
                </a:tc>
              </a:tr>
              <a:tr h="457200">
                <a:tc>
                  <a:txBody>
                    <a:bodyPr/>
                    <a:lstStyle/>
                    <a:p>
                      <a:r>
                        <a:rPr sz="1200" b="0">
                          <a:solidFill>
                            <a:srgbClr val="1E1E1E"/>
                          </a:solidFill>
                        </a:rPr>
                        <a:t>YOLO11n-Pose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50,0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0">
                          <a:solidFill>
                            <a:srgbClr val="1E1E1E"/>
                          </a:solidFill>
                        </a:rPr>
                        <a:t>MoveNet Lightning</a:t>
                      </a:r>
                    </a:p>
                  </a:txBody>
                  <a:tcPr marL="91440" marR="91440" marT="27432" marB="27432" anchor="ctr">
                    <a:solidFill>
                      <a:srgbClr val="FFFFFF"/>
                    </a:solidFill>
                  </a:tcPr>
                </a:tc>
                <a:tc>
                  <a:txBody>
                    <a:bodyPr/>
                    <a:lstStyle/>
                    <a:p>
                      <a:r>
                        <a:rPr sz="1200" b="0">
                          <a:solidFill>
                            <a:srgbClr val="1E1E1E"/>
                          </a:solidFill>
                        </a:rPr>
                        <a:t>Una persona</a:t>
                      </a:r>
                    </a:p>
                  </a:txBody>
                  <a:tcPr marL="91440" marR="91440" marT="27432" marB="27432" anchor="ctr">
                    <a:solidFill>
                      <a:srgbClr val="FFFFFF"/>
                    </a:solidFill>
                  </a:tcPr>
                </a:tc>
                <a:tc>
                  <a:txBody>
                    <a:bodyPr/>
                    <a:lstStyle/>
                    <a:p>
                      <a:r>
                        <a:rPr sz="1200" b="0">
                          <a:solidFill>
                            <a:srgbClr val="1E1E1E"/>
                          </a:solidFill>
                        </a:rPr>
                        <a:t>—</a:t>
                      </a:r>
                    </a:p>
                  </a:txBody>
                  <a:tcPr marL="91440" marR="91440" marT="27432" marB="27432" anchor="ctr">
                    <a:solidFill>
                      <a:srgbClr val="FFFFFF"/>
                    </a:solidFill>
                  </a:tcPr>
                </a:tc>
                <a:tc>
                  <a:txBody>
                    <a:bodyPr/>
                    <a:lstStyle/>
                    <a:p>
                      <a:r>
                        <a:rPr sz="1200" b="0">
                          <a:solidFill>
                            <a:srgbClr val="1E1E1E"/>
                          </a:solidFill>
                        </a:rPr>
                        <a:t>Comparado; opción</a:t>
                      </a:r>
                    </a:p>
                  </a:txBody>
                  <a:tcPr marL="91440" marR="91440" marT="27432" marB="27432" anchor="ctr">
                    <a:solidFill>
                      <a:srgbClr val="FFFFFF"/>
                    </a:solidFill>
                  </a:tcPr>
                </a:tc>
              </a:tr>
            </a:tbl>
          </a:graphicData>
        </a:graphic>
      </p:graphicFrame>
      <p:sp>
        <p:nvSpPr>
          <p:cNvPr id="6" name="Rectangle 5"/>
          <p:cNvSpPr/>
          <p:nvPr/>
        </p:nvSpPr>
        <p:spPr>
          <a:xfrm>
            <a:off x="8138160" y="2743200"/>
            <a:ext cx="5577840" cy="3657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2926080"/>
            <a:ext cx="5029200" cy="457200"/>
          </a:xfrm>
          <a:prstGeom prst="rect">
            <a:avLst/>
          </a:prstGeom>
          <a:noFill/>
        </p:spPr>
        <p:txBody>
          <a:bodyPr wrap="square" anchor="t" lIns="0" rIns="0" tIns="0" bIns="0">
            <a:spAutoFit/>
          </a:bodyPr>
          <a:lstStyle/>
          <a:p>
            <a:pPr algn="l">
              <a:spcAft>
                <a:spcPts val="600"/>
              </a:spcAft>
            </a:pPr>
            <a:r>
              <a:rPr sz="1700" b="1">
                <a:solidFill>
                  <a:srgbClr val="FF3228"/>
                </a:solidFill>
              </a:rPr>
              <a:t>¿Por qué YOLOv8n? (vídeo real, CPU)</a:t>
            </a:r>
          </a:p>
        </p:txBody>
      </p:sp>
      <p:sp>
        <p:nvSpPr>
          <p:cNvPr id="8" name="TextBox 7"/>
          <p:cNvSpPr txBox="1"/>
          <p:nvPr/>
        </p:nvSpPr>
        <p:spPr>
          <a:xfrm>
            <a:off x="8412480" y="3474720"/>
            <a:ext cx="5029200" cy="2834640"/>
          </a:xfrm>
          <a:prstGeom prst="rect">
            <a:avLst/>
          </a:prstGeom>
          <a:noFill/>
        </p:spPr>
        <p:txBody>
          <a:bodyPr wrap="square" anchor="t" lIns="0" rIns="0" tIns="0" bIns="0">
            <a:spAutoFit/>
          </a:bodyPr>
          <a:lstStyle/>
          <a:p>
            <a:pPr algn="l">
              <a:spcAft>
                <a:spcPts val="800"/>
              </a:spcAft>
            </a:pPr>
            <a:r>
              <a:rPr sz="1300" b="0">
                <a:solidFill>
                  <a:srgbClr val="1E1E1E"/>
                </a:solidFill>
              </a:rPr>
              <a:t>•  Una sola pasada: caja y 17 puntos a la vez</a:t>
            </a:r>
          </a:p>
          <a:p>
            <a:pPr algn="l">
              <a:spcAft>
                <a:spcPts val="800"/>
              </a:spcAft>
            </a:pPr>
            <a:r>
              <a:rPr sz="1300" b="0">
                <a:solidFill>
                  <a:srgbClr val="1E1E1E"/>
                </a:solidFill>
              </a:rPr>
              <a:t>•  Frente a YOLOv8s: misma detección (35,6 %) con 3,5× menos parámetros y el doble de FPS (6,6 frente a 3,3)</a:t>
            </a:r>
          </a:p>
          <a:p>
            <a:pPr algn="l">
              <a:spcAft>
                <a:spcPts val="800"/>
              </a:spcAft>
            </a:pPr>
            <a:r>
              <a:rPr sz="1300" b="0">
                <a:solidFill>
                  <a:srgbClr val="1E1E1E"/>
                </a:solidFill>
              </a:rPr>
              <a:t>•  Frente a YOLO11n: resultados equivalentes (37,6 %, confianza 0,78) sin ser más rápido (6,2 FPS)</a:t>
            </a:r>
          </a:p>
          <a:p>
            <a:pPr algn="l">
              <a:spcAft>
                <a:spcPts val="800"/>
              </a:spcAft>
            </a:pPr>
            <a:r>
              <a:rPr sz="1300" b="0">
                <a:solidFill>
                  <a:srgbClr val="1E1E1E"/>
                </a:solidFill>
              </a:rPr>
              <a:t>•  Frente a MoveNet: el doble de confianza (0,73-0,77 frente a 0,34-0,37) y 15 ciclos válidos frente a 3</a:t>
            </a:r>
          </a:p>
          <a:p>
            <a:pPr algn="l">
              <a:spcAft>
                <a:spcPts val="800"/>
              </a:spcAft>
            </a:pPr>
            <a:r>
              <a:rPr sz="1300" b="0">
                <a:solidFill>
                  <a:srgbClr val="1E1E1E"/>
                </a:solidFill>
              </a:rPr>
              <a:t>•  HRNet y ViTPose: mejor AP, pero coste elevado en CPU</a:t>
            </a:r>
          </a:p>
        </p:txBody>
      </p:sp>
      <p:sp>
        <p:nvSpPr>
          <p:cNvPr id="9" name="TextBox 8"/>
          <p:cNvSpPr txBox="1"/>
          <p:nvPr/>
        </p:nvSpPr>
        <p:spPr>
          <a:xfrm>
            <a:off x="905256" y="66751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AP: precisión media en COCO según las publicaciones originales (personas en tierra). Sin anotaciones propias, la pose bajo el agua se validó con la tarea: frecuencia frente al conteo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3D con MotionBERT: cuándo sí y cuándo no</a:t>
            </a:r>
          </a:p>
        </p:txBody>
      </p:sp>
      <p:sp>
        <p:nvSpPr>
          <p:cNvPr id="4" name="Text Placeholder 3"/>
          <p:cNvSpPr>
            <a:spLocks noGrp="1"/>
          </p:cNvSpPr>
          <p:nvPr>
            <p:ph type="body" idx="18" sz="quarter"/>
          </p:nvPr>
        </p:nvSpPr>
        <p:spPr>
          <a:xfrm>
            <a:ext cx="12344400" cy="0"/>
          </a:xfrm>
        </p:spPr>
        <p:txBody>
          <a:bodyPr/>
          <a:lstStyle/>
          <a:p>
            <a:r>
              <a:t>Elevación de la pose 2D a 3D con una sola cámara</a:t>
            </a:r>
          </a:p>
        </p:txBody>
      </p:sp>
      <p:sp>
        <p:nvSpPr>
          <p:cNvPr id="5" name="Rectangle 4"/>
          <p:cNvSpPr/>
          <p:nvPr/>
        </p:nvSpPr>
        <p:spPr>
          <a:xfrm>
            <a:off x="905256" y="27432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43200"/>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Elevación (lifting)</a:t>
            </a:r>
          </a:p>
        </p:txBody>
      </p:sp>
      <p:sp>
        <p:nvSpPr>
          <p:cNvPr id="8" name="TextBox 7"/>
          <p:cNvSpPr txBox="1"/>
          <p:nvPr/>
        </p:nvSpPr>
        <p:spPr>
          <a:xfrm>
            <a:off x="1828800" y="3108960"/>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La secuencia de puntos 2D entra en MotionBERT-Lite (transformer DSTformer), que predice la profundidad. ≈ 25 s por vídeo en CPU.</a:t>
            </a:r>
          </a:p>
        </p:txBody>
      </p:sp>
      <p:sp>
        <p:nvSpPr>
          <p:cNvPr id="9" name="Rectangle 8"/>
          <p:cNvSpPr/>
          <p:nvPr/>
        </p:nvSpPr>
        <p:spPr>
          <a:xfrm>
            <a:off x="905256" y="3767328"/>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767328"/>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767328"/>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 problema</a:t>
            </a:r>
          </a:p>
        </p:txBody>
      </p:sp>
      <p:sp>
        <p:nvSpPr>
          <p:cNvPr id="12" name="TextBox 11"/>
          <p:cNvSpPr txBox="1"/>
          <p:nvPr/>
        </p:nvSpPr>
        <p:spPr>
          <a:xfrm>
            <a:off x="1828800" y="4133088"/>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Preentrenado en Human3.6M: actores de pie en un laboratorio, no nadadores horizontales.</a:t>
            </a:r>
          </a:p>
        </p:txBody>
      </p:sp>
      <p:sp>
        <p:nvSpPr>
          <p:cNvPr id="13" name="Rectangle 12"/>
          <p:cNvSpPr/>
          <p:nvPr/>
        </p:nvSpPr>
        <p:spPr>
          <a:xfrm>
            <a:off x="905256" y="4791456"/>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791456"/>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791456"/>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La adaptación</a:t>
            </a:r>
          </a:p>
        </p:txBody>
      </p:sp>
      <p:sp>
        <p:nvSpPr>
          <p:cNvPr id="16" name="TextBox 15"/>
          <p:cNvSpPr txBox="1"/>
          <p:nvPr/>
        </p:nvSpPr>
        <p:spPr>
          <a:xfrm>
            <a:off x="1828800" y="5157216"/>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Centrar en la pelvis, girar el tronco a vertical y normalizar por el tamaño del cuerpo; los ángulos no cambian con el giro.</a:t>
            </a:r>
          </a:p>
        </p:txBody>
      </p:sp>
      <p:graphicFrame>
        <p:nvGraphicFramePr>
          <p:cNvPr id="17" name="Table 16"/>
          <p:cNvGraphicFramePr>
            <a:graphicFrameLocks noGrp="1"/>
          </p:cNvGraphicFramePr>
          <p:nvPr/>
        </p:nvGraphicFramePr>
        <p:xfrm>
          <a:off x="7498079" y="2743200"/>
          <a:ext cx="6217920" cy="2286000"/>
        </p:xfrm>
        <a:graphic>
          <a:graphicData uri="http://schemas.openxmlformats.org/drawingml/2006/table">
            <a:tbl>
              <a:tblPr firstRow="1" bandRow="1">
                <a:tableStyleId>{5C22544A-7EE6-4342-B048-85BDC9FD1C3A}</a:tableStyleId>
              </a:tblPr>
              <a:tblGrid>
                <a:gridCol w="1463040"/>
                <a:gridCol w="1554480"/>
                <a:gridCol w="1554480"/>
                <a:gridCol w="1645920"/>
              </a:tblGrid>
              <a:tr h="457200">
                <a:tc>
                  <a:txBody>
                    <a:bodyPr/>
                    <a:lstStyle/>
                    <a:p>
                      <a:r>
                        <a:rPr sz="1200" b="1">
                          <a:solidFill>
                            <a:srgbClr val="FFFFFF"/>
                          </a:solidFill>
                        </a:rPr>
                        <a:t>Ángulo (I / D)</a:t>
                      </a:r>
                    </a:p>
                  </a:txBody>
                  <a:tcPr marL="91440" marR="91440" marT="27432" marB="27432" anchor="ctr">
                    <a:solidFill>
                      <a:srgbClr val="FF3228"/>
                    </a:solidFill>
                  </a:tcPr>
                </a:tc>
                <a:tc>
                  <a:txBody>
                    <a:bodyPr/>
                    <a:lstStyle/>
                    <a:p>
                      <a:r>
                        <a:rPr sz="1200" b="1">
                          <a:solidFill>
                            <a:srgbClr val="FFFFFF"/>
                          </a:solidFill>
                        </a:rPr>
                        <a:t>Mediana 2D</a:t>
                      </a:r>
                    </a:p>
                  </a:txBody>
                  <a:tcPr marL="91440" marR="91440" marT="27432" marB="27432" anchor="ctr">
                    <a:solidFill>
                      <a:srgbClr val="FF3228"/>
                    </a:solidFill>
                  </a:tcPr>
                </a:tc>
                <a:tc>
                  <a:txBody>
                    <a:bodyPr/>
                    <a:lstStyle/>
                    <a:p>
                      <a:r>
                        <a:rPr sz="1200" b="1">
                          <a:solidFill>
                            <a:srgbClr val="FFFFFF"/>
                          </a:solidFill>
                        </a:rPr>
                        <a:t>Mediana 3D</a:t>
                      </a:r>
                    </a:p>
                  </a:txBody>
                  <a:tcPr marL="91440" marR="91440" marT="27432" marB="27432" anchor="ctr">
                    <a:solidFill>
                      <a:srgbClr val="FF3228"/>
                    </a:solidFill>
                  </a:tcPr>
                </a:tc>
                <a:tc>
                  <a:txBody>
                    <a:bodyPr/>
                    <a:lstStyle/>
                    <a:p>
                      <a:r>
                        <a:rPr sz="1200" b="1">
                          <a:solidFill>
                            <a:srgbClr val="FFFFFF"/>
                          </a:solidFill>
                        </a:rPr>
                        <a:t>Correlación</a:t>
                      </a:r>
                    </a:p>
                  </a:txBody>
                  <a:tcPr marL="91440" marR="91440" marT="27432" marB="27432" anchor="ctr">
                    <a:solidFill>
                      <a:srgbClr val="FF3228"/>
                    </a:solidFill>
                  </a:tcPr>
                </a:tc>
              </a:tr>
              <a:tr h="457200">
                <a:tc>
                  <a:txBody>
                    <a:bodyPr/>
                    <a:lstStyle/>
                    <a:p>
                      <a:r>
                        <a:rPr sz="1200" b="0">
                          <a:solidFill>
                            <a:srgbClr val="1E1E1E"/>
                          </a:solidFill>
                        </a:rPr>
                        <a:t>Codo</a:t>
                      </a:r>
                    </a:p>
                  </a:txBody>
                  <a:tcPr marL="91440" marR="91440" marT="27432" marB="27432" anchor="ctr">
                    <a:solidFill>
                      <a:srgbClr val="FFFFFF"/>
                    </a:solidFill>
                  </a:tcPr>
                </a:tc>
                <a:tc>
                  <a:txBody>
                    <a:bodyPr/>
                    <a:lstStyle/>
                    <a:p>
                      <a:r>
                        <a:rPr sz="1200" b="0">
                          <a:solidFill>
                            <a:srgbClr val="1E1E1E"/>
                          </a:solidFill>
                        </a:rPr>
                        <a:t>156° / 144°</a:t>
                      </a:r>
                    </a:p>
                  </a:txBody>
                  <a:tcPr marL="91440" marR="91440" marT="27432" marB="27432" anchor="ctr">
                    <a:solidFill>
                      <a:srgbClr val="FFFFFF"/>
                    </a:solidFill>
                  </a:tcPr>
                </a:tc>
                <a:tc>
                  <a:txBody>
                    <a:bodyPr/>
                    <a:lstStyle/>
                    <a:p>
                      <a:r>
                        <a:rPr sz="1200" b="0">
                          <a:solidFill>
                            <a:srgbClr val="1E1E1E"/>
                          </a:solidFill>
                        </a:rPr>
                        <a:t>158° / 143°</a:t>
                      </a:r>
                    </a:p>
                  </a:txBody>
                  <a:tcPr marL="91440" marR="91440" marT="27432" marB="27432" anchor="ctr">
                    <a:solidFill>
                      <a:srgbClr val="FFFFFF"/>
                    </a:solidFill>
                  </a:tcPr>
                </a:tc>
                <a:tc>
                  <a:txBody>
                    <a:bodyPr/>
                    <a:lstStyle/>
                    <a:p>
                      <a:r>
                        <a:rPr sz="1200" b="0">
                          <a:solidFill>
                            <a:srgbClr val="1E1E1E"/>
                          </a:solidFill>
                        </a:rPr>
                        <a:t>0,51 / −0,08</a:t>
                      </a:r>
                    </a:p>
                  </a:txBody>
                  <a:tcPr marL="91440" marR="91440" marT="27432" marB="27432" anchor="ctr">
                    <a:solidFill>
                      <a:srgbClr val="FFFFFF"/>
                    </a:solidFill>
                  </a:tcPr>
                </a:tc>
              </a:tr>
              <a:tr h="457200">
                <a:tc>
                  <a:txBody>
                    <a:bodyPr/>
                    <a:lstStyle/>
                    <a:p>
                      <a:r>
                        <a:rPr sz="1200" b="0">
                          <a:solidFill>
                            <a:srgbClr val="1E1E1E"/>
                          </a:solidFill>
                        </a:rPr>
                        <a:t>Hombro</a:t>
                      </a:r>
                    </a:p>
                  </a:txBody>
                  <a:tcPr marL="91440" marR="91440" marT="27432" marB="27432" anchor="ctr">
                    <a:solidFill>
                      <a:srgbClr val="EEEDED"/>
                    </a:solidFill>
                  </a:tcPr>
                </a:tc>
                <a:tc>
                  <a:txBody>
                    <a:bodyPr/>
                    <a:lstStyle/>
                    <a:p>
                      <a:r>
                        <a:rPr sz="1200" b="0">
                          <a:solidFill>
                            <a:srgbClr val="1E1E1E"/>
                          </a:solidFill>
                        </a:rPr>
                        <a:t>90° / 81°</a:t>
                      </a:r>
                    </a:p>
                  </a:txBody>
                  <a:tcPr marL="91440" marR="91440" marT="27432" marB="27432" anchor="ctr">
                    <a:solidFill>
                      <a:srgbClr val="EEEDED"/>
                    </a:solidFill>
                  </a:tcPr>
                </a:tc>
                <a:tc>
                  <a:txBody>
                    <a:bodyPr/>
                    <a:lstStyle/>
                    <a:p>
                      <a:r>
                        <a:rPr sz="1200" b="0">
                          <a:solidFill>
                            <a:srgbClr val="1E1E1E"/>
                          </a:solidFill>
                        </a:rPr>
                        <a:t>89° / 92°</a:t>
                      </a:r>
                    </a:p>
                  </a:txBody>
                  <a:tcPr marL="91440" marR="91440" marT="27432" marB="27432" anchor="ctr">
                    <a:solidFill>
                      <a:srgbClr val="EEEDED"/>
                    </a:solidFill>
                  </a:tcPr>
                </a:tc>
                <a:tc>
                  <a:txBody>
                    <a:bodyPr/>
                    <a:lstStyle/>
                    <a:p>
                      <a:r>
                        <a:rPr sz="1200" b="0">
                          <a:solidFill>
                            <a:srgbClr val="1E1E1E"/>
                          </a:solidFill>
                        </a:rPr>
                        <a:t>0,69 / 0,71</a:t>
                      </a:r>
                    </a:p>
                  </a:txBody>
                  <a:tcPr marL="91440" marR="91440" marT="27432" marB="27432" anchor="ctr">
                    <a:solidFill>
                      <a:srgbClr val="EEEDED"/>
                    </a:solidFill>
                  </a:tcPr>
                </a:tc>
              </a:tr>
              <a:tr h="457200">
                <a:tc>
                  <a:txBody>
                    <a:bodyPr/>
                    <a:lstStyle/>
                    <a:p>
                      <a:r>
                        <a:rPr sz="1200" b="0">
                          <a:solidFill>
                            <a:srgbClr val="1E1E1E"/>
                          </a:solidFill>
                        </a:rPr>
                        <a:t>Cadera</a:t>
                      </a:r>
                    </a:p>
                  </a:txBody>
                  <a:tcPr marL="91440" marR="91440" marT="27432" marB="27432" anchor="ctr">
                    <a:solidFill>
                      <a:srgbClr val="FFFFFF"/>
                    </a:solidFill>
                  </a:tcPr>
                </a:tc>
                <a:tc>
                  <a:txBody>
                    <a:bodyPr/>
                    <a:lstStyle/>
                    <a:p>
                      <a:r>
                        <a:rPr sz="1200" b="0">
                          <a:solidFill>
                            <a:srgbClr val="1E1E1E"/>
                          </a:solidFill>
                        </a:rPr>
                        <a:t>171° / 172°</a:t>
                      </a:r>
                    </a:p>
                  </a:txBody>
                  <a:tcPr marL="91440" marR="91440" marT="27432" marB="27432" anchor="ctr">
                    <a:solidFill>
                      <a:srgbClr val="FFFFFF"/>
                    </a:solidFill>
                  </a:tcPr>
                </a:tc>
                <a:tc>
                  <a:txBody>
                    <a:bodyPr/>
                    <a:lstStyle/>
                    <a:p>
                      <a:r>
                        <a:rPr sz="1200" b="0">
                          <a:solidFill>
                            <a:srgbClr val="1E1E1E"/>
                          </a:solidFill>
                        </a:rPr>
                        <a:t>160° / 164°</a:t>
                      </a:r>
                    </a:p>
                  </a:txBody>
                  <a:tcPr marL="91440" marR="91440" marT="27432" marB="27432" anchor="ctr">
                    <a:solidFill>
                      <a:srgbClr val="FFFFFF"/>
                    </a:solidFill>
                  </a:tcPr>
                </a:tc>
                <a:tc>
                  <a:txBody>
                    <a:bodyPr/>
                    <a:lstStyle/>
                    <a:p>
                      <a:r>
                        <a:rPr sz="1200" b="0">
                          <a:solidFill>
                            <a:srgbClr val="1E1E1E"/>
                          </a:solidFill>
                        </a:rPr>
                        <a:t>0,58 / 0,69</a:t>
                      </a:r>
                    </a:p>
                  </a:txBody>
                  <a:tcPr marL="91440" marR="91440" marT="27432" marB="27432" anchor="ctr">
                    <a:solidFill>
                      <a:srgbClr val="FFFFFF"/>
                    </a:solidFill>
                  </a:tcPr>
                </a:tc>
              </a:tr>
              <a:tr h="457200">
                <a:tc>
                  <a:txBody>
                    <a:bodyPr/>
                    <a:lstStyle/>
                    <a:p>
                      <a:r>
                        <a:rPr sz="1200" b="1">
                          <a:solidFill>
                            <a:srgbClr val="1E1E1E"/>
                          </a:solidFill>
                        </a:rPr>
                        <a:t>Rodilla</a:t>
                      </a:r>
                    </a:p>
                  </a:txBody>
                  <a:tcPr marL="91440" marR="91440" marT="27432" marB="27432" anchor="ctr">
                    <a:solidFill>
                      <a:srgbClr val="FFAFAA"/>
                    </a:solidFill>
                  </a:tcPr>
                </a:tc>
                <a:tc>
                  <a:txBody>
                    <a:bodyPr/>
                    <a:lstStyle/>
                    <a:p>
                      <a:r>
                        <a:rPr sz="1200" b="1">
                          <a:solidFill>
                            <a:srgbClr val="1E1E1E"/>
                          </a:solidFill>
                        </a:rPr>
                        <a:t>173° / 173°</a:t>
                      </a:r>
                    </a:p>
                  </a:txBody>
                  <a:tcPr marL="91440" marR="91440" marT="27432" marB="27432" anchor="ctr">
                    <a:solidFill>
                      <a:srgbClr val="FFAFAA"/>
                    </a:solidFill>
                  </a:tcPr>
                </a:tc>
                <a:tc>
                  <a:txBody>
                    <a:bodyPr/>
                    <a:lstStyle/>
                    <a:p>
                      <a:r>
                        <a:rPr sz="1200" b="1">
                          <a:solidFill>
                            <a:srgbClr val="1E1E1E"/>
                          </a:solidFill>
                        </a:rPr>
                        <a:t>107° / 106°</a:t>
                      </a:r>
                    </a:p>
                  </a:txBody>
                  <a:tcPr marL="91440" marR="91440" marT="27432" marB="27432" anchor="ctr">
                    <a:solidFill>
                      <a:srgbClr val="FFAFAA"/>
                    </a:solidFill>
                  </a:tcPr>
                </a:tc>
                <a:tc>
                  <a:txBody>
                    <a:bodyPr/>
                    <a:lstStyle/>
                    <a:p>
                      <a:r>
                        <a:rPr sz="1200" b="1">
                          <a:solidFill>
                            <a:srgbClr val="1E1E1E"/>
                          </a:solidFill>
                        </a:rPr>
                        <a:t>0,01 / −0,04</a:t>
                      </a:r>
                    </a:p>
                  </a:txBody>
                  <a:tcPr marL="91440" marR="91440" marT="27432" marB="27432" anchor="ctr">
                    <a:solidFill>
                      <a:srgbClr val="FFAFAA"/>
                    </a:solidFill>
                  </a:tcPr>
                </a:tc>
              </a:tr>
            </a:tbl>
          </a:graphicData>
        </a:graphic>
      </p:graphicFrame>
      <p:sp>
        <p:nvSpPr>
          <p:cNvPr id="18" name="TextBox 17"/>
          <p:cNvSpPr txBox="1"/>
          <p:nvPr/>
        </p:nvSpPr>
        <p:spPr>
          <a:xfrm>
            <a:off x="7498079" y="5120640"/>
            <a:ext cx="6217920" cy="365760"/>
          </a:xfrm>
          <a:prstGeom prst="rect">
            <a:avLst/>
          </a:prstGeom>
          <a:noFill/>
        </p:spPr>
        <p:txBody>
          <a:bodyPr wrap="square" anchor="t" lIns="0" rIns="0" tIns="0" bIns="0">
            <a:spAutoFit/>
          </a:bodyPr>
          <a:lstStyle/>
          <a:p>
            <a:pPr algn="l">
              <a:spcAft>
                <a:spcPts val="600"/>
              </a:spcAft>
            </a:pPr>
            <a:r>
              <a:rPr sz="1100" b="0">
                <a:solidFill>
                  <a:srgbClr val="504B4B"/>
                </a:solidFill>
              </a:rPr>
              <a:t>Vista lateral, secuencia GX011614, 85 fotogramas (Tabla 14 de la memoria)</a:t>
            </a:r>
          </a:p>
        </p:txBody>
      </p:sp>
      <p:sp>
        <p:nvSpPr>
          <p:cNvPr id="19" name="Rectangle 18"/>
          <p:cNvSpPr/>
          <p:nvPr/>
        </p:nvSpPr>
        <p:spPr>
          <a:xfrm>
            <a:off x="905256" y="589788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897880"/>
            <a:ext cx="12252960" cy="914400"/>
          </a:xfrm>
          <a:prstGeom prst="rect">
            <a:avLst/>
          </a:prstGeom>
          <a:noFill/>
        </p:spPr>
        <p:txBody>
          <a:bodyPr wrap="square" anchor="ctr" lIns="0" rIns="0" tIns="0" bIns="0">
            <a:spAutoFit/>
          </a:bodyPr>
          <a:lstStyle/>
          <a:p>
            <a:pPr algn="l">
              <a:spcAft>
                <a:spcPts val="600"/>
              </a:spcAft>
            </a:pPr>
            <a:r>
              <a:rPr sz="1500" b="1">
                <a:solidFill>
                  <a:srgbClr val="FF3228"/>
                </a:solidFill>
              </a:rPr>
              <a:t>Decisión: </a:t>
            </a:r>
            <a:r>
              <a:rPr sz="1500" b="0">
                <a:solidFill>
                  <a:srgbClr val="FFFFFF"/>
                </a:solidFill>
              </a:rPr>
              <a:t>vista lateral → ángulos 2D (el 3D se guarda aparte) · vista frontal u oblicua → ángulos 3D (el 2D se deforma por la perspectiva)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vistas, dos señales de brazada</a:t>
            </a:r>
          </a:p>
        </p:txBody>
      </p:sp>
      <p:sp>
        <p:nvSpPr>
          <p:cNvPr id="4" name="Text Placeholder 3"/>
          <p:cNvSpPr>
            <a:spLocks noGrp="1"/>
          </p:cNvSpPr>
          <p:nvPr>
            <p:ph type="body" idx="18" sz="quarter"/>
          </p:nvPr>
        </p:nvSpPr>
        <p:spPr>
          <a:xfrm>
            <a:ext cx="12344400" cy="0"/>
          </a:xfrm>
        </p:spPr>
        <p:txBody>
          <a:bodyPr/>
          <a:lstStyle/>
          <a:p>
            <a:r>
              <a:t>El sistema decide la vista y usa la señal que esa vista permite ver</a:t>
            </a:r>
          </a:p>
        </p:txBody>
      </p:sp>
      <p:sp>
        <p:nvSpPr>
          <p:cNvPr id="5" name="Rectangle 4"/>
          <p:cNvSpPr/>
          <p:nvPr/>
        </p:nvSpPr>
        <p:spPr>
          <a:xfrm>
            <a:off x="905256" y="2743200"/>
            <a:ext cx="128016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868680"/>
          </a:xfrm>
          <a:prstGeom prst="rect">
            <a:avLst/>
          </a:prstGeom>
          <a:noFill/>
        </p:spPr>
        <p:txBody>
          <a:bodyPr wrap="square" anchor="ctr" lIns="0" rIns="0" tIns="0" bIns="0">
            <a:spAutoFit/>
          </a:bodyPr>
          <a:lstStyle/>
          <a:p>
            <a:pPr algn="l">
              <a:spcAft>
                <a:spcPts val="600"/>
              </a:spcAft>
            </a:pPr>
            <a:r>
              <a:rPr sz="1400" b="1">
                <a:solidFill>
                  <a:srgbClr val="FF3228"/>
                </a:solidFill>
              </a:rPr>
              <a:t>Vista automática: </a:t>
            </a:r>
            <a:r>
              <a:rPr sz="1400" b="0">
                <a:solidFill>
                  <a:srgbClr val="FFFFFF"/>
                </a:solidFill>
              </a:rPr>
              <a:t>tramos de 60 s; un tramo es frontal si ≥ 65 % de sus fotogramas tienen el tronco a &gt; 55° de la horizontal (vídeos reales: laterales ≤ 46 %, frontales ≥ 87 %).</a:t>
            </a:r>
          </a:p>
        </p:txBody>
      </p:sp>
      <p:sp>
        <p:nvSpPr>
          <p:cNvPr id="7" name="Rectangle 6"/>
          <p:cNvSpPr/>
          <p:nvPr/>
        </p:nvSpPr>
        <p:spPr>
          <a:xfrm>
            <a:off x="90525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957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Lateral · profundidad de la mano</a:t>
            </a:r>
          </a:p>
        </p:txBody>
      </p:sp>
      <p:sp>
        <p:nvSpPr>
          <p:cNvPr id="9" name="TextBox 8"/>
          <p:cNvSpPr txBox="1"/>
          <p:nvPr/>
        </p:nvSpPr>
        <p:spPr>
          <a:xfrm>
            <a:off x="117957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Mano más profunda respecto al eje del tronco, en longitudes de tronco; cada máximo es una brazada. Se toma la más profunda porque YOLO copia el brazo visible en el oculto.</a:t>
            </a:r>
          </a:p>
        </p:txBody>
      </p:sp>
      <p:sp>
        <p:nvSpPr>
          <p:cNvPr id="10" name="Rectangle 9"/>
          <p:cNvSpPr/>
          <p:nvPr/>
        </p:nvSpPr>
        <p:spPr>
          <a:xfrm>
            <a:off x="744321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Frontal · recorrido de la muñeca (PCA)</a:t>
            </a:r>
          </a:p>
        </p:txBody>
      </p:sp>
      <p:sp>
        <p:nvSpPr>
          <p:cNvPr id="12" name="TextBox 11"/>
          <p:cNvSpPr txBox="1"/>
          <p:nvPr/>
        </p:nvSpPr>
        <p:spPr>
          <a:xfrm>
            <a:off x="771753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Recorrido de cada muñeca respecto al centro de los hombros, proyectado en la 1.ª componente principal, en anchos de hombros. De frente la profundidad no es observable.</a:t>
            </a:r>
          </a:p>
        </p:txBody>
      </p:sp>
      <p:sp>
        <p:nvSpPr>
          <p:cNvPr id="13" name="TextBox 12"/>
          <p:cNvSpPr txBox="1"/>
          <p:nvPr/>
        </p:nvSpPr>
        <p:spPr>
          <a:xfrm>
            <a:off x="905256" y="6309360"/>
            <a:ext cx="12801600" cy="731520"/>
          </a:xfrm>
          <a:prstGeom prst="rect">
            <a:avLst/>
          </a:prstGeom>
          <a:noFill/>
        </p:spPr>
        <p:txBody>
          <a:bodyPr wrap="square" anchor="t" lIns="0" rIns="0" tIns="0" bIns="0">
            <a:spAutoFit/>
          </a:bodyPr>
          <a:lstStyle/>
          <a:p>
            <a:pPr algn="l">
              <a:spcAft>
                <a:spcPts val="600"/>
              </a:spcAft>
            </a:pPr>
            <a:r>
              <a:rPr sz="1300" b="1">
                <a:solidFill>
                  <a:srgbClr val="1E1E1E"/>
                </a:solidFill>
              </a:rPr>
              <a:t>Común: </a:t>
            </a:r>
            <a:r>
              <a:rPr sz="1300" b="0">
                <a:solidFill>
                  <a:srgbClr val="1E1E1E"/>
                </a:solidFill>
              </a:rPr>
              <a:t>ritmo = mediana de los intervalos dentro del rango del estilo (crol 0,35-1,0 s; mariposa 0,7-2,0 s; braza 0,7-2,4 s) · ciclo válido de 0,6-3,0 s con ≤ 30 % de datos ausentes · mínimos y máximos por ciclo con percentiles 10 y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¿Por qué Isolation Forest?</a:t>
            </a:r>
          </a:p>
        </p:txBody>
      </p:sp>
      <p:sp>
        <p:nvSpPr>
          <p:cNvPr id="4" name="Text Placeholder 3"/>
          <p:cNvSpPr>
            <a:spLocks noGrp="1"/>
          </p:cNvSpPr>
          <p:nvPr>
            <p:ph type="body" idx="18" sz="quarter"/>
          </p:nvPr>
        </p:nvSpPr>
        <p:spPr>
          <a:xfrm>
            <a:ext cx="12344400" cy="0"/>
          </a:xfrm>
        </p:spPr>
        <p:txBody>
          <a:bodyPr/>
          <a:lstStyle/>
          <a:p>
            <a:r>
              <a:t>Sin etiquetas de fatiga: se busca lo que se aparta del nadador fresco</a:t>
            </a:r>
          </a:p>
        </p:txBody>
      </p:sp>
      <p:sp>
        <p:nvSpPr>
          <p:cNvPr id="5" name="Rectangle 4"/>
          <p:cNvSpPr/>
          <p:nvPr/>
        </p:nvSpPr>
        <p:spPr>
          <a:xfrm>
            <a:off x="905256" y="2743200"/>
            <a:ext cx="6035040" cy="13258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26080"/>
            <a:ext cx="5486400" cy="365760"/>
          </a:xfrm>
          <a:prstGeom prst="rect">
            <a:avLst/>
          </a:prstGeom>
          <a:noFill/>
        </p:spPr>
        <p:txBody>
          <a:bodyPr wrap="square" anchor="t" lIns="0" rIns="0" tIns="0" bIns="0">
            <a:spAutoFit/>
          </a:bodyPr>
          <a:lstStyle/>
          <a:p>
            <a:pPr algn="l">
              <a:spcAft>
                <a:spcPts val="600"/>
              </a:spcAft>
            </a:pPr>
            <a:r>
              <a:rPr sz="1600" b="1">
                <a:solidFill>
                  <a:srgbClr val="504B4B"/>
                </a:solidFill>
              </a:rPr>
              <a:t>Plan inicial: red recurrente supervisada</a:t>
            </a:r>
          </a:p>
        </p:txBody>
      </p:sp>
      <p:sp>
        <p:nvSpPr>
          <p:cNvPr id="7" name="TextBox 6"/>
          <p:cNvSpPr txBox="1"/>
          <p:nvPr/>
        </p:nvSpPr>
        <p:spPr>
          <a:xfrm>
            <a:off x="1188720" y="3383280"/>
            <a:ext cx="5486400" cy="640080"/>
          </a:xfrm>
          <a:prstGeom prst="rect">
            <a:avLst/>
          </a:prstGeom>
          <a:noFill/>
        </p:spPr>
        <p:txBody>
          <a:bodyPr wrap="square" anchor="t" lIns="0" rIns="0" tIns="0" bIns="0">
            <a:spAutoFit/>
          </a:bodyPr>
          <a:lstStyle/>
          <a:p>
            <a:pPr algn="l">
              <a:spcAft>
                <a:spcPts val="600"/>
              </a:spcAft>
            </a:pPr>
            <a:r>
              <a:rPr sz="1400" b="0">
                <a:solidFill>
                  <a:srgbClr val="1E1E1E"/>
                </a:solidFill>
              </a:rPr>
              <a:t>Necesita ciclos etiquetados como «fatigados»: no existen.</a:t>
            </a:r>
          </a:p>
        </p:txBody>
      </p:sp>
      <p:sp>
        <p:nvSpPr>
          <p:cNvPr id="8" name="Rectangle 7"/>
          <p:cNvSpPr/>
          <p:nvPr/>
        </p:nvSpPr>
        <p:spPr>
          <a:xfrm>
            <a:off x="905256" y="4206240"/>
            <a:ext cx="6035040" cy="26517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389120"/>
            <a:ext cx="5486400" cy="365760"/>
          </a:xfrm>
          <a:prstGeom prst="rect">
            <a:avLst/>
          </a:prstGeom>
          <a:noFill/>
        </p:spPr>
        <p:txBody>
          <a:bodyPr wrap="square" anchor="t" lIns="0" rIns="0" tIns="0" bIns="0">
            <a:spAutoFit/>
          </a:bodyPr>
          <a:lstStyle/>
          <a:p>
            <a:pPr algn="l">
              <a:spcAft>
                <a:spcPts val="600"/>
              </a:spcAft>
            </a:pPr>
            <a:r>
              <a:rPr sz="1600" b="1">
                <a:solidFill>
                  <a:srgbClr val="FFFFFF"/>
                </a:solidFill>
              </a:rPr>
              <a:t>Elegido: Isolation Forest (no supervisado)</a:t>
            </a:r>
          </a:p>
        </p:txBody>
      </p:sp>
      <p:sp>
        <p:nvSpPr>
          <p:cNvPr id="10" name="TextBox 9"/>
          <p:cNvSpPr txBox="1"/>
          <p:nvPr/>
        </p:nvSpPr>
        <p:spPr>
          <a:xfrm>
            <a:off x="1188720" y="4892040"/>
            <a:ext cx="5486400" cy="1920240"/>
          </a:xfrm>
          <a:prstGeom prst="rect">
            <a:avLst/>
          </a:prstGeom>
          <a:noFill/>
        </p:spPr>
        <p:txBody>
          <a:bodyPr wrap="square" anchor="t" lIns="0" rIns="0" tIns="0" bIns="0">
            <a:spAutoFit/>
          </a:bodyPr>
          <a:lstStyle/>
          <a:p>
            <a:pPr algn="l">
              <a:spcAft>
                <a:spcPts val="600"/>
              </a:spcAft>
            </a:pPr>
            <a:r>
              <a:rPr sz="1400" b="0">
                <a:solidFill>
                  <a:srgbClr val="FFFFFF"/>
                </a:solidFill>
              </a:rPr>
              <a:t>•  Se entrena solo con la fase fresca del propio nadador</a:t>
            </a:r>
          </a:p>
          <a:p>
            <a:pPr algn="l">
              <a:spcAft>
                <a:spcPts val="600"/>
              </a:spcAft>
            </a:pPr>
            <a:r>
              <a:rPr sz="1400" b="0">
                <a:solidFill>
                  <a:srgbClr val="FFFFFF"/>
                </a:solidFill>
              </a:rPr>
              <a:t>•  No supone ninguna distribución de los datos</a:t>
            </a:r>
          </a:p>
          <a:p>
            <a:pPr algn="l">
              <a:spcAft>
                <a:spcPts val="600"/>
              </a:spcAft>
            </a:pPr>
            <a:r>
              <a:rPr sz="1400" b="0">
                <a:solidFill>
                  <a:srgbClr val="FFFFFF"/>
                </a:solidFill>
              </a:rPr>
              <a:t>•  Coste lineal: viable en la CPU</a:t>
            </a:r>
          </a:p>
          <a:p>
            <a:pPr algn="l">
              <a:spcAft>
                <a:spcPts val="600"/>
              </a:spcAft>
            </a:pPr>
            <a:r>
              <a:rPr sz="1400" b="0">
                <a:solidFill>
                  <a:srgbClr val="FFFFFF"/>
                </a:solidFill>
              </a:rPr>
              <a:t>•  Admite SHAP exacto (TreeSHAP)</a:t>
            </a:r>
          </a:p>
        </p:txBody>
      </p:sp>
      <p:sp>
        <p:nvSpPr>
          <p:cNvPr id="11" name="TextBox 10"/>
          <p:cNvSpPr txBox="1"/>
          <p:nvPr/>
        </p:nvSpPr>
        <p:spPr>
          <a:xfrm>
            <a:off x="7315200" y="2743200"/>
            <a:ext cx="6400800" cy="365760"/>
          </a:xfrm>
          <a:prstGeom prst="rect">
            <a:avLst/>
          </a:prstGeom>
          <a:noFill/>
        </p:spPr>
        <p:txBody>
          <a:bodyPr wrap="square" anchor="t" lIns="0" rIns="0" tIns="0" bIns="0">
            <a:spAutoFit/>
          </a:bodyPr>
          <a:lstStyle/>
          <a:p>
            <a:pPr algn="l">
              <a:spcAft>
                <a:spcPts val="600"/>
              </a:spcAft>
            </a:pPr>
            <a:r>
              <a:rPr sz="1800" b="1">
                <a:solidFill>
                  <a:srgbClr val="FF3228"/>
                </a:solidFill>
              </a:rPr>
              <a:t>Cómo funciona</a:t>
            </a:r>
          </a:p>
        </p:txBody>
      </p:sp>
      <p:sp>
        <p:nvSpPr>
          <p:cNvPr id="12" name="TextBox 11"/>
          <p:cNvSpPr txBox="1"/>
          <p:nvPr/>
        </p:nvSpPr>
        <p:spPr>
          <a:xfrm>
            <a:off x="7315200" y="3200400"/>
            <a:ext cx="6400800" cy="640080"/>
          </a:xfrm>
          <a:prstGeom prst="rect">
            <a:avLst/>
          </a:prstGeom>
          <a:noFill/>
        </p:spPr>
        <p:txBody>
          <a:bodyPr wrap="square" anchor="t" lIns="0" rIns="0" tIns="0" bIns="0">
            <a:spAutoFit/>
          </a:bodyPr>
          <a:lstStyle/>
          <a:p>
            <a:pPr algn="l">
              <a:spcAft>
                <a:spcPts val="600"/>
              </a:spcAft>
            </a:pPr>
            <a:r>
              <a:rPr sz="1400" b="0">
                <a:solidFill>
                  <a:srgbClr val="1E1E1E"/>
                </a:solidFill>
              </a:rPr>
              <a:t>Los ciclos anómalos son escasos y distintos: se aíslan con menos cortes aleatorios que los normales.</a:t>
            </a:r>
          </a:p>
        </p:txBody>
      </p:sp>
      <p:sp>
        <p:nvSpPr>
          <p:cNvPr id="13" name="Rectangle 12"/>
          <p:cNvSpPr/>
          <p:nvPr/>
        </p:nvSpPr>
        <p:spPr>
          <a:xfrm>
            <a:off x="7315200" y="3886200"/>
            <a:ext cx="64008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3886200"/>
            <a:ext cx="6400800" cy="548640"/>
          </a:xfrm>
          <a:prstGeom prst="rect">
            <a:avLst/>
          </a:prstGeom>
          <a:noFill/>
        </p:spPr>
        <p:txBody>
          <a:bodyPr wrap="square" anchor="ctr" lIns="0" rIns="0" tIns="0" bIns="0">
            <a:spAutoFit/>
          </a:bodyPr>
          <a:lstStyle/>
          <a:p>
            <a:pPr algn="ctr">
              <a:spcAft>
                <a:spcPts val="600"/>
              </a:spcAft>
            </a:pPr>
            <a:r>
              <a:rPr sz="2000" b="1">
                <a:solidFill>
                  <a:srgbClr val="FFFFFF"/>
                </a:solidFill>
              </a:rPr>
              <a:t>s(x, n) = 2^(−E[h(x)] / c(n))</a:t>
            </a:r>
          </a:p>
        </p:txBody>
      </p:sp>
      <p:sp>
        <p:nvSpPr>
          <p:cNvPr id="15" name="TextBox 14"/>
          <p:cNvSpPr txBox="1"/>
          <p:nvPr/>
        </p:nvSpPr>
        <p:spPr>
          <a:xfrm>
            <a:off x="7315200" y="4434840"/>
            <a:ext cx="6400800" cy="320040"/>
          </a:xfrm>
          <a:prstGeom prst="rect">
            <a:avLst/>
          </a:prstGeom>
          <a:noFill/>
        </p:spPr>
        <p:txBody>
          <a:bodyPr wrap="square" anchor="t" lIns="0" rIns="0" tIns="0" bIns="0">
            <a:spAutoFit/>
          </a:bodyPr>
          <a:lstStyle/>
          <a:p>
            <a:pPr algn="ctr">
              <a:spcAft>
                <a:spcPts val="600"/>
              </a:spcAft>
            </a:pPr>
            <a:r>
              <a:rPr sz="1100" b="0">
                <a:solidFill>
                  <a:srgbClr val="FFFFFF"/>
                </a:solidFill>
              </a:rPr>
              <a:t>h(x): cortes hasta aislar el ciclo · próximo a 1 = anómalo · &lt; 0,5 = normal</a:t>
            </a:r>
          </a:p>
        </p:txBody>
      </p:sp>
      <p:sp>
        <p:nvSpPr>
          <p:cNvPr id="16" name="TextBox 15"/>
          <p:cNvSpPr txBox="1"/>
          <p:nvPr/>
        </p:nvSpPr>
        <p:spPr>
          <a:xfrm>
            <a:off x="7315200" y="4937760"/>
            <a:ext cx="6400800" cy="365760"/>
          </a:xfrm>
          <a:prstGeom prst="rect">
            <a:avLst/>
          </a:prstGeom>
          <a:noFill/>
        </p:spPr>
        <p:txBody>
          <a:bodyPr wrap="square" anchor="t" lIns="0" rIns="0" tIns="0" bIns="0">
            <a:spAutoFit/>
          </a:bodyPr>
          <a:lstStyle/>
          <a:p>
            <a:pPr algn="l">
              <a:spcAft>
                <a:spcPts val="600"/>
              </a:spcAft>
            </a:pPr>
            <a:r>
              <a:rPr sz="1600" b="1">
                <a:solidFill>
                  <a:srgbClr val="1E1E1E"/>
                </a:solidFill>
              </a:rPr>
              <a:t>Configuración</a:t>
            </a:r>
          </a:p>
        </p:txBody>
      </p:sp>
      <p:sp>
        <p:nvSpPr>
          <p:cNvPr id="17" name="TextBox 16"/>
          <p:cNvSpPr txBox="1"/>
          <p:nvPr/>
        </p:nvSpPr>
        <p:spPr>
          <a:xfrm>
            <a:off x="7315200" y="5349240"/>
            <a:ext cx="6400800" cy="1554480"/>
          </a:xfrm>
          <a:prstGeom prst="rect">
            <a:avLst/>
          </a:prstGeom>
          <a:noFill/>
        </p:spPr>
        <p:txBody>
          <a:bodyPr wrap="square" anchor="t" lIns="0" rIns="0" tIns="0" bIns="0">
            <a:spAutoFit/>
          </a:bodyPr>
          <a:lstStyle/>
          <a:p>
            <a:pPr algn="l">
              <a:spcAft>
                <a:spcPts val="500"/>
              </a:spcAft>
            </a:pPr>
            <a:r>
              <a:rPr sz="1300" b="0">
                <a:solidFill>
                  <a:srgbClr val="1E1E1E"/>
                </a:solidFill>
              </a:rPr>
              <a:t>•  Variables estandarizadas con la fase base: z = (x − μ) / σ</a:t>
            </a:r>
          </a:p>
          <a:p>
            <a:pPr algn="l">
              <a:spcAft>
                <a:spcPts val="500"/>
              </a:spcAft>
            </a:pPr>
            <a:r>
              <a:rPr sz="1300" b="0">
                <a:solidFill>
                  <a:srgbClr val="1E1E1E"/>
                </a:solidFill>
              </a:rPr>
              <a:t>•  500 árboles · fase base = primer 30 % de los ciclos (mín. 5) · mínimo 8 ciclos</a:t>
            </a:r>
          </a:p>
          <a:p>
            <a:pPr algn="l">
              <a:spcAft>
                <a:spcPts val="500"/>
              </a:spcAft>
            </a:pPr>
            <a:r>
              <a:rPr sz="1300" b="0">
                <a:solidFill>
                  <a:srgbClr val="1E1E1E"/>
                </a:solidFill>
              </a:rPr>
              <a:t>•  Fuera las redundantes: velocidad (= SR · DPS), SI y potencia (∝ v³)</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Umbral e inicio: elegidos con datos</a:t>
            </a:r>
          </a:p>
        </p:txBody>
      </p:sp>
      <p:sp>
        <p:nvSpPr>
          <p:cNvPr id="4" name="Text Placeholder 3"/>
          <p:cNvSpPr>
            <a:spLocks noGrp="1"/>
          </p:cNvSpPr>
          <p:nvPr>
            <p:ph type="body" idx="18" sz="quarter"/>
          </p:nvPr>
        </p:nvSpPr>
        <p:spPr>
          <a:xfrm>
            <a:ext cx="12344400" cy="0"/>
          </a:xfrm>
        </p:spPr>
        <p:txBody>
          <a:bodyPr/>
          <a:lstStyle/>
          <a:p>
            <a:r>
              <a:t>Sensibilidad con fatiga programada entre t = 59 s y t = 81 s</a:t>
            </a:r>
          </a:p>
        </p:txBody>
      </p:sp>
      <p:graphicFrame>
        <p:nvGraphicFramePr>
          <p:cNvPr id="5" name="Table 4"/>
          <p:cNvGraphicFramePr>
            <a:graphicFrameLocks noGrp="1"/>
          </p:cNvGraphicFramePr>
          <p:nvPr/>
        </p:nvGraphicFramePr>
        <p:xfrm>
          <a:off x="905256" y="2743200"/>
          <a:ext cx="7223760" cy="2011680"/>
        </p:xfrm>
        <a:graphic>
          <a:graphicData uri="http://schemas.openxmlformats.org/drawingml/2006/table">
            <a:tbl>
              <a:tblPr firstRow="1" bandRow="1">
                <a:tableStyleId>{5C22544A-7EE6-4342-B048-85BDC9FD1C3A}</a:tableStyleId>
              </a:tblPr>
              <a:tblGrid>
                <a:gridCol w="2286000"/>
                <a:gridCol w="1463040"/>
                <a:gridCol w="1828800"/>
                <a:gridCol w="1645920"/>
              </a:tblGrid>
              <a:tr h="502920">
                <a:tc>
                  <a:txBody>
                    <a:bodyPr/>
                    <a:lstStyle/>
                    <a:p>
                      <a:r>
                        <a:rPr sz="1300" b="1">
                          <a:solidFill>
                            <a:srgbClr val="FFFFFF"/>
                          </a:solidFill>
                        </a:rPr>
                        <a:t>Percentil del umbral</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Falsas alarmas</a:t>
                      </a:r>
                    </a:p>
                  </a:txBody>
                  <a:tcPr marL="91440" marR="91440" marT="27432" marB="27432" anchor="ctr">
                    <a:solidFill>
                      <a:srgbClr val="FF3228"/>
                    </a:solidFill>
                  </a:tcPr>
                </a:tc>
                <a:tc>
                  <a:txBody>
                    <a:bodyPr/>
                    <a:lstStyle/>
                    <a:p>
                      <a:r>
                        <a:rPr sz="1300" b="1">
                          <a:solidFill>
                            <a:srgbClr val="FFFFFF"/>
                          </a:solidFill>
                        </a:rPr>
                        <a:t>Inicio medio</a:t>
                      </a:r>
                    </a:p>
                  </a:txBody>
                  <a:tcPr marL="91440" marR="91440" marT="27432" marB="27432" anchor="ctr">
                    <a:solidFill>
                      <a:srgbClr val="FF3228"/>
                    </a:solidFill>
                  </a:tcPr>
                </a:tc>
              </a:tr>
              <a:tr h="502920">
                <a:tc>
                  <a:txBody>
                    <a:bodyPr/>
                    <a:lstStyle/>
                    <a:p>
                      <a:r>
                        <a:rPr sz="1300" b="0">
                          <a:solidFill>
                            <a:srgbClr val="1E1E1E"/>
                          </a:solidFill>
                        </a:rPr>
                        <a:t>90</a:t>
                      </a:r>
                    </a:p>
                  </a:txBody>
                  <a:tcPr marL="91440" marR="91440" marT="27432" marB="27432" anchor="ctr">
                    <a:solidFill>
                      <a:srgbClr val="FFFFFF"/>
                    </a:solidFill>
                  </a:tcPr>
                </a:tc>
                <a:tc>
                  <a:txBody>
                    <a:bodyPr/>
                    <a:lstStyle/>
                    <a:p>
                      <a:r>
                        <a:rPr sz="1300" b="0">
                          <a:solidFill>
                            <a:srgbClr val="1E1E1E"/>
                          </a:solidFill>
                        </a:rPr>
                        <a:t>100 %</a:t>
                      </a:r>
                    </a:p>
                  </a:txBody>
                  <a:tcPr marL="91440" marR="91440" marT="27432" marB="27432" anchor="ctr">
                    <a:solidFill>
                      <a:srgbClr val="FFFFFF"/>
                    </a:solidFill>
                  </a:tcPr>
                </a:tc>
                <a:tc>
                  <a:txBody>
                    <a:bodyPr/>
                    <a:lstStyle/>
                    <a:p>
                      <a:r>
                        <a:rPr sz="1300" b="0">
                          <a:solidFill>
                            <a:srgbClr val="1E1E1E"/>
                          </a:solidFill>
                        </a:rPr>
                        <a:t>30 %</a:t>
                      </a:r>
                    </a:p>
                  </a:txBody>
                  <a:tcPr marL="91440" marR="91440" marT="27432" marB="27432" anchor="ctr">
                    <a:solidFill>
                      <a:srgbClr val="FFFFFF"/>
                    </a:solidFill>
                  </a:tcPr>
                </a:tc>
                <a:tc>
                  <a:txBody>
                    <a:bodyPr/>
                    <a:lstStyle/>
                    <a:p>
                      <a:r>
                        <a:rPr sz="1300" b="0">
                          <a:solidFill>
                            <a:srgbClr val="1E1E1E"/>
                          </a:solidFill>
                        </a:rPr>
                        <a:t>64,1 s</a:t>
                      </a:r>
                    </a:p>
                  </a:txBody>
                  <a:tcPr marL="91440" marR="91440" marT="27432" marB="27432" anchor="ctr">
                    <a:solidFill>
                      <a:srgbClr val="FFFFFF"/>
                    </a:solidFill>
                  </a:tcPr>
                </a:tc>
              </a:tr>
              <a:tr h="502920">
                <a:tc>
                  <a:txBody>
                    <a:bodyPr/>
                    <a:lstStyle/>
                    <a:p>
                      <a:r>
                        <a:rPr sz="1300" b="1">
                          <a:solidFill>
                            <a:srgbClr val="1E1E1E"/>
                          </a:solidFill>
                        </a:rPr>
                        <a:t>95 (elegido)</a:t>
                      </a:r>
                    </a:p>
                  </a:txBody>
                  <a:tcPr marL="91440" marR="91440" marT="27432" marB="27432" anchor="ctr">
                    <a:solidFill>
                      <a:srgbClr val="FFAFAA"/>
                    </a:solidFill>
                  </a:tcPr>
                </a:tc>
                <a:tc>
                  <a:txBody>
                    <a:bodyPr/>
                    <a:lstStyle/>
                    <a:p>
                      <a:r>
                        <a:rPr sz="1300" b="1">
                          <a:solidFill>
                            <a:srgbClr val="1E1E1E"/>
                          </a:solidFill>
                        </a:rPr>
                        <a:t>100 %</a:t>
                      </a:r>
                    </a:p>
                  </a:txBody>
                  <a:tcPr marL="91440" marR="91440" marT="27432" marB="27432" anchor="ctr">
                    <a:solidFill>
                      <a:srgbClr val="FFAFAA"/>
                    </a:solidFill>
                  </a:tcPr>
                </a:tc>
                <a:tc>
                  <a:txBody>
                    <a:bodyPr/>
                    <a:lstStyle/>
                    <a:p>
                      <a:r>
                        <a:rPr sz="1300" b="1">
                          <a:solidFill>
                            <a:srgbClr val="1E1E1E"/>
                          </a:solidFill>
                        </a:rPr>
                        <a:t>10 %</a:t>
                      </a:r>
                    </a:p>
                  </a:txBody>
                  <a:tcPr marL="91440" marR="91440" marT="27432" marB="27432" anchor="ctr">
                    <a:solidFill>
                      <a:srgbClr val="FFAFAA"/>
                    </a:solidFill>
                  </a:tcPr>
                </a:tc>
                <a:tc>
                  <a:txBody>
                    <a:bodyPr/>
                    <a:lstStyle/>
                    <a:p>
                      <a:r>
                        <a:rPr sz="1300" b="1">
                          <a:solidFill>
                            <a:srgbClr val="1E1E1E"/>
                          </a:solidFill>
                        </a:rPr>
                        <a:t>70,5 s</a:t>
                      </a:r>
                    </a:p>
                  </a:txBody>
                  <a:tcPr marL="91440" marR="91440" marT="27432" marB="27432" anchor="ctr">
                    <a:solidFill>
                      <a:srgbClr val="FFAFAA"/>
                    </a:solidFill>
                  </a:tcPr>
                </a:tc>
              </a:tr>
              <a:tr h="502920">
                <a:tc>
                  <a:txBody>
                    <a:bodyPr/>
                    <a:lstStyle/>
                    <a:p>
                      <a:r>
                        <a:rPr sz="1300" b="0">
                          <a:solidFill>
                            <a:srgbClr val="1E1E1E"/>
                          </a:solidFill>
                        </a:rPr>
                        <a:t>99</a:t>
                      </a:r>
                    </a:p>
                  </a:txBody>
                  <a:tcPr marL="91440" marR="91440" marT="27432" marB="27432" anchor="ctr">
                    <a:solidFill>
                      <a:srgbClr val="FFFFFF"/>
                    </a:solidFill>
                  </a:tcPr>
                </a:tc>
                <a:tc>
                  <a:txBody>
                    <a:bodyPr/>
                    <a:lstStyle/>
                    <a:p>
                      <a:r>
                        <a:rPr sz="1300" b="0">
                          <a:solidFill>
                            <a:srgbClr val="1E1E1E"/>
                          </a:solidFill>
                        </a:rPr>
                        <a:t>60 %</a:t>
                      </a:r>
                    </a:p>
                  </a:txBody>
                  <a:tcPr marL="91440" marR="91440" marT="27432" marB="27432" anchor="ctr">
                    <a:solidFill>
                      <a:srgbClr val="FFFFFF"/>
                    </a:solidFill>
                  </a:tcPr>
                </a:tc>
                <a:tc>
                  <a:txBody>
                    <a:bodyPr/>
                    <a:lstStyle/>
                    <a:p>
                      <a:r>
                        <a:rPr sz="1300" b="0">
                          <a:solidFill>
                            <a:srgbClr val="1E1E1E"/>
                          </a:solidFill>
                        </a:rPr>
                        <a:t>0 %</a:t>
                      </a:r>
                    </a:p>
                  </a:txBody>
                  <a:tcPr marL="91440" marR="91440" marT="27432" marB="27432" anchor="ctr">
                    <a:solidFill>
                      <a:srgbClr val="FFFFFF"/>
                    </a:solidFill>
                  </a:tcPr>
                </a:tc>
                <a:tc>
                  <a:txBody>
                    <a:bodyPr/>
                    <a:lstStyle/>
                    <a:p>
                      <a:r>
                        <a:rPr sz="1300" b="0">
                          <a:solidFill>
                            <a:srgbClr val="1E1E1E"/>
                          </a:solidFill>
                        </a:rPr>
                        <a:t>80,5 s</a:t>
                      </a:r>
                    </a:p>
                  </a:txBody>
                  <a:tcPr marL="91440" marR="91440" marT="27432" marB="27432" anchor="ctr">
                    <a:solidFill>
                      <a:srgbClr val="FFFFFF"/>
                    </a:solidFill>
                  </a:tcPr>
                </a:tc>
              </a:tr>
            </a:tbl>
          </a:graphicData>
        </a:graphic>
      </p:graphicFrame>
      <p:sp>
        <p:nvSpPr>
          <p:cNvPr id="6" name="TextBox 5"/>
          <p:cNvSpPr txBox="1"/>
          <p:nvPr/>
        </p:nvSpPr>
        <p:spPr>
          <a:xfrm>
            <a:off x="905256" y="4892040"/>
            <a:ext cx="7223760" cy="365760"/>
          </a:xfrm>
          <a:prstGeom prst="rect">
            <a:avLst/>
          </a:prstGeom>
          <a:noFill/>
        </p:spPr>
        <p:txBody>
          <a:bodyPr wrap="square" anchor="t" lIns="0" rIns="0" tIns="0" bIns="0">
            <a:spAutoFit/>
          </a:bodyPr>
          <a:lstStyle/>
          <a:p>
            <a:pPr algn="l">
              <a:spcAft>
                <a:spcPts val="600"/>
              </a:spcAft>
            </a:pPr>
            <a:r>
              <a:rPr sz="1100" b="0">
                <a:solidFill>
                  <a:srgbClr val="504B4B"/>
                </a:solidFill>
              </a:rPr>
              <a:t>Fase base 30 % y k = 3 ciclos seguidos (configuración usada).</a:t>
            </a:r>
          </a:p>
        </p:txBody>
      </p:sp>
      <p:sp>
        <p:nvSpPr>
          <p:cNvPr id="7" name="TextBox 6"/>
          <p:cNvSpPr txBox="1"/>
          <p:nvPr/>
        </p:nvSpPr>
        <p:spPr>
          <a:xfrm>
            <a:off x="905256" y="5303520"/>
            <a:ext cx="7223760" cy="1463040"/>
          </a:xfrm>
          <a:prstGeom prst="rect">
            <a:avLst/>
          </a:prstGeom>
          <a:noFill/>
        </p:spPr>
        <p:txBody>
          <a:bodyPr wrap="square" anchor="t" lIns="0" rIns="0" tIns="0" bIns="0">
            <a:spAutoFit/>
          </a:bodyPr>
          <a:lstStyle/>
          <a:p>
            <a:pPr algn="l">
              <a:spcAft>
                <a:spcPts val="500"/>
              </a:spcAft>
            </a:pPr>
            <a:r>
              <a:rPr sz="1300" b="0">
                <a:solidFill>
                  <a:srgbClr val="1E1E1E"/>
                </a:solidFill>
              </a:rPr>
              <a:t>•  p90 avisa antes de tiempo; p99 llega tarde y pierde fatigas</a:t>
            </a:r>
          </a:p>
          <a:p>
            <a:pPr algn="l">
              <a:spcAft>
                <a:spcPts val="500"/>
              </a:spcAft>
            </a:pPr>
            <a:r>
              <a:rPr sz="1300" b="0">
                <a:solidFill>
                  <a:srgbClr val="1E1E1E"/>
                </a:solidFill>
              </a:rPr>
              <a:t>•  p95: inicio en 70,5 ± 5,0 s, centro de la transición</a:t>
            </a:r>
          </a:p>
          <a:p>
            <a:pPr algn="l">
              <a:spcAft>
                <a:spcPts val="500"/>
              </a:spcAft>
            </a:pPr>
            <a:r>
              <a:rPr sz="1300" b="0">
                <a:solidFill>
                  <a:srgbClr val="1E1E1E"/>
                </a:solidFill>
              </a:rPr>
              <a:t>•  La fase base y k influyen menos: subir k quita falsas alarmas y retrasa el aviso</a:t>
            </a:r>
          </a:p>
        </p:txBody>
      </p:sp>
      <p:sp>
        <p:nvSpPr>
          <p:cNvPr id="8" name="Rectangle 7"/>
          <p:cNvSpPr/>
          <p:nvPr/>
        </p:nvSpPr>
        <p:spPr>
          <a:xfrm>
            <a:off x="8503920" y="2743200"/>
            <a:ext cx="5212080" cy="40690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PELT: contraste independiente</a:t>
            </a:r>
          </a:p>
        </p:txBody>
      </p:sp>
      <p:sp>
        <p:nvSpPr>
          <p:cNvPr id="10" name="TextBox 9"/>
          <p:cNvSpPr txBox="1"/>
          <p:nvPr/>
        </p:nvSpPr>
        <p:spPr>
          <a:xfrm>
            <a:off x="8778240" y="3474720"/>
            <a:ext cx="4663440" cy="3291840"/>
          </a:xfrm>
          <a:prstGeom prst="rect">
            <a:avLst/>
          </a:prstGeom>
          <a:noFill/>
        </p:spPr>
        <p:txBody>
          <a:bodyPr wrap="square" anchor="t" lIns="0" rIns="0" tIns="0" bIns="0">
            <a:spAutoFit/>
          </a:bodyPr>
          <a:lstStyle/>
          <a:p>
            <a:pPr algn="l">
              <a:spcAft>
                <a:spcPts val="700"/>
              </a:spcAft>
            </a:pPr>
            <a:r>
              <a:rPr sz="1300" b="0">
                <a:solidFill>
                  <a:srgbClr val="1E1E1E"/>
                </a:solidFill>
              </a:rPr>
              <a:t>•  Busca los instantes en que cambia la serie de puntuaciones de anomalía</a:t>
            </a:r>
          </a:p>
          <a:p>
            <a:pPr algn="l">
              <a:spcAft>
                <a:spcPts val="700"/>
              </a:spcAft>
            </a:pPr>
            <a:r>
              <a:rPr sz="1300" b="0">
                <a:solidFill>
                  <a:srgbClr val="1E1E1E"/>
                </a:solidFill>
              </a:rPr>
              <a:t>•  Segmentación exacta en tiempo lineal (poda de candidatos)</a:t>
            </a:r>
          </a:p>
          <a:p>
            <a:pPr algn="l">
              <a:spcAft>
                <a:spcPts val="700"/>
              </a:spcAft>
            </a:pPr>
            <a:r>
              <a:rPr sz="1300" b="0">
                <a:solidFill>
                  <a:srgbClr val="1E1E1E"/>
                </a:solidFill>
              </a:rPr>
              <a:t>•  Coste L2 y penalización β = 2 ln n</a:t>
            </a:r>
          </a:p>
          <a:p>
            <a:pPr algn="l">
              <a:spcAft>
                <a:spcPts val="700"/>
              </a:spcAft>
            </a:pPr>
            <a:r>
              <a:rPr sz="1300" b="0">
                <a:solidFill>
                  <a:srgbClr val="1E1E1E"/>
                </a:solidFill>
              </a:rPr>
              <a:t>•  Secuencia de 90 s: Isolation Forest ciclo 35 (51,9 s); PELT ciclo 33 (49,4 s)</a:t>
            </a:r>
          </a:p>
          <a:p>
            <a:pPr algn="l">
              <a:spcAft>
                <a:spcPts val="700"/>
              </a:spcAft>
            </a:pPr>
            <a:r>
              <a:rPr sz="1300" b="0">
                <a:solidFill>
                  <a:srgbClr val="1E1E1E"/>
                </a:solidFill>
              </a:rPr>
              <a:t>•  Si coinciden, la detección se refuerza</a:t>
            </a:r>
          </a:p>
        </p:txBody>
      </p:sp>
      <p:sp>
        <p:nvSpPr>
          <p:cNvPr id="11" name="TextBox 10"/>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(Tabla 12 de la memoria): 10 secuencias con fatiga y 10 sin fatiga por configuración.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TreeSHAP: cómo se explica cada ciclo</a:t>
            </a:r>
          </a:p>
        </p:txBody>
      </p:sp>
      <p:sp>
        <p:nvSpPr>
          <p:cNvPr id="4" name="Text Placeholder 3"/>
          <p:cNvSpPr>
            <a:spLocks noGrp="1"/>
          </p:cNvSpPr>
          <p:nvPr>
            <p:ph type="body" idx="18" sz="quarter"/>
          </p:nvPr>
        </p:nvSpPr>
        <p:spPr>
          <a:xfrm>
            <a:ext cx="12344400" cy="0"/>
          </a:xfrm>
        </p:spPr>
        <p:txBody>
          <a:bodyPr/>
          <a:lstStyle/>
          <a:p>
            <a:r>
              <a:t>Valores de Shapley exactos sobre el Isolation Forest</a:t>
            </a:r>
          </a:p>
        </p:txBody>
      </p:sp>
      <p:sp>
        <p:nvSpPr>
          <p:cNvPr id="5" name="Rectangle 4"/>
          <p:cNvSpPr/>
          <p:nvPr/>
        </p:nvSpPr>
        <p:spPr>
          <a:xfrm>
            <a:off x="905256"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Valores de Shapley</a:t>
            </a:r>
          </a:p>
        </p:txBody>
      </p:sp>
      <p:sp>
        <p:nvSpPr>
          <p:cNvPr id="8" name="TextBox 7"/>
          <p:cNvSpPr txBox="1"/>
          <p:nvPr/>
        </p:nvSpPr>
        <p:spPr>
          <a:xfrm>
            <a:off x="1179576"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Teoría de juegos: reparten la puntuación entre las variables de forma justa. Aditivos: f(x) = φ0 + Σ φj → explicación de un ciclo y de todo el nado.</a:t>
            </a:r>
          </a:p>
        </p:txBody>
      </p:sp>
      <p:sp>
        <p:nvSpPr>
          <p:cNvPr id="9" name="Rectangle 8"/>
          <p:cNvSpPr/>
          <p:nvPr/>
        </p:nvSpPr>
        <p:spPr>
          <a:xfrm>
            <a:off x="5120640"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TreeSHAP</a:t>
            </a:r>
          </a:p>
        </p:txBody>
      </p:sp>
      <p:sp>
        <p:nvSpPr>
          <p:cNvPr id="12" name="TextBox 11"/>
          <p:cNvSpPr txBox="1"/>
          <p:nvPr/>
        </p:nvSpPr>
        <p:spPr>
          <a:xfrm>
            <a:off x="5394959"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Valores exactos en tiempo polinómico para modelos de árboles: sirve para Isolation Forest y para el bosque aleatorio.</a:t>
            </a:r>
          </a:p>
        </p:txBody>
      </p:sp>
      <p:sp>
        <p:nvSpPr>
          <p:cNvPr id="13" name="Rectangle 12"/>
          <p:cNvSpPr/>
          <p:nvPr/>
        </p:nvSpPr>
        <p:spPr>
          <a:xfrm>
            <a:off x="9336024"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Controles</a:t>
            </a:r>
          </a:p>
        </p:txBody>
      </p:sp>
      <p:sp>
        <p:nvSpPr>
          <p:cNvPr id="16" name="TextBox 15"/>
          <p:cNvSpPr txBox="1"/>
          <p:nvPr/>
        </p:nvSpPr>
        <p:spPr>
          <a:xfrm>
            <a:off x="9610344"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Signo invertido: positivo = acerca a la fatiga. Correlación entre la suma SHAP y la puntuación en cada ejecución (0,999 en la secuencia de 90 s).</a:t>
            </a:r>
          </a:p>
        </p:txBody>
      </p:sp>
      <p:sp>
        <p:nvSpPr>
          <p:cNvPr id="17" name="TextBox 16"/>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400" b="1">
                <a:solidFill>
                  <a:srgbClr val="FF3228"/>
                </a:solidFill>
              </a:rPr>
              <a:t>Salida para el entrenador: </a:t>
            </a:r>
            <a:r>
              <a:rPr sz="1400" b="0">
                <a:solidFill>
                  <a:srgbClr val="1E1E1E"/>
                </a:solidFill>
              </a:rPr>
              <a:t>las 4 variables con más contribución y su cambio respecto a la fase fresca. Sin variables redundantes, para que la atribución no se reparta entre medidas equivalentes.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Estilo: del modelo supervisado a reglas</a:t>
            </a:r>
          </a:p>
        </p:txBody>
      </p:sp>
      <p:sp>
        <p:nvSpPr>
          <p:cNvPr id="4" name="Text Placeholder 3"/>
          <p:cNvSpPr>
            <a:spLocks noGrp="1"/>
          </p:cNvSpPr>
          <p:nvPr>
            <p:ph type="body" idx="18" sz="quarter"/>
          </p:nvPr>
        </p:nvSpPr>
        <p:spPr>
          <a:xfrm>
            <a:ext cx="12344400" cy="0"/>
          </a:xfrm>
        </p:spPr>
        <p:txBody>
          <a:bodyPr/>
          <a:lstStyle/>
          <a:p>
            <a:r>
              <a:t>El 100 % con datos sintéticos no se mantenía con nadadores reales</a:t>
            </a:r>
          </a:p>
        </p:txBody>
      </p:sp>
      <p:sp>
        <p:nvSpPr>
          <p:cNvPr id="5" name="Rectangle 4"/>
          <p:cNvSpPr/>
          <p:nvPr/>
        </p:nvSpPr>
        <p:spPr>
          <a:xfrm>
            <a:off x="905256"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XGBoost</a:t>
            </a:r>
          </a:p>
        </p:txBody>
      </p:sp>
      <p:sp>
        <p:nvSpPr>
          <p:cNvPr id="8" name="TextBox 7"/>
          <p:cNvSpPr txBox="1"/>
          <p:nvPr/>
        </p:nvSpPr>
        <p:spPr>
          <a:xfrm>
            <a:off x="1179576"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Boosting: árboles en secuencia que corrigen al anterior. Se sustituyó por un modelo más sencillo y con SHAP exacto.</a:t>
            </a:r>
          </a:p>
        </p:txBody>
      </p:sp>
      <p:sp>
        <p:nvSpPr>
          <p:cNvPr id="9" name="Rectangle 8"/>
          <p:cNvSpPr/>
          <p:nvPr/>
        </p:nvSpPr>
        <p:spPr>
          <a:xfrm>
            <a:off x="5120640"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Bosque aleatorio</a:t>
            </a:r>
          </a:p>
        </p:txBody>
      </p:sp>
      <p:sp>
        <p:nvSpPr>
          <p:cNvPr id="12" name="TextBox 11"/>
          <p:cNvSpPr txBox="1"/>
          <p:nvPr/>
        </p:nvSpPr>
        <p:spPr>
          <a:xfrm>
            <a:off x="5394959"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300 árboles, ventanas de 4 s, GroupKFold por vídeo. Sintéticos: 100 %. Reales: 45,5 % dejando un vídeo fuera (base 36,4 %) y 9,1 % dejando fuera un participante → aprendía al nadador.</a:t>
            </a:r>
          </a:p>
        </p:txBody>
      </p:sp>
      <p:sp>
        <p:nvSpPr>
          <p:cNvPr id="13" name="Rectangle 12"/>
          <p:cNvSpPr/>
          <p:nvPr/>
        </p:nvSpPr>
        <p:spPr>
          <a:xfrm>
            <a:off x="9336024" y="2743200"/>
            <a:ext cx="3931920" cy="35661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Reglas biomecánicas</a:t>
            </a:r>
          </a:p>
        </p:txBody>
      </p:sp>
      <p:sp>
        <p:nvSpPr>
          <p:cNvPr id="16" name="TextBox 15"/>
          <p:cNvSpPr txBox="1"/>
          <p:nvPr/>
        </p:nvSpPr>
        <p:spPr>
          <a:xfrm>
            <a:off x="9610344" y="4297679"/>
            <a:ext cx="3383279" cy="1828800"/>
          </a:xfrm>
          <a:prstGeom prst="rect">
            <a:avLst/>
          </a:prstGeom>
          <a:noFill/>
        </p:spPr>
        <p:txBody>
          <a:bodyPr wrap="square" anchor="t" lIns="0" rIns="0" tIns="0" bIns="0">
            <a:spAutoFit/>
          </a:bodyPr>
          <a:lstStyle/>
          <a:p>
            <a:pPr algn="l">
              <a:spcAft>
                <a:spcPts val="600"/>
              </a:spcAft>
            </a:pPr>
            <a:r>
              <a:rPr sz="1400" b="0">
                <a:solidFill>
                  <a:srgbClr val="FFFFFF"/>
                </a:solidFill>
              </a:rPr>
              <a:t>Sin entrenamiento. Correlación de las manos (0,65 lateral / 0,20 frontal) → alternos o simultáneos; nariz respecto a hombros → braza o espalda. Familia 12/13 reales; estilo 9/13; sintéticos 81 %.</a:t>
            </a:r>
          </a:p>
        </p:txBody>
      </p:sp>
      <p:sp>
        <p:nvSpPr>
          <p:cNvPr id="17" name="TextBox 16"/>
          <p:cNvSpPr txBox="1"/>
          <p:nvPr/>
        </p:nvSpPr>
        <p:spPr>
          <a:xfrm>
            <a:off x="905256" y="65379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Umbrales fijados con los vídeos reales: la exactitud real es optimista. De frente no distingue mariposa de braza. La familia basta para contar ciclos (2 o 1 brazadas).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